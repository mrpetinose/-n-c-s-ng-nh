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25"/>
  </p:notesMasterIdLst>
  <p:handoutMasterIdLst>
    <p:handoutMasterId r:id="rId26"/>
  </p:handoutMasterIdLst>
  <p:sldIdLst>
    <p:sldId id="257" r:id="rId2"/>
    <p:sldId id="271" r:id="rId3"/>
    <p:sldId id="272" r:id="rId4"/>
    <p:sldId id="274" r:id="rId5"/>
    <p:sldId id="284" r:id="rId6"/>
    <p:sldId id="275" r:id="rId7"/>
    <p:sldId id="276" r:id="rId8"/>
    <p:sldId id="277" r:id="rId9"/>
    <p:sldId id="278" r:id="rId10"/>
    <p:sldId id="291" r:id="rId11"/>
    <p:sldId id="279" r:id="rId12"/>
    <p:sldId id="285" r:id="rId13"/>
    <p:sldId id="283" r:id="rId14"/>
    <p:sldId id="287" r:id="rId15"/>
    <p:sldId id="288" r:id="rId16"/>
    <p:sldId id="290" r:id="rId17"/>
    <p:sldId id="282" r:id="rId18"/>
    <p:sldId id="293" r:id="rId19"/>
    <p:sldId id="292" r:id="rId20"/>
    <p:sldId id="294" r:id="rId21"/>
    <p:sldId id="295" r:id="rId22"/>
    <p:sldId id="296" r:id="rId23"/>
    <p:sldId id="297" r:id="rId24"/>
  </p:sldIdLst>
  <p:sldSz cx="12192000" cy="6858000"/>
  <p:notesSz cx="6858000" cy="9144000"/>
  <p:defaultTextStyle>
    <a:defPPr rtl="0">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3077D9-6A72-46B9-A968-947FE9C00551}">
          <p14:sldIdLst>
            <p14:sldId id="257"/>
            <p14:sldId id="271"/>
            <p14:sldId id="272"/>
            <p14:sldId id="274"/>
            <p14:sldId id="284"/>
            <p14:sldId id="275"/>
            <p14:sldId id="276"/>
            <p14:sldId id="277"/>
            <p14:sldId id="278"/>
            <p14:sldId id="291"/>
            <p14:sldId id="279"/>
            <p14:sldId id="285"/>
            <p14:sldId id="283"/>
            <p14:sldId id="287"/>
            <p14:sldId id="288"/>
            <p14:sldId id="290"/>
            <p14:sldId id="282"/>
            <p14:sldId id="293"/>
            <p14:sldId id="292"/>
            <p14:sldId id="294"/>
            <p14:sldId id="295"/>
            <p14:sldId id="296"/>
            <p14:sldId id="2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3" autoAdjust="0"/>
  </p:normalViewPr>
  <p:slideViewPr>
    <p:cSldViewPr snapToGrid="0">
      <p:cViewPr varScale="1">
        <p:scale>
          <a:sx n="80" d="100"/>
          <a:sy n="80" d="100"/>
        </p:scale>
        <p:origin x="782" y="62"/>
      </p:cViewPr>
      <p:guideLst/>
    </p:cSldViewPr>
  </p:slideViewPr>
  <p:notesTextViewPr>
    <p:cViewPr>
      <p:scale>
        <a:sx n="1" d="1"/>
        <a:sy n="1" d="1"/>
      </p:scale>
      <p:origin x="0" y="0"/>
    </p:cViewPr>
  </p:notesTextViewPr>
  <p:notesViewPr>
    <p:cSldViewPr snapToGrid="0">
      <p:cViewPr varScale="1">
        <p:scale>
          <a:sx n="120" d="100"/>
          <a:sy n="120" d="100"/>
        </p:scale>
        <p:origin x="5040"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EBE97A-D54C-493F-B35E-AA6BEAE9D013}" type="doc">
      <dgm:prSet loTypeId="urn:microsoft.com/office/officeart/2005/8/layout/process1" loCatId="process" qsTypeId="urn:microsoft.com/office/officeart/2005/8/quickstyle/simple1" qsCatId="simple" csTypeId="urn:microsoft.com/office/officeart/2005/8/colors/colorful2" csCatId="colorful" phldr="1"/>
      <dgm:spPr/>
      <dgm:t>
        <a:bodyPr/>
        <a:lstStyle/>
        <a:p>
          <a:endParaRPr lang="vi-VN"/>
        </a:p>
      </dgm:t>
    </dgm:pt>
    <dgm:pt modelId="{62D60956-3987-4BE0-84D5-5E3ED6DBFF01}">
      <dgm:prSet/>
      <dgm:spPr/>
      <dgm:t>
        <a:bodyPr/>
        <a:lstStyle/>
        <a:p>
          <a:r>
            <a:rPr lang="vi-VN" dirty="0"/>
            <a:t>Dữ liệu thô (Ảnh, Text)</a:t>
          </a:r>
        </a:p>
      </dgm:t>
    </dgm:pt>
    <dgm:pt modelId="{F982835F-1F50-4512-AEEC-19AD62EF26BD}" type="parTrans" cxnId="{B04BF77D-45A6-414B-B1D0-79760A20BF2C}">
      <dgm:prSet/>
      <dgm:spPr/>
      <dgm:t>
        <a:bodyPr/>
        <a:lstStyle/>
        <a:p>
          <a:endParaRPr lang="vi-VN"/>
        </a:p>
      </dgm:t>
    </dgm:pt>
    <dgm:pt modelId="{9AADC8DF-6995-4ABA-B13E-7850A8207968}" type="sibTrans" cxnId="{B04BF77D-45A6-414B-B1D0-79760A20BF2C}">
      <dgm:prSet/>
      <dgm:spPr/>
      <dgm:t>
        <a:bodyPr/>
        <a:lstStyle/>
        <a:p>
          <a:endParaRPr lang="vi-VN"/>
        </a:p>
      </dgm:t>
    </dgm:pt>
    <dgm:pt modelId="{419C8052-E9FE-4029-8D73-08CDE24B828C}">
      <dgm:prSet/>
      <dgm:spPr/>
      <dgm:t>
        <a:bodyPr/>
        <a:lstStyle/>
        <a:p>
          <a:r>
            <a:rPr lang="en-US" dirty="0" err="1"/>
            <a:t>Mô</a:t>
          </a:r>
          <a:r>
            <a:rPr lang="en-US" dirty="0"/>
            <a:t> </a:t>
          </a:r>
          <a:r>
            <a:rPr lang="en-US" dirty="0" err="1"/>
            <a:t>hình</a:t>
          </a:r>
          <a:r>
            <a:rPr lang="en-US" dirty="0"/>
            <a:t> Deep Learning </a:t>
          </a:r>
          <a:endParaRPr lang="vi-VN" dirty="0"/>
        </a:p>
      </dgm:t>
    </dgm:pt>
    <dgm:pt modelId="{20F7DDD7-728C-44DB-A37E-E205A02C5B66}" type="parTrans" cxnId="{4F86C580-321F-43AD-B5E5-14E1AF6C32B3}">
      <dgm:prSet/>
      <dgm:spPr/>
      <dgm:t>
        <a:bodyPr/>
        <a:lstStyle/>
        <a:p>
          <a:endParaRPr lang="vi-VN"/>
        </a:p>
      </dgm:t>
    </dgm:pt>
    <dgm:pt modelId="{C2582474-CBAE-43BE-9D62-3FC6B621D132}" type="sibTrans" cxnId="{4F86C580-321F-43AD-B5E5-14E1AF6C32B3}">
      <dgm:prSet/>
      <dgm:spPr/>
      <dgm:t>
        <a:bodyPr/>
        <a:lstStyle/>
        <a:p>
          <a:endParaRPr lang="vi-VN"/>
        </a:p>
      </dgm:t>
    </dgm:pt>
    <dgm:pt modelId="{C3A9F958-391A-4C1E-8B04-B8B4D98EE7A2}">
      <dgm:prSet/>
      <dgm:spPr/>
      <dgm:t>
        <a:bodyPr/>
        <a:lstStyle/>
        <a:p>
          <a:r>
            <a:rPr lang="en-US" dirty="0"/>
            <a:t>Ma </a:t>
          </a:r>
          <a:r>
            <a:rPr lang="en-US" dirty="0" err="1"/>
            <a:t>trận</a:t>
          </a:r>
          <a:r>
            <a:rPr lang="en-US" dirty="0"/>
            <a:t> </a:t>
          </a:r>
          <a:r>
            <a:rPr lang="en-US" dirty="0" err="1"/>
            <a:t>Khoảng</a:t>
          </a:r>
          <a:r>
            <a:rPr lang="en-US" dirty="0"/>
            <a:t> </a:t>
          </a:r>
          <a:r>
            <a:rPr lang="en-US" dirty="0" err="1"/>
            <a:t>cách</a:t>
          </a:r>
          <a:endParaRPr lang="vi-VN" dirty="0"/>
        </a:p>
      </dgm:t>
    </dgm:pt>
    <dgm:pt modelId="{78C1C885-9C6A-472D-BAA2-F3F6BD23E9BF}" type="parTrans" cxnId="{302C980D-D125-4353-9EB3-D14757F283B0}">
      <dgm:prSet/>
      <dgm:spPr/>
      <dgm:t>
        <a:bodyPr/>
        <a:lstStyle/>
        <a:p>
          <a:endParaRPr lang="vi-VN"/>
        </a:p>
      </dgm:t>
    </dgm:pt>
    <dgm:pt modelId="{B7185FAD-958B-486A-A1F2-8B5647131A6A}" type="sibTrans" cxnId="{302C980D-D125-4353-9EB3-D14757F283B0}">
      <dgm:prSet/>
      <dgm:spPr/>
      <dgm:t>
        <a:bodyPr/>
        <a:lstStyle/>
        <a:p>
          <a:endParaRPr lang="vi-VN"/>
        </a:p>
      </dgm:t>
    </dgm:pt>
    <dgm:pt modelId="{36F2C595-3BE9-499F-B18B-4F02490D5F8A}">
      <dgm:prSet/>
      <dgm:spPr/>
      <dgm:t>
        <a:bodyPr/>
        <a:lstStyle/>
        <a:p>
          <a:r>
            <a:rPr lang="vi-VN" dirty="0"/>
            <a:t>Thuật toán Phân cụm</a:t>
          </a:r>
        </a:p>
      </dgm:t>
    </dgm:pt>
    <dgm:pt modelId="{12126449-F7C4-4C10-A94A-0F662CCFDB44}" type="parTrans" cxnId="{412F4427-2E1B-47D4-B703-257843C837CC}">
      <dgm:prSet/>
      <dgm:spPr/>
      <dgm:t>
        <a:bodyPr/>
        <a:lstStyle/>
        <a:p>
          <a:endParaRPr lang="vi-VN"/>
        </a:p>
      </dgm:t>
    </dgm:pt>
    <dgm:pt modelId="{7FCEBF3A-9B15-47E1-84FC-331A7C6ACD19}" type="sibTrans" cxnId="{412F4427-2E1B-47D4-B703-257843C837CC}">
      <dgm:prSet/>
      <dgm:spPr/>
      <dgm:t>
        <a:bodyPr/>
        <a:lstStyle/>
        <a:p>
          <a:endParaRPr lang="vi-VN"/>
        </a:p>
      </dgm:t>
    </dgm:pt>
    <dgm:pt modelId="{837A248D-27D4-406B-A764-4E55F7A81C3B}">
      <dgm:prSet/>
      <dgm:spPr/>
      <dgm:t>
        <a:bodyPr/>
        <a:lstStyle/>
        <a:p>
          <a:r>
            <a:rPr lang="vi-VN" dirty="0"/>
            <a:t>Kết quả</a:t>
          </a:r>
        </a:p>
      </dgm:t>
    </dgm:pt>
    <dgm:pt modelId="{E17AA22A-2945-4EAE-95FA-3B8EDE3ED1DF}" type="parTrans" cxnId="{CA8FEB84-389D-4579-A202-84B58105FD35}">
      <dgm:prSet/>
      <dgm:spPr/>
      <dgm:t>
        <a:bodyPr/>
        <a:lstStyle/>
        <a:p>
          <a:endParaRPr lang="vi-VN"/>
        </a:p>
      </dgm:t>
    </dgm:pt>
    <dgm:pt modelId="{22AEBD09-9A67-4778-8D42-D9B7B5BF8D51}" type="sibTrans" cxnId="{CA8FEB84-389D-4579-A202-84B58105FD35}">
      <dgm:prSet/>
      <dgm:spPr/>
      <dgm:t>
        <a:bodyPr/>
        <a:lstStyle/>
        <a:p>
          <a:endParaRPr lang="vi-VN"/>
        </a:p>
      </dgm:t>
    </dgm:pt>
    <dgm:pt modelId="{370270B7-0019-42DE-9112-5BBA5C7F4F80}" type="pres">
      <dgm:prSet presAssocID="{D1EBE97A-D54C-493F-B35E-AA6BEAE9D013}" presName="Name0" presStyleCnt="0">
        <dgm:presLayoutVars>
          <dgm:dir/>
          <dgm:resizeHandles val="exact"/>
        </dgm:presLayoutVars>
      </dgm:prSet>
      <dgm:spPr/>
    </dgm:pt>
    <dgm:pt modelId="{A111387E-191E-4D49-A331-3603EEC1C2DE}" type="pres">
      <dgm:prSet presAssocID="{62D60956-3987-4BE0-84D5-5E3ED6DBFF01}" presName="node" presStyleLbl="node1" presStyleIdx="0" presStyleCnt="5">
        <dgm:presLayoutVars>
          <dgm:bulletEnabled val="1"/>
        </dgm:presLayoutVars>
      </dgm:prSet>
      <dgm:spPr/>
    </dgm:pt>
    <dgm:pt modelId="{186B3319-D896-4C3E-B1ED-FFDE5BC7EDBA}" type="pres">
      <dgm:prSet presAssocID="{9AADC8DF-6995-4ABA-B13E-7850A8207968}" presName="sibTrans" presStyleLbl="sibTrans2D1" presStyleIdx="0" presStyleCnt="4"/>
      <dgm:spPr/>
    </dgm:pt>
    <dgm:pt modelId="{0DAC17DB-08F9-429A-832A-6011D0F3D353}" type="pres">
      <dgm:prSet presAssocID="{9AADC8DF-6995-4ABA-B13E-7850A8207968}" presName="connectorText" presStyleLbl="sibTrans2D1" presStyleIdx="0" presStyleCnt="4"/>
      <dgm:spPr/>
    </dgm:pt>
    <dgm:pt modelId="{D3739E84-4F14-42C9-B7F5-90B0E73CEF6D}" type="pres">
      <dgm:prSet presAssocID="{419C8052-E9FE-4029-8D73-08CDE24B828C}" presName="node" presStyleLbl="node1" presStyleIdx="1" presStyleCnt="5">
        <dgm:presLayoutVars>
          <dgm:bulletEnabled val="1"/>
        </dgm:presLayoutVars>
      </dgm:prSet>
      <dgm:spPr/>
    </dgm:pt>
    <dgm:pt modelId="{2464646D-0BBF-4EFD-91A3-CB1AC5B2C909}" type="pres">
      <dgm:prSet presAssocID="{C2582474-CBAE-43BE-9D62-3FC6B621D132}" presName="sibTrans" presStyleLbl="sibTrans2D1" presStyleIdx="1" presStyleCnt="4"/>
      <dgm:spPr/>
    </dgm:pt>
    <dgm:pt modelId="{A0098557-6724-4CCF-B479-BC0FFDE42D63}" type="pres">
      <dgm:prSet presAssocID="{C2582474-CBAE-43BE-9D62-3FC6B621D132}" presName="connectorText" presStyleLbl="sibTrans2D1" presStyleIdx="1" presStyleCnt="4"/>
      <dgm:spPr/>
    </dgm:pt>
    <dgm:pt modelId="{0C7E6C00-E689-4873-A4F1-883707CED88F}" type="pres">
      <dgm:prSet presAssocID="{C3A9F958-391A-4C1E-8B04-B8B4D98EE7A2}" presName="node" presStyleLbl="node1" presStyleIdx="2" presStyleCnt="5">
        <dgm:presLayoutVars>
          <dgm:bulletEnabled val="1"/>
        </dgm:presLayoutVars>
      </dgm:prSet>
      <dgm:spPr/>
    </dgm:pt>
    <dgm:pt modelId="{4756D5B8-945D-41D8-AE7A-0168EF6DB65B}" type="pres">
      <dgm:prSet presAssocID="{B7185FAD-958B-486A-A1F2-8B5647131A6A}" presName="sibTrans" presStyleLbl="sibTrans2D1" presStyleIdx="2" presStyleCnt="4"/>
      <dgm:spPr/>
    </dgm:pt>
    <dgm:pt modelId="{944BA529-5C49-4E41-80D9-BCBB69B18F1F}" type="pres">
      <dgm:prSet presAssocID="{B7185FAD-958B-486A-A1F2-8B5647131A6A}" presName="connectorText" presStyleLbl="sibTrans2D1" presStyleIdx="2" presStyleCnt="4"/>
      <dgm:spPr/>
    </dgm:pt>
    <dgm:pt modelId="{5B4C1324-3EEE-4A6C-A6E0-0382FC2E12F5}" type="pres">
      <dgm:prSet presAssocID="{36F2C595-3BE9-499F-B18B-4F02490D5F8A}" presName="node" presStyleLbl="node1" presStyleIdx="3" presStyleCnt="5">
        <dgm:presLayoutVars>
          <dgm:bulletEnabled val="1"/>
        </dgm:presLayoutVars>
      </dgm:prSet>
      <dgm:spPr/>
    </dgm:pt>
    <dgm:pt modelId="{719495AE-6C72-4EFF-BBF5-83EFF492D1CA}" type="pres">
      <dgm:prSet presAssocID="{7FCEBF3A-9B15-47E1-84FC-331A7C6ACD19}" presName="sibTrans" presStyleLbl="sibTrans2D1" presStyleIdx="3" presStyleCnt="4"/>
      <dgm:spPr/>
    </dgm:pt>
    <dgm:pt modelId="{98CC1C4D-DDE4-4B2E-BCCA-6097740D3B39}" type="pres">
      <dgm:prSet presAssocID="{7FCEBF3A-9B15-47E1-84FC-331A7C6ACD19}" presName="connectorText" presStyleLbl="sibTrans2D1" presStyleIdx="3" presStyleCnt="4"/>
      <dgm:spPr/>
    </dgm:pt>
    <dgm:pt modelId="{CA9A4A3B-A6EF-44D8-AFBB-B3224EB3E889}" type="pres">
      <dgm:prSet presAssocID="{837A248D-27D4-406B-A764-4E55F7A81C3B}" presName="node" presStyleLbl="node1" presStyleIdx="4" presStyleCnt="5">
        <dgm:presLayoutVars>
          <dgm:bulletEnabled val="1"/>
        </dgm:presLayoutVars>
      </dgm:prSet>
      <dgm:spPr/>
    </dgm:pt>
  </dgm:ptLst>
  <dgm:cxnLst>
    <dgm:cxn modelId="{302C980D-D125-4353-9EB3-D14757F283B0}" srcId="{D1EBE97A-D54C-493F-B35E-AA6BEAE9D013}" destId="{C3A9F958-391A-4C1E-8B04-B8B4D98EE7A2}" srcOrd="2" destOrd="0" parTransId="{78C1C885-9C6A-472D-BAA2-F3F6BD23E9BF}" sibTransId="{B7185FAD-958B-486A-A1F2-8B5647131A6A}"/>
    <dgm:cxn modelId="{412F4427-2E1B-47D4-B703-257843C837CC}" srcId="{D1EBE97A-D54C-493F-B35E-AA6BEAE9D013}" destId="{36F2C595-3BE9-499F-B18B-4F02490D5F8A}" srcOrd="3" destOrd="0" parTransId="{12126449-F7C4-4C10-A94A-0F662CCFDB44}" sibTransId="{7FCEBF3A-9B15-47E1-84FC-331A7C6ACD19}"/>
    <dgm:cxn modelId="{34CE4B45-855A-4A96-8358-E33ADF364542}" type="presOf" srcId="{62D60956-3987-4BE0-84D5-5E3ED6DBFF01}" destId="{A111387E-191E-4D49-A331-3603EEC1C2DE}" srcOrd="0" destOrd="0" presId="urn:microsoft.com/office/officeart/2005/8/layout/process1"/>
    <dgm:cxn modelId="{CBF0E845-5705-4EF1-AAF2-6BD12993C47C}" type="presOf" srcId="{B7185FAD-958B-486A-A1F2-8B5647131A6A}" destId="{944BA529-5C49-4E41-80D9-BCBB69B18F1F}" srcOrd="1" destOrd="0" presId="urn:microsoft.com/office/officeart/2005/8/layout/process1"/>
    <dgm:cxn modelId="{AA62C067-1C3D-464E-9C65-00D93154A85E}" type="presOf" srcId="{9AADC8DF-6995-4ABA-B13E-7850A8207968}" destId="{186B3319-D896-4C3E-B1ED-FFDE5BC7EDBA}" srcOrd="0" destOrd="0" presId="urn:microsoft.com/office/officeart/2005/8/layout/process1"/>
    <dgm:cxn modelId="{5C79B36D-4AA5-434B-A776-E5CC7DA7AF96}" type="presOf" srcId="{419C8052-E9FE-4029-8D73-08CDE24B828C}" destId="{D3739E84-4F14-42C9-B7F5-90B0E73CEF6D}" srcOrd="0" destOrd="0" presId="urn:microsoft.com/office/officeart/2005/8/layout/process1"/>
    <dgm:cxn modelId="{90540C4E-8571-4932-B6EF-991A590B30E7}" type="presOf" srcId="{B7185FAD-958B-486A-A1F2-8B5647131A6A}" destId="{4756D5B8-945D-41D8-AE7A-0168EF6DB65B}" srcOrd="0" destOrd="0" presId="urn:microsoft.com/office/officeart/2005/8/layout/process1"/>
    <dgm:cxn modelId="{7CE74C52-8D36-40FC-893D-00A9101EA039}" type="presOf" srcId="{D1EBE97A-D54C-493F-B35E-AA6BEAE9D013}" destId="{370270B7-0019-42DE-9112-5BBA5C7F4F80}" srcOrd="0" destOrd="0" presId="urn:microsoft.com/office/officeart/2005/8/layout/process1"/>
    <dgm:cxn modelId="{F8FBE678-4243-4549-B2C3-6CEAC00C3116}" type="presOf" srcId="{C2582474-CBAE-43BE-9D62-3FC6B621D132}" destId="{A0098557-6724-4CCF-B479-BC0FFDE42D63}" srcOrd="1" destOrd="0" presId="urn:microsoft.com/office/officeart/2005/8/layout/process1"/>
    <dgm:cxn modelId="{B04BF77D-45A6-414B-B1D0-79760A20BF2C}" srcId="{D1EBE97A-D54C-493F-B35E-AA6BEAE9D013}" destId="{62D60956-3987-4BE0-84D5-5E3ED6DBFF01}" srcOrd="0" destOrd="0" parTransId="{F982835F-1F50-4512-AEEC-19AD62EF26BD}" sibTransId="{9AADC8DF-6995-4ABA-B13E-7850A8207968}"/>
    <dgm:cxn modelId="{4F86C580-321F-43AD-B5E5-14E1AF6C32B3}" srcId="{D1EBE97A-D54C-493F-B35E-AA6BEAE9D013}" destId="{419C8052-E9FE-4029-8D73-08CDE24B828C}" srcOrd="1" destOrd="0" parTransId="{20F7DDD7-728C-44DB-A37E-E205A02C5B66}" sibTransId="{C2582474-CBAE-43BE-9D62-3FC6B621D132}"/>
    <dgm:cxn modelId="{D50A7284-06FD-459E-A068-46D79D66A674}" type="presOf" srcId="{9AADC8DF-6995-4ABA-B13E-7850A8207968}" destId="{0DAC17DB-08F9-429A-832A-6011D0F3D353}" srcOrd="1" destOrd="0" presId="urn:microsoft.com/office/officeart/2005/8/layout/process1"/>
    <dgm:cxn modelId="{CA8FEB84-389D-4579-A202-84B58105FD35}" srcId="{D1EBE97A-D54C-493F-B35E-AA6BEAE9D013}" destId="{837A248D-27D4-406B-A764-4E55F7A81C3B}" srcOrd="4" destOrd="0" parTransId="{E17AA22A-2945-4EAE-95FA-3B8EDE3ED1DF}" sibTransId="{22AEBD09-9A67-4778-8D42-D9B7B5BF8D51}"/>
    <dgm:cxn modelId="{4927C288-3A6B-433E-8084-E212B731D671}" type="presOf" srcId="{7FCEBF3A-9B15-47E1-84FC-331A7C6ACD19}" destId="{98CC1C4D-DDE4-4B2E-BCCA-6097740D3B39}" srcOrd="1" destOrd="0" presId="urn:microsoft.com/office/officeart/2005/8/layout/process1"/>
    <dgm:cxn modelId="{8A271497-1E6F-4441-A3AA-EE4D73F1B759}" type="presOf" srcId="{36F2C595-3BE9-499F-B18B-4F02490D5F8A}" destId="{5B4C1324-3EEE-4A6C-A6E0-0382FC2E12F5}" srcOrd="0" destOrd="0" presId="urn:microsoft.com/office/officeart/2005/8/layout/process1"/>
    <dgm:cxn modelId="{9F09C3A6-DDD6-4913-9BD1-E73260EA7233}" type="presOf" srcId="{7FCEBF3A-9B15-47E1-84FC-331A7C6ACD19}" destId="{719495AE-6C72-4EFF-BBF5-83EFF492D1CA}" srcOrd="0" destOrd="0" presId="urn:microsoft.com/office/officeart/2005/8/layout/process1"/>
    <dgm:cxn modelId="{71A0E1AD-9A7E-47B9-B864-DC8D63CAD944}" type="presOf" srcId="{C3A9F958-391A-4C1E-8B04-B8B4D98EE7A2}" destId="{0C7E6C00-E689-4873-A4F1-883707CED88F}" srcOrd="0" destOrd="0" presId="urn:microsoft.com/office/officeart/2005/8/layout/process1"/>
    <dgm:cxn modelId="{207A9AB0-5557-4EB8-9D43-53FBB47079B4}" type="presOf" srcId="{C2582474-CBAE-43BE-9D62-3FC6B621D132}" destId="{2464646D-0BBF-4EFD-91A3-CB1AC5B2C909}" srcOrd="0" destOrd="0" presId="urn:microsoft.com/office/officeart/2005/8/layout/process1"/>
    <dgm:cxn modelId="{01C0CBC5-5B98-4825-B55C-FEE2F1A964D7}" type="presOf" srcId="{837A248D-27D4-406B-A764-4E55F7A81C3B}" destId="{CA9A4A3B-A6EF-44D8-AFBB-B3224EB3E889}" srcOrd="0" destOrd="0" presId="urn:microsoft.com/office/officeart/2005/8/layout/process1"/>
    <dgm:cxn modelId="{DFB1B9BC-E8A0-46EA-9196-09F7122D203B}" type="presParOf" srcId="{370270B7-0019-42DE-9112-5BBA5C7F4F80}" destId="{A111387E-191E-4D49-A331-3603EEC1C2DE}" srcOrd="0" destOrd="0" presId="urn:microsoft.com/office/officeart/2005/8/layout/process1"/>
    <dgm:cxn modelId="{3B46CB51-1430-4987-A88A-1E298F1BA8AE}" type="presParOf" srcId="{370270B7-0019-42DE-9112-5BBA5C7F4F80}" destId="{186B3319-D896-4C3E-B1ED-FFDE5BC7EDBA}" srcOrd="1" destOrd="0" presId="urn:microsoft.com/office/officeart/2005/8/layout/process1"/>
    <dgm:cxn modelId="{2398BBA9-1382-4C58-A958-FE39C8EDBFF0}" type="presParOf" srcId="{186B3319-D896-4C3E-B1ED-FFDE5BC7EDBA}" destId="{0DAC17DB-08F9-429A-832A-6011D0F3D353}" srcOrd="0" destOrd="0" presId="urn:microsoft.com/office/officeart/2005/8/layout/process1"/>
    <dgm:cxn modelId="{7FF126AD-6962-462D-B0E2-C7E979557958}" type="presParOf" srcId="{370270B7-0019-42DE-9112-5BBA5C7F4F80}" destId="{D3739E84-4F14-42C9-B7F5-90B0E73CEF6D}" srcOrd="2" destOrd="0" presId="urn:microsoft.com/office/officeart/2005/8/layout/process1"/>
    <dgm:cxn modelId="{F530A6D7-119C-4A93-B4B3-7D459A7A4428}" type="presParOf" srcId="{370270B7-0019-42DE-9112-5BBA5C7F4F80}" destId="{2464646D-0BBF-4EFD-91A3-CB1AC5B2C909}" srcOrd="3" destOrd="0" presId="urn:microsoft.com/office/officeart/2005/8/layout/process1"/>
    <dgm:cxn modelId="{C62C600E-1A40-4736-B87B-CF224E371FF7}" type="presParOf" srcId="{2464646D-0BBF-4EFD-91A3-CB1AC5B2C909}" destId="{A0098557-6724-4CCF-B479-BC0FFDE42D63}" srcOrd="0" destOrd="0" presId="urn:microsoft.com/office/officeart/2005/8/layout/process1"/>
    <dgm:cxn modelId="{5A59B128-07D9-4833-9D1C-515FE0A3060F}" type="presParOf" srcId="{370270B7-0019-42DE-9112-5BBA5C7F4F80}" destId="{0C7E6C00-E689-4873-A4F1-883707CED88F}" srcOrd="4" destOrd="0" presId="urn:microsoft.com/office/officeart/2005/8/layout/process1"/>
    <dgm:cxn modelId="{7C6C96ED-49CF-4D17-91CE-1728E56A28A5}" type="presParOf" srcId="{370270B7-0019-42DE-9112-5BBA5C7F4F80}" destId="{4756D5B8-945D-41D8-AE7A-0168EF6DB65B}" srcOrd="5" destOrd="0" presId="urn:microsoft.com/office/officeart/2005/8/layout/process1"/>
    <dgm:cxn modelId="{0A9DF017-9D77-4BCD-A80C-D8DE90DC0BF1}" type="presParOf" srcId="{4756D5B8-945D-41D8-AE7A-0168EF6DB65B}" destId="{944BA529-5C49-4E41-80D9-BCBB69B18F1F}" srcOrd="0" destOrd="0" presId="urn:microsoft.com/office/officeart/2005/8/layout/process1"/>
    <dgm:cxn modelId="{5691CCD5-2AA6-4101-962D-C0BBAAF46A38}" type="presParOf" srcId="{370270B7-0019-42DE-9112-5BBA5C7F4F80}" destId="{5B4C1324-3EEE-4A6C-A6E0-0382FC2E12F5}" srcOrd="6" destOrd="0" presId="urn:microsoft.com/office/officeart/2005/8/layout/process1"/>
    <dgm:cxn modelId="{0F5326D2-80B0-489C-88B2-C7009AC2B7EC}" type="presParOf" srcId="{370270B7-0019-42DE-9112-5BBA5C7F4F80}" destId="{719495AE-6C72-4EFF-BBF5-83EFF492D1CA}" srcOrd="7" destOrd="0" presId="urn:microsoft.com/office/officeart/2005/8/layout/process1"/>
    <dgm:cxn modelId="{1B910BAD-FC9D-4387-A141-25CCD88064FB}" type="presParOf" srcId="{719495AE-6C72-4EFF-BBF5-83EFF492D1CA}" destId="{98CC1C4D-DDE4-4B2E-BCCA-6097740D3B39}" srcOrd="0" destOrd="0" presId="urn:microsoft.com/office/officeart/2005/8/layout/process1"/>
    <dgm:cxn modelId="{5D213239-0FB4-4495-B483-72D540FF081C}" type="presParOf" srcId="{370270B7-0019-42DE-9112-5BBA5C7F4F80}" destId="{CA9A4A3B-A6EF-44D8-AFBB-B3224EB3E889}"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11387E-191E-4D49-A331-3603EEC1C2DE}">
      <dsp:nvSpPr>
        <dsp:cNvPr id="0" name=""/>
        <dsp:cNvSpPr/>
      </dsp:nvSpPr>
      <dsp:spPr>
        <a:xfrm>
          <a:off x="5385" y="342106"/>
          <a:ext cx="1669521" cy="1001713"/>
        </a:xfrm>
        <a:prstGeom prst="roundRect">
          <a:avLst>
            <a:gd name="adj" fmla="val 10000"/>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vi-VN" sz="1900" kern="1200" dirty="0"/>
            <a:t>Dữ liệu thô (Ảnh, Text)</a:t>
          </a:r>
        </a:p>
      </dsp:txBody>
      <dsp:txXfrm>
        <a:off x="34724" y="371445"/>
        <a:ext cx="1610843" cy="943035"/>
      </dsp:txXfrm>
    </dsp:sp>
    <dsp:sp modelId="{186B3319-D896-4C3E-B1ED-FFDE5BC7EDBA}">
      <dsp:nvSpPr>
        <dsp:cNvPr id="0" name=""/>
        <dsp:cNvSpPr/>
      </dsp:nvSpPr>
      <dsp:spPr>
        <a:xfrm>
          <a:off x="1841859" y="635942"/>
          <a:ext cx="353938" cy="414041"/>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vi-VN" sz="1500" kern="1200"/>
        </a:p>
      </dsp:txBody>
      <dsp:txXfrm>
        <a:off x="1841859" y="718750"/>
        <a:ext cx="247757" cy="248425"/>
      </dsp:txXfrm>
    </dsp:sp>
    <dsp:sp modelId="{D3739E84-4F14-42C9-B7F5-90B0E73CEF6D}">
      <dsp:nvSpPr>
        <dsp:cNvPr id="0" name=""/>
        <dsp:cNvSpPr/>
      </dsp:nvSpPr>
      <dsp:spPr>
        <a:xfrm>
          <a:off x="2342716" y="342106"/>
          <a:ext cx="1669521" cy="1001713"/>
        </a:xfrm>
        <a:prstGeom prst="roundRect">
          <a:avLst>
            <a:gd name="adj" fmla="val 10000"/>
          </a:avLst>
        </a:prstGeom>
        <a:solidFill>
          <a:schemeClr val="accent2">
            <a:hueOff val="-330843"/>
            <a:satOff val="373"/>
            <a:lumOff val="882"/>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err="1"/>
            <a:t>Mô</a:t>
          </a:r>
          <a:r>
            <a:rPr lang="en-US" sz="1900" kern="1200" dirty="0"/>
            <a:t> </a:t>
          </a:r>
          <a:r>
            <a:rPr lang="en-US" sz="1900" kern="1200" dirty="0" err="1"/>
            <a:t>hình</a:t>
          </a:r>
          <a:r>
            <a:rPr lang="en-US" sz="1900" kern="1200" dirty="0"/>
            <a:t> Deep Learning </a:t>
          </a:r>
          <a:endParaRPr lang="vi-VN" sz="1900" kern="1200" dirty="0"/>
        </a:p>
      </dsp:txBody>
      <dsp:txXfrm>
        <a:off x="2372055" y="371445"/>
        <a:ext cx="1610843" cy="943035"/>
      </dsp:txXfrm>
    </dsp:sp>
    <dsp:sp modelId="{2464646D-0BBF-4EFD-91A3-CB1AC5B2C909}">
      <dsp:nvSpPr>
        <dsp:cNvPr id="0" name=""/>
        <dsp:cNvSpPr/>
      </dsp:nvSpPr>
      <dsp:spPr>
        <a:xfrm>
          <a:off x="4179190" y="635942"/>
          <a:ext cx="353938" cy="414041"/>
        </a:xfrm>
        <a:prstGeom prst="rightArrow">
          <a:avLst>
            <a:gd name="adj1" fmla="val 60000"/>
            <a:gd name="adj2" fmla="val 50000"/>
          </a:avLst>
        </a:prstGeom>
        <a:solidFill>
          <a:schemeClr val="accent2">
            <a:hueOff val="-441124"/>
            <a:satOff val="497"/>
            <a:lumOff val="11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vi-VN" sz="1500" kern="1200"/>
        </a:p>
      </dsp:txBody>
      <dsp:txXfrm>
        <a:off x="4179190" y="718750"/>
        <a:ext cx="247757" cy="248425"/>
      </dsp:txXfrm>
    </dsp:sp>
    <dsp:sp modelId="{0C7E6C00-E689-4873-A4F1-883707CED88F}">
      <dsp:nvSpPr>
        <dsp:cNvPr id="0" name=""/>
        <dsp:cNvSpPr/>
      </dsp:nvSpPr>
      <dsp:spPr>
        <a:xfrm>
          <a:off x="4680046" y="342106"/>
          <a:ext cx="1669521" cy="1001713"/>
        </a:xfrm>
        <a:prstGeom prst="roundRect">
          <a:avLst>
            <a:gd name="adj" fmla="val 10000"/>
          </a:avLst>
        </a:prstGeom>
        <a:solidFill>
          <a:schemeClr val="accent2">
            <a:hueOff val="-661686"/>
            <a:satOff val="746"/>
            <a:lumOff val="1765"/>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Ma </a:t>
          </a:r>
          <a:r>
            <a:rPr lang="en-US" sz="1900" kern="1200" dirty="0" err="1"/>
            <a:t>trận</a:t>
          </a:r>
          <a:r>
            <a:rPr lang="en-US" sz="1900" kern="1200" dirty="0"/>
            <a:t> </a:t>
          </a:r>
          <a:r>
            <a:rPr lang="en-US" sz="1900" kern="1200" dirty="0" err="1"/>
            <a:t>Khoảng</a:t>
          </a:r>
          <a:r>
            <a:rPr lang="en-US" sz="1900" kern="1200" dirty="0"/>
            <a:t> </a:t>
          </a:r>
          <a:r>
            <a:rPr lang="en-US" sz="1900" kern="1200" dirty="0" err="1"/>
            <a:t>cách</a:t>
          </a:r>
          <a:endParaRPr lang="vi-VN" sz="1900" kern="1200" dirty="0"/>
        </a:p>
      </dsp:txBody>
      <dsp:txXfrm>
        <a:off x="4709385" y="371445"/>
        <a:ext cx="1610843" cy="943035"/>
      </dsp:txXfrm>
    </dsp:sp>
    <dsp:sp modelId="{4756D5B8-945D-41D8-AE7A-0168EF6DB65B}">
      <dsp:nvSpPr>
        <dsp:cNvPr id="0" name=""/>
        <dsp:cNvSpPr/>
      </dsp:nvSpPr>
      <dsp:spPr>
        <a:xfrm>
          <a:off x="6516520" y="635942"/>
          <a:ext cx="353938" cy="414041"/>
        </a:xfrm>
        <a:prstGeom prst="rightArrow">
          <a:avLst>
            <a:gd name="adj1" fmla="val 60000"/>
            <a:gd name="adj2" fmla="val 50000"/>
          </a:avLst>
        </a:prstGeom>
        <a:solidFill>
          <a:schemeClr val="accent2">
            <a:hueOff val="-882249"/>
            <a:satOff val="995"/>
            <a:lumOff val="235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vi-VN" sz="1500" kern="1200"/>
        </a:p>
      </dsp:txBody>
      <dsp:txXfrm>
        <a:off x="6516520" y="718750"/>
        <a:ext cx="247757" cy="248425"/>
      </dsp:txXfrm>
    </dsp:sp>
    <dsp:sp modelId="{5B4C1324-3EEE-4A6C-A6E0-0382FC2E12F5}">
      <dsp:nvSpPr>
        <dsp:cNvPr id="0" name=""/>
        <dsp:cNvSpPr/>
      </dsp:nvSpPr>
      <dsp:spPr>
        <a:xfrm>
          <a:off x="7017377" y="342106"/>
          <a:ext cx="1669521" cy="1001713"/>
        </a:xfrm>
        <a:prstGeom prst="roundRect">
          <a:avLst>
            <a:gd name="adj" fmla="val 10000"/>
          </a:avLst>
        </a:prstGeom>
        <a:solidFill>
          <a:schemeClr val="accent2">
            <a:hueOff val="-992530"/>
            <a:satOff val="1119"/>
            <a:lumOff val="2647"/>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vi-VN" sz="1900" kern="1200" dirty="0"/>
            <a:t>Thuật toán Phân cụm</a:t>
          </a:r>
        </a:p>
      </dsp:txBody>
      <dsp:txXfrm>
        <a:off x="7046716" y="371445"/>
        <a:ext cx="1610843" cy="943035"/>
      </dsp:txXfrm>
    </dsp:sp>
    <dsp:sp modelId="{719495AE-6C72-4EFF-BBF5-83EFF492D1CA}">
      <dsp:nvSpPr>
        <dsp:cNvPr id="0" name=""/>
        <dsp:cNvSpPr/>
      </dsp:nvSpPr>
      <dsp:spPr>
        <a:xfrm>
          <a:off x="8853851" y="635942"/>
          <a:ext cx="353938" cy="414041"/>
        </a:xfrm>
        <a:prstGeom prst="rightArrow">
          <a:avLst>
            <a:gd name="adj1" fmla="val 60000"/>
            <a:gd name="adj2" fmla="val 50000"/>
          </a:avLst>
        </a:prstGeom>
        <a:solidFill>
          <a:schemeClr val="accent2">
            <a:hueOff val="-1323373"/>
            <a:satOff val="1492"/>
            <a:lumOff val="353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vi-VN" sz="1500" kern="1200"/>
        </a:p>
      </dsp:txBody>
      <dsp:txXfrm>
        <a:off x="8853851" y="718750"/>
        <a:ext cx="247757" cy="248425"/>
      </dsp:txXfrm>
    </dsp:sp>
    <dsp:sp modelId="{CA9A4A3B-A6EF-44D8-AFBB-B3224EB3E889}">
      <dsp:nvSpPr>
        <dsp:cNvPr id="0" name=""/>
        <dsp:cNvSpPr/>
      </dsp:nvSpPr>
      <dsp:spPr>
        <a:xfrm>
          <a:off x="9354707" y="342106"/>
          <a:ext cx="1669521" cy="1001713"/>
        </a:xfrm>
        <a:prstGeom prst="roundRect">
          <a:avLst>
            <a:gd name="adj" fmla="val 10000"/>
          </a:avLst>
        </a:prstGeom>
        <a:solidFill>
          <a:schemeClr val="accent2">
            <a:hueOff val="-1323373"/>
            <a:satOff val="1492"/>
            <a:lumOff val="353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vi-VN" sz="1900" kern="1200" dirty="0"/>
            <a:t>Kết quả</a:t>
          </a:r>
        </a:p>
      </dsp:txBody>
      <dsp:txXfrm>
        <a:off x="9384046" y="371445"/>
        <a:ext cx="1610843" cy="94303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ỗ dành sẵn cho đầ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Chỗ dành sẵn cho Ngày tháng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81C88EFE-5FE7-482F-AE64-58275078C99B}" type="datetime1">
              <a:rPr lang="vi-VN" smtClean="0"/>
              <a:t>11/01/2026</a:t>
            </a:fld>
            <a:endParaRPr lang="en-US" dirty="0"/>
          </a:p>
        </p:txBody>
      </p:sp>
      <p:sp>
        <p:nvSpPr>
          <p:cNvPr id="4" name="Chỗ dành sẵn cho Chân trang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Chỗ dành sẵn cho Số hiệu Bản chiế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975D426-A9DD-4244-A2CE-1FB6623742C7}" type="slidenum">
              <a:rPr lang="en-US" smtClean="0"/>
              <a:t>‹#›</a:t>
            </a:fld>
            <a:endParaRPr lang="en-US"/>
          </a:p>
        </p:txBody>
      </p:sp>
    </p:spTree>
    <p:extLst>
      <p:ext uri="{BB962C8B-B14F-4D97-AF65-F5344CB8AC3E}">
        <p14:creationId xmlns:p14="http://schemas.microsoft.com/office/powerpoint/2010/main" val="88248445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ỗ dành sẵn cho đầ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AA7D0FE4-691E-4B26-9A9E-DEB86E6A321F}" type="datetime1">
              <a:rPr lang="vi-VN" smtClean="0"/>
              <a:t>11/01/2026</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vi"/>
              <a:t>Bấm để chỉnh sửa kiểu văn bản Bản cái</a:t>
            </a:r>
            <a:endParaRPr lang="en-US"/>
          </a:p>
          <a:p>
            <a:pPr lvl="1" rtl="0"/>
            <a:r>
              <a:rPr lang="vi"/>
              <a:t>Mức hai</a:t>
            </a:r>
          </a:p>
          <a:p>
            <a:pPr lvl="2" rtl="0"/>
            <a:r>
              <a:rPr lang="vi"/>
              <a:t>Mức ba</a:t>
            </a:r>
          </a:p>
          <a:p>
            <a:pPr lvl="3" rtl="0"/>
            <a:r>
              <a:rPr lang="vi"/>
              <a:t>Mức bốn</a:t>
            </a:r>
          </a:p>
          <a:p>
            <a:pPr lvl="4" rtl="0"/>
            <a:r>
              <a:rPr lang="vi"/>
              <a:t>Mức năm</a:t>
            </a:r>
            <a:endParaRPr lang="en-US"/>
          </a:p>
        </p:txBody>
      </p:sp>
      <p:sp>
        <p:nvSpPr>
          <p:cNvPr id="6" name="Chỗ dành sẵ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1B41D33-19C8-4450-B3C5-BE83E9C8F0BC}" type="slidenum">
              <a:rPr lang="en-US" smtClean="0"/>
              <a:t>‹#›</a:t>
            </a:fld>
            <a:endParaRPr lang="en-US"/>
          </a:p>
        </p:txBody>
      </p:sp>
    </p:spTree>
    <p:extLst>
      <p:ext uri="{BB962C8B-B14F-4D97-AF65-F5344CB8AC3E}">
        <p14:creationId xmlns:p14="http://schemas.microsoft.com/office/powerpoint/2010/main" val="3571455252"/>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rang chiếu Tiêu đề">
    <p:spTree>
      <p:nvGrpSpPr>
        <p:cNvPr id="1" name=""/>
        <p:cNvGrpSpPr/>
        <p:nvPr/>
      </p:nvGrpSpPr>
      <p:grpSpPr>
        <a:xfrm>
          <a:off x="0" y="0"/>
          <a:ext cx="0" cy="0"/>
          <a:chOff x="0" y="0"/>
          <a:chExt cx="0" cy="0"/>
        </a:xfrm>
      </p:grpSpPr>
      <p:sp>
        <p:nvSpPr>
          <p:cNvPr id="7" name="Hình chữ nhật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vi-VN"/>
          </a:p>
        </p:txBody>
      </p:sp>
      <p:sp>
        <p:nvSpPr>
          <p:cNvPr id="2" name="Tiêu đề 1"/>
          <p:cNvSpPr>
            <a:spLocks noGrp="1"/>
          </p:cNvSpPr>
          <p:nvPr>
            <p:ph type="ctrTitle"/>
          </p:nvPr>
        </p:nvSpPr>
        <p:spPr>
          <a:xfrm>
            <a:off x="581191" y="1020431"/>
            <a:ext cx="10993549" cy="1475013"/>
          </a:xfrm>
          <a:effectLst/>
        </p:spPr>
        <p:txBody>
          <a:bodyPr rtlCol="0" anchor="b">
            <a:normAutofit/>
          </a:bodyPr>
          <a:lstStyle>
            <a:lvl1pPr>
              <a:defRPr sz="3600">
                <a:solidFill>
                  <a:schemeClr val="tx1">
                    <a:lumMod val="75000"/>
                    <a:lumOff val="25000"/>
                  </a:schemeClr>
                </a:solidFill>
              </a:defRPr>
            </a:lvl1pPr>
          </a:lstStyle>
          <a:p>
            <a:pPr rtl="0"/>
            <a:r>
              <a:rPr lang="en-GB"/>
              <a:t>Click to edit Master title style</a:t>
            </a:r>
            <a:endParaRPr lang="en-US" dirty="0"/>
          </a:p>
        </p:txBody>
      </p:sp>
      <p:sp>
        <p:nvSpPr>
          <p:cNvPr id="3" name="Tiêu đề phụ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n-GB"/>
              <a:t>Click to edit Master subtitle style</a:t>
            </a:r>
            <a:endParaRPr lang="en-US" dirty="0"/>
          </a:p>
        </p:txBody>
      </p:sp>
      <p:sp>
        <p:nvSpPr>
          <p:cNvPr id="8" name="Chỗ dành sẵn cho Ngày tháng 7">
            <a:extLst>
              <a:ext uri="{FF2B5EF4-FFF2-40B4-BE49-F238E27FC236}">
                <a16:creationId xmlns:a16="http://schemas.microsoft.com/office/drawing/2014/main" id="{7FA0ACE7-29A8-47D3-A7D9-257B711D8023}"/>
              </a:ext>
            </a:extLst>
          </p:cNvPr>
          <p:cNvSpPr>
            <a:spLocks noGrp="1"/>
          </p:cNvSpPr>
          <p:nvPr>
            <p:ph type="dt" sz="half" idx="10"/>
          </p:nvPr>
        </p:nvSpPr>
        <p:spPr/>
        <p:txBody>
          <a:bodyPr rtlCol="0"/>
          <a:lstStyle/>
          <a:p>
            <a:pPr rtl="0"/>
            <a:fld id="{65A9AB08-9BB3-4409-990A-73B5AF314B08}" type="datetime1">
              <a:rPr lang="vi-VN" smtClean="0"/>
              <a:t>11/01/2026</a:t>
            </a:fld>
            <a:endParaRPr lang="en-US" dirty="0"/>
          </a:p>
        </p:txBody>
      </p:sp>
      <p:sp>
        <p:nvSpPr>
          <p:cNvPr id="9" name="Chỗ dành sẵn cho Chân trang 8">
            <a:extLst>
              <a:ext uri="{FF2B5EF4-FFF2-40B4-BE49-F238E27FC236}">
                <a16:creationId xmlns:a16="http://schemas.microsoft.com/office/drawing/2014/main" id="{DEC604B9-52E9-4810-8359-47206518D038}"/>
              </a:ext>
            </a:extLst>
          </p:cNvPr>
          <p:cNvSpPr>
            <a:spLocks noGrp="1"/>
          </p:cNvSpPr>
          <p:nvPr>
            <p:ph type="ftr" sz="quarter" idx="11"/>
          </p:nvPr>
        </p:nvSpPr>
        <p:spPr/>
        <p:txBody>
          <a:bodyPr rtlCol="0"/>
          <a:lstStyle/>
          <a:p>
            <a:pPr rtl="0"/>
            <a:endParaRPr lang="en-US" dirty="0"/>
          </a:p>
        </p:txBody>
      </p:sp>
      <p:sp>
        <p:nvSpPr>
          <p:cNvPr id="10" name="Chỗ dành sẵn cho Số Trang chiếu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ề và Nội dung">
    <p:spTree>
      <p:nvGrpSpPr>
        <p:cNvPr id="1" name=""/>
        <p:cNvGrpSpPr/>
        <p:nvPr/>
      </p:nvGrpSpPr>
      <p:grpSpPr>
        <a:xfrm>
          <a:off x="0" y="0"/>
          <a:ext cx="0" cy="0"/>
          <a:chOff x="0" y="0"/>
          <a:chExt cx="0" cy="0"/>
        </a:xfrm>
      </p:grpSpPr>
      <p:sp>
        <p:nvSpPr>
          <p:cNvPr id="2" name="Tiêu đề 1"/>
          <p:cNvSpPr>
            <a:spLocks noGrp="1"/>
          </p:cNvSpPr>
          <p:nvPr>
            <p:ph type="title"/>
          </p:nvPr>
        </p:nvSpPr>
        <p:spPr>
          <a:xfrm>
            <a:off x="581192" y="702156"/>
            <a:ext cx="11029616" cy="1188720"/>
          </a:xfrm>
        </p:spPr>
        <p:txBody>
          <a:bodyPr rtlCol="0"/>
          <a:lstStyle/>
          <a:p>
            <a:pPr rtl="0"/>
            <a:r>
              <a:rPr lang="en-GB"/>
              <a:t>Click to edit Master title style</a:t>
            </a:r>
            <a:endParaRPr lang="en-US" dirty="0"/>
          </a:p>
        </p:txBody>
      </p:sp>
      <p:sp>
        <p:nvSpPr>
          <p:cNvPr id="3" name="Chỗ dành sẵn cho nội dung 2"/>
          <p:cNvSpPr>
            <a:spLocks noGrp="1"/>
          </p:cNvSpPr>
          <p:nvPr>
            <p:ph idx="1"/>
          </p:nvPr>
        </p:nvSpPr>
        <p:spPr>
          <a:xfrm>
            <a:off x="581192" y="2340864"/>
            <a:ext cx="11029615" cy="3634486"/>
          </a:xfrm>
        </p:spPr>
        <p:txBody>
          <a:bodyPr rtlCol="0"/>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US" dirty="0"/>
          </a:p>
        </p:txBody>
      </p:sp>
      <p:sp>
        <p:nvSpPr>
          <p:cNvPr id="8" name="Chỗ dành sẵn cho Ngày tháng 7">
            <a:extLst>
              <a:ext uri="{FF2B5EF4-FFF2-40B4-BE49-F238E27FC236}">
                <a16:creationId xmlns:a16="http://schemas.microsoft.com/office/drawing/2014/main" id="{770E6237-3456-439F-802D-3BA93FC7E3E5}"/>
              </a:ext>
            </a:extLst>
          </p:cNvPr>
          <p:cNvSpPr>
            <a:spLocks noGrp="1"/>
          </p:cNvSpPr>
          <p:nvPr>
            <p:ph type="dt" sz="half" idx="10"/>
          </p:nvPr>
        </p:nvSpPr>
        <p:spPr/>
        <p:txBody>
          <a:bodyPr rtlCol="0"/>
          <a:lstStyle/>
          <a:p>
            <a:pPr rtl="0"/>
            <a:fld id="{89E5547D-1B8E-486F-9659-F0F7627F8547}" type="datetime1">
              <a:rPr lang="vi-VN" smtClean="0"/>
              <a:t>11/01/2026</a:t>
            </a:fld>
            <a:endParaRPr lang="en-US" dirty="0"/>
          </a:p>
        </p:txBody>
      </p:sp>
      <p:sp>
        <p:nvSpPr>
          <p:cNvPr id="9" name="Chỗ dành sẵn cho Chân trang 8">
            <a:extLst>
              <a:ext uri="{FF2B5EF4-FFF2-40B4-BE49-F238E27FC236}">
                <a16:creationId xmlns:a16="http://schemas.microsoft.com/office/drawing/2014/main" id="{1356D3B5-6063-4A89-B88F-9D3043916FF8}"/>
              </a:ext>
            </a:extLst>
          </p:cNvPr>
          <p:cNvSpPr>
            <a:spLocks noGrp="1"/>
          </p:cNvSpPr>
          <p:nvPr>
            <p:ph type="ftr" sz="quarter" idx="11"/>
          </p:nvPr>
        </p:nvSpPr>
        <p:spPr/>
        <p:txBody>
          <a:bodyPr rtlCol="0"/>
          <a:lstStyle/>
          <a:p>
            <a:pPr rtl="0"/>
            <a:endParaRPr lang="en-US" dirty="0"/>
          </a:p>
        </p:txBody>
      </p:sp>
      <p:sp>
        <p:nvSpPr>
          <p:cNvPr id="10" name="Chỗ dành sẵn cho Số Trang chiếu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ầu trang của Mục">
    <p:spTree>
      <p:nvGrpSpPr>
        <p:cNvPr id="1" name=""/>
        <p:cNvGrpSpPr/>
        <p:nvPr/>
      </p:nvGrpSpPr>
      <p:grpSpPr>
        <a:xfrm>
          <a:off x="0" y="0"/>
          <a:ext cx="0" cy="0"/>
          <a:chOff x="0" y="0"/>
          <a:chExt cx="0" cy="0"/>
        </a:xfrm>
      </p:grpSpPr>
      <p:sp>
        <p:nvSpPr>
          <p:cNvPr id="8" name="Hình chữ nhật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êu đề 1"/>
          <p:cNvSpPr>
            <a:spLocks noGrp="1"/>
          </p:cNvSpPr>
          <p:nvPr>
            <p:ph type="title"/>
          </p:nvPr>
        </p:nvSpPr>
        <p:spPr>
          <a:xfrm>
            <a:off x="581193" y="2393950"/>
            <a:ext cx="11029615" cy="2147467"/>
          </a:xfrm>
        </p:spPr>
        <p:txBody>
          <a:bodyPr rtlCol="0" anchor="b">
            <a:normAutofit/>
          </a:bodyPr>
          <a:lstStyle>
            <a:lvl1pPr algn="l">
              <a:defRPr sz="3600" b="1" cap="all">
                <a:solidFill>
                  <a:schemeClr val="tx1">
                    <a:lumMod val="75000"/>
                    <a:lumOff val="25000"/>
                  </a:schemeClr>
                </a:solidFill>
              </a:defRPr>
            </a:lvl1pPr>
          </a:lstStyle>
          <a:p>
            <a:pPr rtl="0"/>
            <a:r>
              <a:rPr lang="en-GB"/>
              <a:t>Click to edit Master title style</a:t>
            </a:r>
            <a:endParaRPr lang="en-US" dirty="0"/>
          </a:p>
        </p:txBody>
      </p:sp>
      <p:sp>
        <p:nvSpPr>
          <p:cNvPr id="3" name="Chỗ dành sẵn cho Văn bản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GB"/>
              <a:t>Click to edit Master text styles</a:t>
            </a:r>
          </a:p>
        </p:txBody>
      </p:sp>
      <p:sp>
        <p:nvSpPr>
          <p:cNvPr id="7" name="Chỗ dành sẵn cho Ngày tháng 6">
            <a:extLst>
              <a:ext uri="{FF2B5EF4-FFF2-40B4-BE49-F238E27FC236}">
                <a16:creationId xmlns:a16="http://schemas.microsoft.com/office/drawing/2014/main" id="{61582016-5696-4A93-887F-BBB3B9002FE5}"/>
              </a:ext>
            </a:extLst>
          </p:cNvPr>
          <p:cNvSpPr>
            <a:spLocks noGrp="1"/>
          </p:cNvSpPr>
          <p:nvPr>
            <p:ph type="dt" sz="half" idx="10"/>
          </p:nvPr>
        </p:nvSpPr>
        <p:spPr/>
        <p:txBody>
          <a:bodyPr rtlCol="0"/>
          <a:lstStyle/>
          <a:p>
            <a:pPr rtl="0"/>
            <a:fld id="{66521BAD-CD35-440C-B1A9-311AFB591079}" type="datetime1">
              <a:rPr lang="vi-VN" smtClean="0"/>
              <a:t>11/01/2026</a:t>
            </a:fld>
            <a:endParaRPr lang="en-US" dirty="0"/>
          </a:p>
        </p:txBody>
      </p:sp>
      <p:sp>
        <p:nvSpPr>
          <p:cNvPr id="9" name="Chỗ dành sẵn cho Chân trang 8">
            <a:extLst>
              <a:ext uri="{FF2B5EF4-FFF2-40B4-BE49-F238E27FC236}">
                <a16:creationId xmlns:a16="http://schemas.microsoft.com/office/drawing/2014/main" id="{857CFCD5-1192-4E18-8A8F-29E153B44DA4}"/>
              </a:ext>
            </a:extLst>
          </p:cNvPr>
          <p:cNvSpPr>
            <a:spLocks noGrp="1"/>
          </p:cNvSpPr>
          <p:nvPr>
            <p:ph type="ftr" sz="quarter" idx="11"/>
          </p:nvPr>
        </p:nvSpPr>
        <p:spPr/>
        <p:txBody>
          <a:bodyPr rtlCol="0"/>
          <a:lstStyle/>
          <a:p>
            <a:pPr rtl="0"/>
            <a:endParaRPr lang="en-US" dirty="0"/>
          </a:p>
        </p:txBody>
      </p:sp>
      <p:sp>
        <p:nvSpPr>
          <p:cNvPr id="10" name="Chỗ dành sẵn cho Số Trang chiếu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ội dung">
    <p:spTree>
      <p:nvGrpSpPr>
        <p:cNvPr id="1" name=""/>
        <p:cNvGrpSpPr/>
        <p:nvPr/>
      </p:nvGrpSpPr>
      <p:grpSpPr>
        <a:xfrm>
          <a:off x="0" y="0"/>
          <a:ext cx="0" cy="0"/>
          <a:chOff x="0" y="0"/>
          <a:chExt cx="0" cy="0"/>
        </a:xfrm>
      </p:grpSpPr>
      <p:sp>
        <p:nvSpPr>
          <p:cNvPr id="2" name="Tiêu đề 1"/>
          <p:cNvSpPr>
            <a:spLocks noGrp="1"/>
          </p:cNvSpPr>
          <p:nvPr>
            <p:ph type="title"/>
          </p:nvPr>
        </p:nvSpPr>
        <p:spPr>
          <a:xfrm>
            <a:off x="581193" y="729658"/>
            <a:ext cx="11029616" cy="988332"/>
          </a:xfrm>
        </p:spPr>
        <p:txBody>
          <a:bodyPr rtlCol="0"/>
          <a:lstStyle/>
          <a:p>
            <a:pPr rtl="0"/>
            <a:r>
              <a:rPr lang="en-GB"/>
              <a:t>Click to edit Master title style</a:t>
            </a:r>
            <a:endParaRPr lang="en-US" dirty="0"/>
          </a:p>
        </p:txBody>
      </p:sp>
      <p:sp>
        <p:nvSpPr>
          <p:cNvPr id="3" name="Chỗ dành sẵn cho nội dung 2"/>
          <p:cNvSpPr>
            <a:spLocks noGrp="1"/>
          </p:cNvSpPr>
          <p:nvPr>
            <p:ph sz="half" idx="1"/>
          </p:nvPr>
        </p:nvSpPr>
        <p:spPr>
          <a:xfrm>
            <a:off x="581193" y="2228003"/>
            <a:ext cx="5194767" cy="3633047"/>
          </a:xfrm>
        </p:spPr>
        <p:txBody>
          <a:bodyPr rtlCol="0">
            <a:normAutofit/>
          </a:body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US" dirty="0"/>
          </a:p>
        </p:txBody>
      </p:sp>
      <p:sp>
        <p:nvSpPr>
          <p:cNvPr id="4" name="Chỗ dành sẵn cho nội dung 3"/>
          <p:cNvSpPr>
            <a:spLocks noGrp="1"/>
          </p:cNvSpPr>
          <p:nvPr>
            <p:ph sz="half" idx="2"/>
          </p:nvPr>
        </p:nvSpPr>
        <p:spPr>
          <a:xfrm>
            <a:off x="6416039" y="2228003"/>
            <a:ext cx="5194769" cy="3633047"/>
          </a:xfrm>
        </p:spPr>
        <p:txBody>
          <a:bodyPr rtlCol="0">
            <a:normAutofit/>
          </a:body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US" dirty="0"/>
          </a:p>
        </p:txBody>
      </p:sp>
      <p:sp>
        <p:nvSpPr>
          <p:cNvPr id="5" name="Chỗ dành sẵn cho Ngày tháng 4"/>
          <p:cNvSpPr>
            <a:spLocks noGrp="1"/>
          </p:cNvSpPr>
          <p:nvPr>
            <p:ph type="dt" sz="half" idx="10"/>
          </p:nvPr>
        </p:nvSpPr>
        <p:spPr/>
        <p:txBody>
          <a:bodyPr rtlCol="0"/>
          <a:lstStyle/>
          <a:p>
            <a:pPr rtl="0"/>
            <a:fld id="{6B268195-E7EA-4BEF-8A3D-6C67F281509E}" type="datetime1">
              <a:rPr lang="vi-VN" smtClean="0"/>
              <a:t>11/01/2026</a:t>
            </a:fld>
            <a:endParaRPr lang="en-US" dirty="0"/>
          </a:p>
        </p:txBody>
      </p:sp>
      <p:sp>
        <p:nvSpPr>
          <p:cNvPr id="6" name="Chỗ dành sẵn cho Chân trang 5"/>
          <p:cNvSpPr>
            <a:spLocks noGrp="1"/>
          </p:cNvSpPr>
          <p:nvPr>
            <p:ph type="ftr" sz="quarter" idx="11"/>
          </p:nvPr>
        </p:nvSpPr>
        <p:spPr/>
        <p:txBody>
          <a:bodyPr rtlCol="0"/>
          <a:lstStyle/>
          <a:p>
            <a:pPr rtl="0"/>
            <a:endParaRPr lang="en-US" dirty="0"/>
          </a:p>
        </p:txBody>
      </p:sp>
      <p:sp>
        <p:nvSpPr>
          <p:cNvPr id="7" name="Chỗ dành sẵn cho Số hiệu Bản chiếu 6"/>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o sánh">
    <p:spTree>
      <p:nvGrpSpPr>
        <p:cNvPr id="1" name=""/>
        <p:cNvGrpSpPr/>
        <p:nvPr/>
      </p:nvGrpSpPr>
      <p:grpSpPr>
        <a:xfrm>
          <a:off x="0" y="0"/>
          <a:ext cx="0" cy="0"/>
          <a:chOff x="0" y="0"/>
          <a:chExt cx="0" cy="0"/>
        </a:xfrm>
      </p:grpSpPr>
      <p:sp>
        <p:nvSpPr>
          <p:cNvPr id="12" name="Tiêu đề 1"/>
          <p:cNvSpPr>
            <a:spLocks noGrp="1"/>
          </p:cNvSpPr>
          <p:nvPr>
            <p:ph type="title"/>
          </p:nvPr>
        </p:nvSpPr>
        <p:spPr>
          <a:xfrm>
            <a:off x="581193" y="729658"/>
            <a:ext cx="11029616" cy="988332"/>
          </a:xfrm>
        </p:spPr>
        <p:txBody>
          <a:bodyPr rtlCol="0"/>
          <a:lstStyle/>
          <a:p>
            <a:pPr rtl="0"/>
            <a:r>
              <a:rPr lang="en-GB"/>
              <a:t>Click to edit Master title style</a:t>
            </a:r>
            <a:endParaRPr lang="en-US" dirty="0"/>
          </a:p>
        </p:txBody>
      </p:sp>
      <p:sp>
        <p:nvSpPr>
          <p:cNvPr id="3" name="Chỗ dành sẵn cho Văn bản 2"/>
          <p:cNvSpPr>
            <a:spLocks noGrp="1"/>
          </p:cNvSpPr>
          <p:nvPr>
            <p:ph type="body" idx="1"/>
          </p:nvPr>
        </p:nvSpPr>
        <p:spPr>
          <a:xfrm>
            <a:off x="581191" y="2250891"/>
            <a:ext cx="5194769" cy="557784"/>
          </a:xfrm>
        </p:spPr>
        <p:txBody>
          <a:bodyPr rtlCol="0"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a:t>Click to edit Master text styles</a:t>
            </a:r>
          </a:p>
        </p:txBody>
      </p:sp>
      <p:sp>
        <p:nvSpPr>
          <p:cNvPr id="4" name="Chỗ dành sẵn cho nội dung 3"/>
          <p:cNvSpPr>
            <a:spLocks noGrp="1"/>
          </p:cNvSpPr>
          <p:nvPr>
            <p:ph sz="half" idx="2"/>
          </p:nvPr>
        </p:nvSpPr>
        <p:spPr>
          <a:xfrm>
            <a:off x="581194" y="2926052"/>
            <a:ext cx="5194766" cy="2934999"/>
          </a:xfrm>
        </p:spPr>
        <p:txBody>
          <a:bodyPr rtlCol="0" anchor="t">
            <a:normAutofit/>
          </a:body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US" dirty="0"/>
          </a:p>
        </p:txBody>
      </p:sp>
      <p:sp>
        <p:nvSpPr>
          <p:cNvPr id="5" name="Chỗ dành sẵn cho Văn bản 4"/>
          <p:cNvSpPr>
            <a:spLocks noGrp="1"/>
          </p:cNvSpPr>
          <p:nvPr>
            <p:ph type="body" sz="quarter" idx="3"/>
          </p:nvPr>
        </p:nvSpPr>
        <p:spPr>
          <a:xfrm>
            <a:off x="6416039" y="2250892"/>
            <a:ext cx="5194770" cy="553373"/>
          </a:xfrm>
        </p:spPr>
        <p:txBody>
          <a:bodyPr rtlCol="0"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GB"/>
              <a:t>Click to edit Master text styles</a:t>
            </a:r>
          </a:p>
        </p:txBody>
      </p:sp>
      <p:sp>
        <p:nvSpPr>
          <p:cNvPr id="6" name="Chỗ dành sẵn cho nội dung 5"/>
          <p:cNvSpPr>
            <a:spLocks noGrp="1"/>
          </p:cNvSpPr>
          <p:nvPr>
            <p:ph sz="quarter" idx="4"/>
          </p:nvPr>
        </p:nvSpPr>
        <p:spPr>
          <a:xfrm>
            <a:off x="6416037" y="2926052"/>
            <a:ext cx="5194771" cy="2934999"/>
          </a:xfrm>
        </p:spPr>
        <p:txBody>
          <a:bodyPr rtlCol="0" anchor="t">
            <a:normAutofit/>
          </a:body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US" dirty="0"/>
          </a:p>
        </p:txBody>
      </p:sp>
      <p:sp>
        <p:nvSpPr>
          <p:cNvPr id="7" name="Chỗ dành sẵn cho Ngày tháng 6"/>
          <p:cNvSpPr>
            <a:spLocks noGrp="1"/>
          </p:cNvSpPr>
          <p:nvPr>
            <p:ph type="dt" sz="half" idx="10"/>
          </p:nvPr>
        </p:nvSpPr>
        <p:spPr/>
        <p:txBody>
          <a:bodyPr rtlCol="0"/>
          <a:lstStyle/>
          <a:p>
            <a:pPr rtl="0"/>
            <a:fld id="{403BFE86-5726-4FD1-B002-5A5054089ADC}" type="datetime1">
              <a:rPr lang="vi-VN" smtClean="0"/>
              <a:t>11/01/2026</a:t>
            </a:fld>
            <a:endParaRPr lang="en-US" dirty="0"/>
          </a:p>
        </p:txBody>
      </p:sp>
      <p:sp>
        <p:nvSpPr>
          <p:cNvPr id="8" name="Chỗ dành sẵn cho Chân trang 7"/>
          <p:cNvSpPr>
            <a:spLocks noGrp="1"/>
          </p:cNvSpPr>
          <p:nvPr>
            <p:ph type="ftr" sz="quarter" idx="11"/>
          </p:nvPr>
        </p:nvSpPr>
        <p:spPr/>
        <p:txBody>
          <a:bodyPr rtlCol="0"/>
          <a:lstStyle/>
          <a:p>
            <a:pPr rtl="0"/>
            <a:endParaRPr lang="en-US" dirty="0"/>
          </a:p>
        </p:txBody>
      </p:sp>
      <p:sp>
        <p:nvSpPr>
          <p:cNvPr id="9" name="Chỗ dành sẵn cho số trang chiếu 8"/>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ỉ Tiêu đề">
    <p:spTree>
      <p:nvGrpSpPr>
        <p:cNvPr id="1" name=""/>
        <p:cNvGrpSpPr/>
        <p:nvPr/>
      </p:nvGrpSpPr>
      <p:grpSpPr>
        <a:xfrm>
          <a:off x="0" y="0"/>
          <a:ext cx="0" cy="0"/>
          <a:chOff x="0" y="0"/>
          <a:chExt cx="0" cy="0"/>
        </a:xfrm>
      </p:grpSpPr>
      <p:sp>
        <p:nvSpPr>
          <p:cNvPr id="8" name="Tiêu đề 1"/>
          <p:cNvSpPr>
            <a:spLocks noGrp="1"/>
          </p:cNvSpPr>
          <p:nvPr>
            <p:ph type="title"/>
          </p:nvPr>
        </p:nvSpPr>
        <p:spPr>
          <a:xfrm>
            <a:off x="575894" y="729658"/>
            <a:ext cx="11029616" cy="988332"/>
          </a:xfrm>
        </p:spPr>
        <p:txBody>
          <a:bodyPr rtlCol="0"/>
          <a:lstStyle/>
          <a:p>
            <a:pPr rtl="0"/>
            <a:r>
              <a:rPr lang="en-GB"/>
              <a:t>Click to edit Master title style</a:t>
            </a:r>
            <a:endParaRPr lang="en-US" dirty="0"/>
          </a:p>
        </p:txBody>
      </p:sp>
      <p:sp>
        <p:nvSpPr>
          <p:cNvPr id="3" name="Chỗ dành sẵn cho Ngày tháng 2"/>
          <p:cNvSpPr>
            <a:spLocks noGrp="1"/>
          </p:cNvSpPr>
          <p:nvPr>
            <p:ph type="dt" sz="half" idx="10"/>
          </p:nvPr>
        </p:nvSpPr>
        <p:spPr/>
        <p:txBody>
          <a:bodyPr rtlCol="0"/>
          <a:lstStyle/>
          <a:p>
            <a:pPr rtl="0"/>
            <a:fld id="{1C6CC7A9-1EA9-4F6A-BD8A-FD5805FC20E9}" type="datetime1">
              <a:rPr lang="vi-VN" smtClean="0"/>
              <a:t>11/01/2026</a:t>
            </a:fld>
            <a:endParaRPr lang="en-US" dirty="0"/>
          </a:p>
        </p:txBody>
      </p:sp>
      <p:sp>
        <p:nvSpPr>
          <p:cNvPr id="4" name="Chỗ dành sẵn cho Chân trang 3"/>
          <p:cNvSpPr>
            <a:spLocks noGrp="1"/>
          </p:cNvSpPr>
          <p:nvPr>
            <p:ph type="ftr" sz="quarter" idx="11"/>
          </p:nvPr>
        </p:nvSpPr>
        <p:spPr/>
        <p:txBody>
          <a:bodyPr rtlCol="0"/>
          <a:lstStyle/>
          <a:p>
            <a:pPr rtl="0"/>
            <a:endParaRPr lang="en-US" dirty="0"/>
          </a:p>
        </p:txBody>
      </p:sp>
      <p:sp>
        <p:nvSpPr>
          <p:cNvPr id="5" name="Chỗ dành sẵn cho Số hiệu Bản chiếu 4"/>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ống">
    <p:spTree>
      <p:nvGrpSpPr>
        <p:cNvPr id="1" name=""/>
        <p:cNvGrpSpPr/>
        <p:nvPr/>
      </p:nvGrpSpPr>
      <p:grpSpPr>
        <a:xfrm>
          <a:off x="0" y="0"/>
          <a:ext cx="0" cy="0"/>
          <a:chOff x="0" y="0"/>
          <a:chExt cx="0" cy="0"/>
        </a:xfrm>
      </p:grpSpPr>
      <p:sp>
        <p:nvSpPr>
          <p:cNvPr id="2" name="Chỗ dành sẵn cho Ngày tháng 1"/>
          <p:cNvSpPr>
            <a:spLocks noGrp="1"/>
          </p:cNvSpPr>
          <p:nvPr>
            <p:ph type="dt" sz="half" idx="10"/>
          </p:nvPr>
        </p:nvSpPr>
        <p:spPr/>
        <p:txBody>
          <a:bodyPr rtlCol="0"/>
          <a:lstStyle/>
          <a:p>
            <a:pPr rtl="0"/>
            <a:fld id="{519D6F02-20B5-4CCC-B0C9-4DC5F7651934}" type="datetime1">
              <a:rPr lang="vi-VN" smtClean="0"/>
              <a:t>11/01/2026</a:t>
            </a:fld>
            <a:endParaRPr lang="en-US" dirty="0"/>
          </a:p>
        </p:txBody>
      </p:sp>
      <p:sp>
        <p:nvSpPr>
          <p:cNvPr id="3" name="Chỗ dành sẵn cho Chân trang 2"/>
          <p:cNvSpPr>
            <a:spLocks noGrp="1"/>
          </p:cNvSpPr>
          <p:nvPr>
            <p:ph type="ftr" sz="quarter" idx="11"/>
          </p:nvPr>
        </p:nvSpPr>
        <p:spPr/>
        <p:txBody>
          <a:bodyPr rtlCol="0"/>
          <a:lstStyle/>
          <a:p>
            <a:pPr rtl="0"/>
            <a:endParaRPr lang="en-US" dirty="0"/>
          </a:p>
        </p:txBody>
      </p:sp>
      <p:sp>
        <p:nvSpPr>
          <p:cNvPr id="4" name="Chỗ dành sẵn cho số hiệu trang chiếu 3"/>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ội dung có Chú thích">
    <p:spTree>
      <p:nvGrpSpPr>
        <p:cNvPr id="1" name=""/>
        <p:cNvGrpSpPr/>
        <p:nvPr/>
      </p:nvGrpSpPr>
      <p:grpSpPr>
        <a:xfrm>
          <a:off x="0" y="0"/>
          <a:ext cx="0" cy="0"/>
          <a:chOff x="0" y="0"/>
          <a:chExt cx="0" cy="0"/>
        </a:xfrm>
      </p:grpSpPr>
      <p:sp>
        <p:nvSpPr>
          <p:cNvPr id="9" name="Hình chữ nhật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vi-VN"/>
          </a:p>
        </p:txBody>
      </p:sp>
      <p:sp>
        <p:nvSpPr>
          <p:cNvPr id="2" name="Tiêu đề 1"/>
          <p:cNvSpPr>
            <a:spLocks noGrp="1"/>
          </p:cNvSpPr>
          <p:nvPr>
            <p:ph type="title"/>
          </p:nvPr>
        </p:nvSpPr>
        <p:spPr>
          <a:xfrm>
            <a:off x="767857" y="933450"/>
            <a:ext cx="3031852" cy="1722419"/>
          </a:xfrm>
        </p:spPr>
        <p:txBody>
          <a:bodyPr rtlCol="0" anchor="b">
            <a:normAutofit/>
          </a:bodyPr>
          <a:lstStyle>
            <a:lvl1pPr algn="l">
              <a:defRPr sz="2400" b="1">
                <a:solidFill>
                  <a:srgbClr val="FFFFFF"/>
                </a:solidFill>
              </a:defRPr>
            </a:lvl1pPr>
          </a:lstStyle>
          <a:p>
            <a:pPr rtl="0"/>
            <a:r>
              <a:rPr lang="en-GB"/>
              <a:t>Click to edit Master title style</a:t>
            </a:r>
            <a:endParaRPr lang="en-US" dirty="0"/>
          </a:p>
        </p:txBody>
      </p:sp>
      <p:sp>
        <p:nvSpPr>
          <p:cNvPr id="3" name="Chỗ dành sẵn cho nội dung 2"/>
          <p:cNvSpPr>
            <a:spLocks noGrp="1"/>
          </p:cNvSpPr>
          <p:nvPr>
            <p:ph idx="1"/>
          </p:nvPr>
        </p:nvSpPr>
        <p:spPr>
          <a:xfrm>
            <a:off x="4900928" y="1179829"/>
            <a:ext cx="6650991" cy="4658216"/>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US" dirty="0"/>
          </a:p>
        </p:txBody>
      </p:sp>
      <p:sp>
        <p:nvSpPr>
          <p:cNvPr id="4" name="Chỗ dành sẵn cho văn bản 3"/>
          <p:cNvSpPr>
            <a:spLocks noGrp="1"/>
          </p:cNvSpPr>
          <p:nvPr>
            <p:ph type="body" sz="half" idx="2"/>
          </p:nvPr>
        </p:nvSpPr>
        <p:spPr>
          <a:xfrm>
            <a:off x="767857" y="2836654"/>
            <a:ext cx="3031852" cy="3001392"/>
          </a:xfrm>
        </p:spPr>
        <p:txBody>
          <a:bodyPr rtlCol="0"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a:t>Click to edit Master text styles</a:t>
            </a:r>
          </a:p>
        </p:txBody>
      </p:sp>
      <p:sp>
        <p:nvSpPr>
          <p:cNvPr id="8" name="Chỗ dành sẵn cho Ngày tháng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957198F6-105D-482F-A0ED-36594C95EF28}" type="datetime1">
              <a:rPr lang="vi-VN" smtClean="0"/>
              <a:t>11/01/2026</a:t>
            </a:fld>
            <a:endParaRPr lang="en-US" dirty="0"/>
          </a:p>
        </p:txBody>
      </p:sp>
      <p:sp>
        <p:nvSpPr>
          <p:cNvPr id="10" name="Chỗ dành sẵn cho Chân trang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n-US" dirty="0"/>
          </a:p>
        </p:txBody>
      </p:sp>
      <p:sp>
        <p:nvSpPr>
          <p:cNvPr id="11" name="Chỗ dành sẵn cho Số hiệu Bản chiếu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Ảnh có chú thích">
    <p:spTree>
      <p:nvGrpSpPr>
        <p:cNvPr id="1" name=""/>
        <p:cNvGrpSpPr/>
        <p:nvPr/>
      </p:nvGrpSpPr>
      <p:grpSpPr>
        <a:xfrm>
          <a:off x="0" y="0"/>
          <a:ext cx="0" cy="0"/>
          <a:chOff x="0" y="0"/>
          <a:chExt cx="0" cy="0"/>
        </a:xfrm>
      </p:grpSpPr>
      <p:sp>
        <p:nvSpPr>
          <p:cNvPr id="2" name="Tiêu đề 1"/>
          <p:cNvSpPr>
            <a:spLocks noGrp="1"/>
          </p:cNvSpPr>
          <p:nvPr>
            <p:ph type="title"/>
          </p:nvPr>
        </p:nvSpPr>
        <p:spPr>
          <a:xfrm>
            <a:off x="581193" y="4693389"/>
            <a:ext cx="11029616" cy="566738"/>
          </a:xfrm>
        </p:spPr>
        <p:txBody>
          <a:bodyPr rtlCol="0" anchor="b">
            <a:normAutofit/>
          </a:bodyPr>
          <a:lstStyle>
            <a:lvl1pPr algn="l">
              <a:defRPr sz="2400" b="1">
                <a:solidFill>
                  <a:schemeClr val="tx1">
                    <a:lumMod val="75000"/>
                    <a:lumOff val="25000"/>
                  </a:schemeClr>
                </a:solidFill>
              </a:defRPr>
            </a:lvl1pPr>
          </a:lstStyle>
          <a:p>
            <a:pPr rtl="0"/>
            <a:r>
              <a:rPr lang="en-GB"/>
              <a:t>Click to edit Master title style</a:t>
            </a:r>
            <a:endParaRPr lang="en-US" dirty="0"/>
          </a:p>
        </p:txBody>
      </p:sp>
      <p:sp>
        <p:nvSpPr>
          <p:cNvPr id="3" name="Chỗ dành sẵn cho Hình ảnh 2"/>
          <p:cNvSpPr>
            <a:spLocks noGrp="1" noChangeAspect="1"/>
          </p:cNvSpPr>
          <p:nvPr>
            <p:ph type="pic" idx="1"/>
          </p:nvPr>
        </p:nvSpPr>
        <p:spPr>
          <a:xfrm>
            <a:off x="447817" y="641350"/>
            <a:ext cx="11290859" cy="3651249"/>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n-GB"/>
              <a:t>Click icon to add picture</a:t>
            </a:r>
            <a:endParaRPr lang="en-US" dirty="0"/>
          </a:p>
        </p:txBody>
      </p:sp>
      <p:sp>
        <p:nvSpPr>
          <p:cNvPr id="4" name="Chỗ dành sẵn cho văn bản 3"/>
          <p:cNvSpPr>
            <a:spLocks noGrp="1"/>
          </p:cNvSpPr>
          <p:nvPr>
            <p:ph type="body" sz="half" idx="2"/>
          </p:nvPr>
        </p:nvSpPr>
        <p:spPr>
          <a:xfrm>
            <a:off x="581192" y="5260127"/>
            <a:ext cx="11029617" cy="998148"/>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a:t>Click to edit Master text styles</a:t>
            </a:r>
          </a:p>
        </p:txBody>
      </p:sp>
      <p:sp>
        <p:nvSpPr>
          <p:cNvPr id="5" name="Chỗ dành sẵn cho Ngày tháng 4"/>
          <p:cNvSpPr>
            <a:spLocks noGrp="1"/>
          </p:cNvSpPr>
          <p:nvPr>
            <p:ph type="dt" sz="half" idx="10"/>
          </p:nvPr>
        </p:nvSpPr>
        <p:spPr/>
        <p:txBody>
          <a:bodyPr rtlCol="0"/>
          <a:lstStyle/>
          <a:p>
            <a:pPr rtl="0"/>
            <a:fld id="{8079BCD0-07DA-45ED-AD7C-0F1543ECECCD}" type="datetime1">
              <a:rPr lang="vi-VN" smtClean="0"/>
              <a:t>11/01/2026</a:t>
            </a:fld>
            <a:endParaRPr lang="en-US" dirty="0"/>
          </a:p>
        </p:txBody>
      </p:sp>
      <p:sp>
        <p:nvSpPr>
          <p:cNvPr id="6" name="Chỗ dành sẵn cho Chân trang 5"/>
          <p:cNvSpPr>
            <a:spLocks noGrp="1"/>
          </p:cNvSpPr>
          <p:nvPr>
            <p:ph type="ftr" sz="quarter" idx="11"/>
          </p:nvPr>
        </p:nvSpPr>
        <p:spPr/>
        <p:txBody>
          <a:bodyPr rtlCol="0"/>
          <a:lstStyle/>
          <a:p>
            <a:pPr algn="l" rtl="0"/>
            <a:endParaRPr lang="en-US" dirty="0"/>
          </a:p>
        </p:txBody>
      </p:sp>
      <p:sp>
        <p:nvSpPr>
          <p:cNvPr id="7" name="Chỗ dành sẵn cho Số hiệu Bản chiếu 6"/>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9" name="Tiêu đề 1"/>
          <p:cNvSpPr>
            <a:spLocks noGrp="1"/>
          </p:cNvSpPr>
          <p:nvPr>
            <p:ph type="title"/>
          </p:nvPr>
        </p:nvSpPr>
        <p:spPr>
          <a:xfrm>
            <a:off x="581192" y="702156"/>
            <a:ext cx="11029616" cy="1013800"/>
          </a:xfrm>
        </p:spPr>
        <p:txBody>
          <a:bodyPr rtlCol="0"/>
          <a:lstStyle/>
          <a:p>
            <a:pPr rtl="0"/>
            <a:r>
              <a:rPr lang="en-GB"/>
              <a:t>Click to edit Master title style</a:t>
            </a:r>
            <a:endParaRPr lang="en-US" dirty="0"/>
          </a:p>
        </p:txBody>
      </p:sp>
      <p:sp>
        <p:nvSpPr>
          <p:cNvPr id="3" name="Chỗ dành sẵn cho Văn bản Dọc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US" dirty="0"/>
          </a:p>
        </p:txBody>
      </p:sp>
      <p:sp>
        <p:nvSpPr>
          <p:cNvPr id="4" name="Chỗ dành sẵn cho Ngày tháng 3"/>
          <p:cNvSpPr>
            <a:spLocks noGrp="1"/>
          </p:cNvSpPr>
          <p:nvPr>
            <p:ph type="dt" sz="half" idx="10"/>
          </p:nvPr>
        </p:nvSpPr>
        <p:spPr/>
        <p:txBody>
          <a:bodyPr rtlCol="0"/>
          <a:lstStyle/>
          <a:p>
            <a:pPr rtl="0"/>
            <a:fld id="{281D78C8-3010-4B51-899B-7F3819407D01}" type="datetime1">
              <a:rPr lang="vi-VN" smtClean="0"/>
              <a:t>11/01/2026</a:t>
            </a:fld>
            <a:endParaRPr lang="en-US" dirty="0"/>
          </a:p>
        </p:txBody>
      </p:sp>
      <p:sp>
        <p:nvSpPr>
          <p:cNvPr id="5" name="Chỗ dành sẵn cho Chân trang 4"/>
          <p:cNvSpPr>
            <a:spLocks noGrp="1"/>
          </p:cNvSpPr>
          <p:nvPr>
            <p:ph type="ftr" sz="quarter" idx="11"/>
          </p:nvPr>
        </p:nvSpPr>
        <p:spPr/>
        <p:txBody>
          <a:bodyPr rtlCol="0"/>
          <a:lstStyle/>
          <a:p>
            <a:pPr rtl="0"/>
            <a:endParaRPr lang="en-US" dirty="0"/>
          </a:p>
        </p:txBody>
      </p:sp>
      <p:sp>
        <p:nvSpPr>
          <p:cNvPr id="6" name="Chỗ dành sẵn cho số trang chiếu 5"/>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êu đề Dọc và Văn bản">
    <p:spTree>
      <p:nvGrpSpPr>
        <p:cNvPr id="1" name=""/>
        <p:cNvGrpSpPr/>
        <p:nvPr/>
      </p:nvGrpSpPr>
      <p:grpSpPr>
        <a:xfrm>
          <a:off x="0" y="0"/>
          <a:ext cx="0" cy="0"/>
          <a:chOff x="0" y="0"/>
          <a:chExt cx="0" cy="0"/>
        </a:xfrm>
      </p:grpSpPr>
      <p:sp>
        <p:nvSpPr>
          <p:cNvPr id="7" name="Hình chữ nhật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êu đề Dọc 1"/>
          <p:cNvSpPr>
            <a:spLocks noGrp="1"/>
          </p:cNvSpPr>
          <p:nvPr>
            <p:ph type="title" orient="vert"/>
          </p:nvPr>
        </p:nvSpPr>
        <p:spPr>
          <a:xfrm>
            <a:off x="8204200" y="863600"/>
            <a:ext cx="3124200" cy="4807326"/>
          </a:xfrm>
        </p:spPr>
        <p:txBody>
          <a:bodyPr vert="eaVert" rtlCol="0" anchor="ctr"/>
          <a:lstStyle>
            <a:lvl1pPr>
              <a:defRPr>
                <a:solidFill>
                  <a:srgbClr val="FFFFFF"/>
                </a:solidFill>
              </a:defRPr>
            </a:lvl1pPr>
          </a:lstStyle>
          <a:p>
            <a:pPr rtl="0"/>
            <a:r>
              <a:rPr lang="en-GB"/>
              <a:t>Click to edit Master title style</a:t>
            </a:r>
            <a:endParaRPr lang="en-US" dirty="0"/>
          </a:p>
        </p:txBody>
      </p:sp>
      <p:sp>
        <p:nvSpPr>
          <p:cNvPr id="3" name="Chỗ dành sẵn cho Văn bản Dọc 2"/>
          <p:cNvSpPr>
            <a:spLocks noGrp="1"/>
          </p:cNvSpPr>
          <p:nvPr>
            <p:ph type="body" orient="vert" idx="1"/>
          </p:nvPr>
        </p:nvSpPr>
        <p:spPr>
          <a:xfrm>
            <a:off x="774923" y="863600"/>
            <a:ext cx="7161625" cy="4807326"/>
          </a:xfrm>
        </p:spPr>
        <p:txBody>
          <a:bodyPr vert="eaVert" rtlCol="0" anchor="t"/>
          <a:lstStyle/>
          <a:p>
            <a:pPr lvl="0" rtl="0"/>
            <a:r>
              <a:rPr lang="en-GB"/>
              <a:t>Click to edit Master text styles</a:t>
            </a:r>
          </a:p>
          <a:p>
            <a:pPr lvl="1" rtl="0"/>
            <a:r>
              <a:rPr lang="en-GB"/>
              <a:t>Second level</a:t>
            </a:r>
          </a:p>
          <a:p>
            <a:pPr lvl="2" rtl="0"/>
            <a:r>
              <a:rPr lang="en-GB"/>
              <a:t>Third level</a:t>
            </a:r>
          </a:p>
          <a:p>
            <a:pPr lvl="3" rtl="0"/>
            <a:r>
              <a:rPr lang="en-GB"/>
              <a:t>Fourth level</a:t>
            </a:r>
          </a:p>
          <a:p>
            <a:pPr lvl="4" rtl="0"/>
            <a:r>
              <a:rPr lang="en-GB"/>
              <a:t>Fifth level</a:t>
            </a:r>
            <a:endParaRPr lang="en-US" dirty="0"/>
          </a:p>
        </p:txBody>
      </p:sp>
      <p:sp>
        <p:nvSpPr>
          <p:cNvPr id="8" name="Hình chữ nhật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Hình chữ nhật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Hình chữ nhật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Chỗ dành sẵn cho Ngày tháng 10">
            <a:extLst>
              <a:ext uri="{FF2B5EF4-FFF2-40B4-BE49-F238E27FC236}">
                <a16:creationId xmlns:a16="http://schemas.microsoft.com/office/drawing/2014/main" id="{5C74A470-3BD3-4F33-80E5-67E6E87FCBE7}"/>
              </a:ext>
            </a:extLst>
          </p:cNvPr>
          <p:cNvSpPr>
            <a:spLocks noGrp="1"/>
          </p:cNvSpPr>
          <p:nvPr>
            <p:ph type="dt" sz="half" idx="10"/>
          </p:nvPr>
        </p:nvSpPr>
        <p:spPr/>
        <p:txBody>
          <a:bodyPr rtlCol="0"/>
          <a:lstStyle/>
          <a:p>
            <a:pPr rtl="0"/>
            <a:fld id="{474BB169-361A-4A01-B5DF-AD2905CF5E2C}" type="datetime1">
              <a:rPr lang="vi-VN" smtClean="0"/>
              <a:t>11/01/2026</a:t>
            </a:fld>
            <a:endParaRPr lang="en-US" dirty="0"/>
          </a:p>
        </p:txBody>
      </p:sp>
      <p:sp>
        <p:nvSpPr>
          <p:cNvPr id="12" name="Chỗ dành sẵn cho Chân trang 11">
            <a:extLst>
              <a:ext uri="{FF2B5EF4-FFF2-40B4-BE49-F238E27FC236}">
                <a16:creationId xmlns:a16="http://schemas.microsoft.com/office/drawing/2014/main" id="{9A3A30BA-DB50-4D7D-BCDE-17D20FB354DF}"/>
              </a:ext>
            </a:extLst>
          </p:cNvPr>
          <p:cNvSpPr>
            <a:spLocks noGrp="1"/>
          </p:cNvSpPr>
          <p:nvPr>
            <p:ph type="ftr" sz="quarter" idx="11"/>
          </p:nvPr>
        </p:nvSpPr>
        <p:spPr/>
        <p:txBody>
          <a:bodyPr rtlCol="0"/>
          <a:lstStyle/>
          <a:p>
            <a:pPr rtl="0"/>
            <a:endParaRPr lang="en-US" dirty="0"/>
          </a:p>
        </p:txBody>
      </p:sp>
      <p:sp>
        <p:nvSpPr>
          <p:cNvPr id="13" name="Chỗ dành sẵn cho Số hiệu Bản chiếu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rtlCol="0"/>
          <a:lstStyle/>
          <a:p>
            <a:pPr rtl="0"/>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vi" dirty="0"/>
              <a:t>Bấm để chỉnh sửa kiểu tiêu đề Bản cái</a:t>
            </a:r>
            <a:endParaRPr lang="en-US" dirty="0"/>
          </a:p>
        </p:txBody>
      </p:sp>
      <p:sp>
        <p:nvSpPr>
          <p:cNvPr id="3" name="Chỗ dành sẵn cho Văn bản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rtl="0"/>
            <a:r>
              <a:rPr lang="vi" dirty="0"/>
              <a:t>Bấm để chỉnh sửa kiểu văn bản Bản cái</a:t>
            </a:r>
          </a:p>
          <a:p>
            <a:pPr lvl="1" rtl="0"/>
            <a:r>
              <a:rPr lang="vi" dirty="0"/>
              <a:t>Mức hai</a:t>
            </a:r>
          </a:p>
          <a:p>
            <a:pPr lvl="2" rtl="0"/>
            <a:r>
              <a:rPr lang="vi" dirty="0"/>
              <a:t>Mức ba</a:t>
            </a:r>
          </a:p>
          <a:p>
            <a:pPr lvl="3" rtl="0"/>
            <a:r>
              <a:rPr lang="vi" dirty="0"/>
              <a:t>Mức bốn</a:t>
            </a:r>
          </a:p>
          <a:p>
            <a:pPr lvl="4" rtl="0"/>
            <a:r>
              <a:rPr lang="vi" dirty="0"/>
              <a:t>Mức năm</a:t>
            </a:r>
            <a:endParaRPr lang="en-US" dirty="0"/>
          </a:p>
        </p:txBody>
      </p:sp>
      <p:sp>
        <p:nvSpPr>
          <p:cNvPr id="4" name="Chỗ dành sẵn cho Ngày tháng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latin typeface="Segoe UI" panose="020B0502040204020203" pitchFamily="34" charset="0"/>
                <a:cs typeface="Segoe UI" panose="020B0502040204020203" pitchFamily="34" charset="0"/>
              </a:defRPr>
            </a:lvl1pPr>
          </a:lstStyle>
          <a:p>
            <a:fld id="{BBF60F59-9916-4E36-9AA9-CA4290C9D226}" type="datetime1">
              <a:rPr lang="vi-VN" smtClean="0"/>
              <a:t>11/01/2026</a:t>
            </a:fld>
            <a:endParaRPr lang="en-US" dirty="0"/>
          </a:p>
        </p:txBody>
      </p:sp>
      <p:sp>
        <p:nvSpPr>
          <p:cNvPr id="5" name="Chỗ dành sẵn cho chân trang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latin typeface="Segoe UI" panose="020B0502040204020203" pitchFamily="34" charset="0"/>
                <a:cs typeface="Segoe UI" panose="020B0502040204020203" pitchFamily="34" charset="0"/>
              </a:defRPr>
            </a:lvl1pPr>
          </a:lstStyle>
          <a:p>
            <a:endParaRPr lang="en-US" dirty="0"/>
          </a:p>
        </p:txBody>
      </p:sp>
      <p:sp>
        <p:nvSpPr>
          <p:cNvPr id="6" name="Chỗ dành sẵn cho Số hiệu Bản chiếu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latin typeface="Segoe UI" panose="020B0502040204020203" pitchFamily="34" charset="0"/>
                <a:cs typeface="Segoe UI" panose="020B0502040204020203" pitchFamily="34" charset="0"/>
              </a:defRPr>
            </a:lvl1pPr>
          </a:lstStyle>
          <a:p>
            <a:fld id="{3A98EE3D-8CD1-4C3F-BD1C-C98C9596463C}" type="slidenum">
              <a:rPr lang="en-US" smtClean="0"/>
              <a:pPr/>
              <a:t>‹#›</a:t>
            </a:fld>
            <a:endParaRPr lang="en-US" dirty="0"/>
          </a:p>
        </p:txBody>
      </p:sp>
      <p:sp>
        <p:nvSpPr>
          <p:cNvPr id="9" name="Hình chữ nhật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vi-VN"/>
          </a:p>
        </p:txBody>
      </p:sp>
      <p:sp>
        <p:nvSpPr>
          <p:cNvPr id="10" name="Hình chữ nhật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vi-VN"/>
          </a:p>
        </p:txBody>
      </p:sp>
      <p:sp>
        <p:nvSpPr>
          <p:cNvPr id="11" name="Hình chữ nhật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vi-VN"/>
          </a:p>
        </p:txBody>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p:txStyles>
    <p:titleStyle>
      <a:lvl1pPr algn="l" defTabSz="457200" rtl="0" eaLnBrk="1" latinLnBrk="0" hangingPunct="1">
        <a:lnSpc>
          <a:spcPct val="100000"/>
        </a:lnSpc>
        <a:spcBef>
          <a:spcPct val="0"/>
        </a:spcBef>
        <a:buNone/>
        <a:defRPr sz="2800" b="1" kern="1200" cap="all">
          <a:solidFill>
            <a:schemeClr val="tx1">
              <a:lumMod val="75000"/>
              <a:lumOff val="25000"/>
            </a:schemeClr>
          </a:solidFill>
          <a:latin typeface="Segoe UI" panose="020B0502040204020203" pitchFamily="34" charset="0"/>
          <a:ea typeface="+mj-ea"/>
          <a:cs typeface="Segoe UI" panose="020B0502040204020203"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Segoe UI" panose="020B0502040204020203" pitchFamily="34" charset="0"/>
          <a:ea typeface="+mn-ea"/>
          <a:cs typeface="Segoe UI" panose="020B0502040204020203" pitchFamily="34" charset="0"/>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Segoe UI" panose="020B0502040204020203" pitchFamily="34" charset="0"/>
          <a:ea typeface="+mn-ea"/>
          <a:cs typeface="Segoe UI" panose="020B0502040204020203" pitchFamily="34" charset="0"/>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Segoe UI" panose="020B0502040204020203" pitchFamily="34" charset="0"/>
          <a:ea typeface="+mn-ea"/>
          <a:cs typeface="Segoe UI" panose="020B0502040204020203" pitchFamily="34" charset="0"/>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Segoe UI" panose="020B0502040204020203" pitchFamily="34" charset="0"/>
          <a:ea typeface="+mn-ea"/>
          <a:cs typeface="Segoe UI" panose="020B0502040204020203" pitchFamily="34" charset="0"/>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Segoe UI" panose="020B0502040204020203" pitchFamily="34" charset="0"/>
          <a:ea typeface="+mn-ea"/>
          <a:cs typeface="Segoe UI" panose="020B0502040204020203"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Hình chữ nhật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iêu đề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rtlCol="0">
            <a:normAutofit/>
          </a:bodyPr>
          <a:lstStyle/>
          <a:p>
            <a:pPr rtl="0"/>
            <a:r>
              <a:rPr lang="vi-VN" dirty="0"/>
              <a:t>A Trainable Clustering Algorithm based on Shortest Paths from Density Peaks</a:t>
            </a:r>
            <a:endParaRPr lang="vi" dirty="0"/>
          </a:p>
        </p:txBody>
      </p:sp>
      <p:sp>
        <p:nvSpPr>
          <p:cNvPr id="3" name="Tiêu đề phụ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rtlCol="0">
            <a:normAutofit/>
          </a:bodyPr>
          <a:lstStyle/>
          <a:p>
            <a:r>
              <a:rPr lang="vi-VN" dirty="0"/>
              <a:t>Thuật toán Phân cụm có thể Huấn luyện dựa trên Đường đi Ngắn nhất từ các Đỉnh Mật độ</a:t>
            </a:r>
            <a:endParaRPr lang="vi" dirty="0"/>
          </a:p>
        </p:txBody>
      </p:sp>
      <p:sp>
        <p:nvSpPr>
          <p:cNvPr id="20" name="Hình chữ nhật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vi-VN"/>
          </a:p>
        </p:txBody>
      </p:sp>
      <p:sp>
        <p:nvSpPr>
          <p:cNvPr id="22" name="Hình chữ nhật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vi-VN"/>
          </a:p>
        </p:txBody>
      </p:sp>
      <p:sp>
        <p:nvSpPr>
          <p:cNvPr id="24" name="Hình chữ nhật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vi-VN"/>
          </a:p>
        </p:txBody>
      </p:sp>
      <p:pic>
        <p:nvPicPr>
          <p:cNvPr id="6" name="Hình ảnh 5" descr="Cận cảnh logo&#10;&#10;Mô tả được tự động tạo">
            <a:extLst>
              <a:ext uri="{FF2B5EF4-FFF2-40B4-BE49-F238E27FC236}">
                <a16:creationId xmlns:a16="http://schemas.microsoft.com/office/drawing/2014/main" id="{F1A8C364-94D4-4630-BAD0-78722F347055}"/>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a:stretch/>
        </p:blipFill>
        <p:spPr>
          <a:xfrm>
            <a:off x="448733" y="3081867"/>
            <a:ext cx="11260667" cy="2385483"/>
          </a:xfrm>
          <a:prstGeom prst="rect">
            <a:avLst/>
          </a:prstGeom>
        </p:spPr>
      </p:pic>
      <p:sp>
        <p:nvSpPr>
          <p:cNvPr id="4" name="TextBox 3">
            <a:extLst>
              <a:ext uri="{FF2B5EF4-FFF2-40B4-BE49-F238E27FC236}">
                <a16:creationId xmlns:a16="http://schemas.microsoft.com/office/drawing/2014/main" id="{1C3D6C2D-C581-EDF0-383E-D2AFCBCB7389}"/>
              </a:ext>
            </a:extLst>
          </p:cNvPr>
          <p:cNvSpPr txBox="1"/>
          <p:nvPr/>
        </p:nvSpPr>
        <p:spPr>
          <a:xfrm>
            <a:off x="446534" y="5791200"/>
            <a:ext cx="11260667" cy="369332"/>
          </a:xfrm>
          <a:prstGeom prst="rect">
            <a:avLst/>
          </a:prstGeom>
          <a:noFill/>
        </p:spPr>
        <p:txBody>
          <a:bodyPr wrap="square" rtlCol="0">
            <a:spAutoFit/>
          </a:bodyPr>
          <a:lstStyle/>
          <a:p>
            <a:r>
              <a:rPr lang="vi-VN" b="1" dirty="0">
                <a:latin typeface="+mj-lt"/>
              </a:rPr>
              <a:t>Trần Bảo Phi </a:t>
            </a:r>
            <a:r>
              <a:rPr lang="vi-VN" b="1">
                <a:latin typeface="+mj-lt"/>
              </a:rPr>
              <a:t>– 65132683</a:t>
            </a:r>
            <a:endParaRPr lang="vi-VN" b="1" dirty="0">
              <a:latin typeface="+mj-lt"/>
            </a:endParaRPr>
          </a:p>
        </p:txBody>
      </p: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07AC141-8DCF-ACC2-5549-F018FB5BF60E}"/>
              </a:ext>
            </a:extLst>
          </p:cNvPr>
          <p:cNvSpPr>
            <a:spLocks noGrp="1"/>
          </p:cNvSpPr>
          <p:nvPr>
            <p:ph type="title"/>
          </p:nvPr>
        </p:nvSpPr>
        <p:spPr/>
        <p:txBody>
          <a:bodyPr/>
          <a:lstStyle/>
          <a:p>
            <a:r>
              <a:rPr lang="vi-VN" dirty="0"/>
              <a:t>1. giới thiệu</a:t>
            </a:r>
          </a:p>
        </p:txBody>
      </p:sp>
      <p:sp>
        <p:nvSpPr>
          <p:cNvPr id="6" name="Content Placeholder 5">
            <a:extLst>
              <a:ext uri="{FF2B5EF4-FFF2-40B4-BE49-F238E27FC236}">
                <a16:creationId xmlns:a16="http://schemas.microsoft.com/office/drawing/2014/main" id="{BA904D38-A4C6-3C7F-3244-BAEC4AA2ADCB}"/>
              </a:ext>
            </a:extLst>
          </p:cNvPr>
          <p:cNvSpPr>
            <a:spLocks noGrp="1"/>
          </p:cNvSpPr>
          <p:nvPr>
            <p:ph idx="1"/>
          </p:nvPr>
        </p:nvSpPr>
        <p:spPr>
          <a:xfrm>
            <a:off x="581192" y="2340864"/>
            <a:ext cx="11029615" cy="4517136"/>
          </a:xfrm>
        </p:spPr>
        <p:txBody>
          <a:bodyPr anchor="t">
            <a:normAutofit/>
          </a:bodyPr>
          <a:lstStyle/>
          <a:p>
            <a:r>
              <a:rPr lang="vi-VN" sz="1600" dirty="0"/>
              <a:t>Phân cụm là gì ?</a:t>
            </a:r>
          </a:p>
          <a:p>
            <a:pPr lvl="1">
              <a:buFont typeface="Wingdings" panose="05000000000000000000" pitchFamily="2" charset="2"/>
              <a:buChar char="à"/>
            </a:pPr>
            <a:r>
              <a:rPr lang="vi-VN" sz="1600" dirty="0">
                <a:sym typeface="Wingdings" panose="05000000000000000000" pitchFamily="2" charset="2"/>
              </a:rPr>
              <a:t>Phân cụm (</a:t>
            </a:r>
            <a:r>
              <a:rPr lang="vi-VN" sz="1600" b="1" dirty="0" err="1">
                <a:sym typeface="Wingdings" panose="05000000000000000000" pitchFamily="2" charset="2"/>
              </a:rPr>
              <a:t>Clustering</a:t>
            </a:r>
            <a:r>
              <a:rPr lang="vi-VN" sz="1600" dirty="0">
                <a:sym typeface="Wingdings" panose="05000000000000000000" pitchFamily="2" charset="2"/>
              </a:rPr>
              <a:t>) là kỹ thuật quan trọng để nhóm đối tượng giống nhau vào cùng một nhóm, ứng dụng nhiều trong y sinh và xử lý ảnh.</a:t>
            </a:r>
          </a:p>
          <a:p>
            <a:r>
              <a:rPr lang="vi-VN" sz="1600" dirty="0"/>
              <a:t>Các thuật toán phân cụm phổ biến hiện nay: K-</a:t>
            </a:r>
            <a:r>
              <a:rPr lang="vi-VN" sz="1600" dirty="0" err="1"/>
              <a:t>Means</a:t>
            </a:r>
            <a:r>
              <a:rPr lang="vi-VN" sz="1600" dirty="0"/>
              <a:t>, DBSCAN, </a:t>
            </a:r>
            <a:r>
              <a:rPr lang="en-US" sz="1600" dirty="0"/>
              <a:t>Clustering by Density Peaks (CDP)</a:t>
            </a:r>
            <a:r>
              <a:rPr lang="vi-VN" sz="1600" dirty="0"/>
              <a:t>.</a:t>
            </a:r>
          </a:p>
          <a:p>
            <a:r>
              <a:rPr lang="vi-VN" sz="1600" dirty="0"/>
              <a:t>Hạn chế:</a:t>
            </a:r>
          </a:p>
          <a:p>
            <a:pPr lvl="1">
              <a:buFont typeface="Arial" panose="020B0604020202020204" pitchFamily="34" charset="0"/>
              <a:buChar char="•"/>
            </a:pPr>
            <a:r>
              <a:rPr lang="vi-VN" sz="1600" dirty="0"/>
              <a:t>K-</a:t>
            </a:r>
            <a:r>
              <a:rPr lang="vi-VN" sz="1600" dirty="0" err="1"/>
              <a:t>Means</a:t>
            </a:r>
            <a:r>
              <a:rPr lang="vi-VN" sz="1600" dirty="0"/>
              <a:t>: Dựa vào khoảng cách </a:t>
            </a:r>
            <a:r>
              <a:rPr lang="vi-VN" sz="1600" dirty="0" err="1"/>
              <a:t>Euclidean</a:t>
            </a:r>
            <a:r>
              <a:rPr lang="vi-VN" sz="1600" dirty="0"/>
              <a:t>, chỉ tốt với các cụm hình cầu, thất bại với hình dạng lồng nhau.</a:t>
            </a:r>
          </a:p>
          <a:p>
            <a:pPr lvl="1">
              <a:buFont typeface="Arial" panose="020B0604020202020204" pitchFamily="34" charset="0"/>
              <a:buChar char="•"/>
            </a:pPr>
            <a:r>
              <a:rPr lang="vi-VN" sz="1600" dirty="0"/>
              <a:t>DBSCAN: Dựa vào mật độ, nhưng khó khăn khi các cụm có mật độ khác nhau nằm gần nhau (khó chọn tham số ngưỡng).</a:t>
            </a:r>
          </a:p>
          <a:p>
            <a:pPr lvl="1">
              <a:buFont typeface="Arial" panose="020B0604020202020204" pitchFamily="34" charset="0"/>
              <a:buChar char="•"/>
            </a:pPr>
            <a:r>
              <a:rPr lang="vi-VN" sz="1600" dirty="0" err="1"/>
              <a:t>Clustering</a:t>
            </a:r>
            <a:r>
              <a:rPr lang="vi-VN" sz="1600" dirty="0"/>
              <a:t> </a:t>
            </a:r>
            <a:r>
              <a:rPr lang="vi-VN" sz="1600" dirty="0" err="1"/>
              <a:t>by</a:t>
            </a:r>
            <a:r>
              <a:rPr lang="vi-VN" sz="1600" dirty="0"/>
              <a:t> </a:t>
            </a:r>
            <a:r>
              <a:rPr lang="vi-VN" sz="1600" dirty="0" err="1"/>
              <a:t>Density</a:t>
            </a:r>
            <a:r>
              <a:rPr lang="vi-VN" sz="1600" dirty="0"/>
              <a:t> </a:t>
            </a:r>
            <a:r>
              <a:rPr lang="vi-VN" sz="1600" dirty="0" err="1"/>
              <a:t>Peaks</a:t>
            </a:r>
            <a:r>
              <a:rPr lang="vi-VN" sz="1600" dirty="0"/>
              <a:t> (CDP): Một điểm có thể bị gán sai vào cụm khác chỉ vì điểm hàng xóm có mật độ cao hơn thuộc cụm đó, dẫn đến việc cắt cụm thiếu tự nhiên "</a:t>
            </a:r>
            <a:r>
              <a:rPr lang="vi-VN" sz="1600" dirty="0" err="1"/>
              <a:t>unrealistic</a:t>
            </a:r>
            <a:r>
              <a:rPr lang="vi-VN" sz="1600" dirty="0"/>
              <a:t> </a:t>
            </a:r>
            <a:r>
              <a:rPr lang="vi-VN" sz="1600" dirty="0" err="1"/>
              <a:t>cut</a:t>
            </a:r>
            <a:r>
              <a:rPr lang="vi-VN" sz="1600" dirty="0"/>
              <a:t>".</a:t>
            </a:r>
          </a:p>
          <a:p>
            <a:pPr lvl="1"/>
            <a:endParaRPr lang="vi-VN" dirty="0"/>
          </a:p>
          <a:p>
            <a:pPr marL="324000" lvl="1" indent="0">
              <a:buNone/>
            </a:pPr>
            <a:endParaRPr lang="vi-VN" dirty="0">
              <a:sym typeface="Wingdings" panose="05000000000000000000" pitchFamily="2" charset="2"/>
            </a:endParaRPr>
          </a:p>
        </p:txBody>
      </p:sp>
    </p:spTree>
    <p:extLst>
      <p:ext uri="{BB962C8B-B14F-4D97-AF65-F5344CB8AC3E}">
        <p14:creationId xmlns:p14="http://schemas.microsoft.com/office/powerpoint/2010/main" val="3144366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74276-FB9A-CA74-A081-0AE81F06E1A3}"/>
              </a:ext>
            </a:extLst>
          </p:cNvPr>
          <p:cNvSpPr>
            <a:spLocks noGrp="1"/>
          </p:cNvSpPr>
          <p:nvPr>
            <p:ph type="title"/>
          </p:nvPr>
        </p:nvSpPr>
        <p:spPr/>
        <p:txBody>
          <a:bodyPr/>
          <a:lstStyle/>
          <a:p>
            <a:r>
              <a:rPr lang="vi-VN" dirty="0"/>
              <a:t>1. giới thiệu</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D6E75A-7F29-97DD-6FF1-DF9493601610}"/>
                  </a:ext>
                </a:extLst>
              </p:cNvPr>
              <p:cNvSpPr>
                <a:spLocks noGrp="1"/>
              </p:cNvSpPr>
              <p:nvPr>
                <p:ph idx="1"/>
              </p:nvPr>
            </p:nvSpPr>
            <p:spPr/>
            <p:txBody>
              <a:bodyPr anchor="t">
                <a:normAutofit/>
              </a:bodyPr>
              <a:lstStyle/>
              <a:p>
                <a:r>
                  <a:rPr lang="vi-VN" sz="1600" dirty="0"/>
                  <a:t>Bài báo giới thiệu một phương pháp mới thay thế quy tắc liên kết cục bộ (</a:t>
                </a:r>
                <a:r>
                  <a:rPr lang="vi-VN" sz="1600" dirty="0" err="1"/>
                  <a:t>local</a:t>
                </a:r>
                <a:r>
                  <a:rPr lang="vi-VN" sz="1600" dirty="0"/>
                  <a:t> </a:t>
                </a:r>
                <a:r>
                  <a:rPr lang="vi-VN" sz="1600" dirty="0" err="1"/>
                  <a:t>rule</a:t>
                </a:r>
                <a:r>
                  <a:rPr lang="vi-VN" sz="1600" dirty="0"/>
                  <a:t>) bằng bài toán tối ưu hóa toàn cục (</a:t>
                </a:r>
                <a:r>
                  <a:rPr lang="vi-VN" sz="1600" dirty="0" err="1"/>
                  <a:t>global</a:t>
                </a:r>
                <a:r>
                  <a:rPr lang="vi-VN" sz="1600" dirty="0"/>
                  <a:t> </a:t>
                </a:r>
                <a:r>
                  <a:rPr lang="vi-VN" sz="1600" dirty="0" err="1"/>
                  <a:t>optimization</a:t>
                </a:r>
                <a:r>
                  <a:rPr lang="vi-VN" sz="1600" dirty="0"/>
                  <a:t>) trên đồ thị, được cải tiến dựa trên thuật toán cũ </a:t>
                </a:r>
                <a:r>
                  <a:rPr lang="en-US" sz="1600" dirty="0"/>
                  <a:t>Clustering by Density Peaks (CDP).</a:t>
                </a:r>
              </a:p>
              <a:p>
                <a:r>
                  <a:rPr lang="vi-VN" sz="1600" dirty="0"/>
                  <a:t>Ý tưởng cốt lõi của bài toán tối ưu hóa toàn cục: Thay vì gán điểm x cho điểm gần nhất có mật độ cao hơn, ta xem việc phân cụm là tìm đường đi tối ưu từ một "đỉnh mật độ" (</a:t>
                </a:r>
                <a:r>
                  <a:rPr lang="vi-VN" sz="1600" dirty="0" err="1"/>
                  <a:t>cluster</a:t>
                </a:r>
                <a:r>
                  <a:rPr lang="vi-VN" sz="1600" dirty="0"/>
                  <a:t> </a:t>
                </a:r>
                <a:r>
                  <a:rPr lang="vi-VN" sz="1600" dirty="0" err="1"/>
                  <a:t>center</a:t>
                </a:r>
                <a:r>
                  <a:rPr lang="vi-VN" sz="1600" dirty="0"/>
                  <a:t>) đến điểm x trên một đồ thị.</a:t>
                </a:r>
              </a:p>
              <a:p>
                <a:pPr lvl="1">
                  <a:buFont typeface="Arial" panose="020B0604020202020204" pitchFamily="34" charset="0"/>
                  <a:buChar char="•"/>
                </a:pPr>
                <a:r>
                  <a:rPr lang="vi-VN" sz="1600" dirty="0"/>
                  <a:t>Mô hình hóa: Tập dữ liệu được xem là một đồ thị có trọng số G(V, E, </a:t>
                </a:r>
                <a14:m>
                  <m:oMath xmlns:m="http://schemas.openxmlformats.org/officeDocument/2006/math">
                    <m:r>
                      <a:rPr lang="vi-VN" sz="1600" i="1">
                        <a:latin typeface="Cambria Math" panose="02040503050406030204" pitchFamily="18" charset="0"/>
                        <a:ea typeface="Cambria Math" panose="02040503050406030204" pitchFamily="18" charset="0"/>
                      </a:rPr>
                      <m:t>𝜔</m:t>
                    </m:r>
                  </m:oMath>
                </a14:m>
                <a:r>
                  <a:rPr lang="vi-VN" sz="1600" dirty="0"/>
                  <a:t>).</a:t>
                </a:r>
              </a:p>
              <a:p>
                <a:pPr lvl="1">
                  <a:buFont typeface="Arial" panose="020B0604020202020204" pitchFamily="34" charset="0"/>
                  <a:buChar char="•"/>
                </a:pPr>
                <a:r>
                  <a:rPr lang="vi-VN" sz="1600" dirty="0"/>
                  <a:t>Bài toán trở thành: Tìm đường đi ngắn nhất từ nguồn đơn (</a:t>
                </a:r>
                <a:r>
                  <a:rPr lang="vi-VN" sz="1600" dirty="0" err="1"/>
                  <a:t>Single-Source</a:t>
                </a:r>
                <a:r>
                  <a:rPr lang="vi-VN" sz="1600" dirty="0"/>
                  <a:t> </a:t>
                </a:r>
                <a:r>
                  <a:rPr lang="vi-VN" sz="1600" dirty="0" err="1"/>
                  <a:t>Shortest</a:t>
                </a:r>
                <a:r>
                  <a:rPr lang="vi-VN" sz="1600" dirty="0"/>
                  <a:t> </a:t>
                </a:r>
                <a:r>
                  <a:rPr lang="vi-VN" sz="1600" dirty="0" err="1"/>
                  <a:t>Path</a:t>
                </a:r>
                <a:r>
                  <a:rPr lang="vi-VN" sz="1600" dirty="0"/>
                  <a:t> - SSSP).</a:t>
                </a:r>
                <a:endParaRPr lang="en-US" sz="1600" dirty="0"/>
              </a:p>
            </p:txBody>
          </p:sp>
        </mc:Choice>
        <mc:Fallback xmlns="">
          <p:sp>
            <p:nvSpPr>
              <p:cNvPr id="3" name="Content Placeholder 2">
                <a:extLst>
                  <a:ext uri="{FF2B5EF4-FFF2-40B4-BE49-F238E27FC236}">
                    <a16:creationId xmlns:a16="http://schemas.microsoft.com/office/drawing/2014/main" id="{71D6E75A-7F29-97DD-6FF1-DF9493601610}"/>
                  </a:ext>
                </a:extLst>
              </p:cNvPr>
              <p:cNvSpPr>
                <a:spLocks noGrp="1" noRot="1" noChangeAspect="1" noMove="1" noResize="1" noEditPoints="1" noAdjustHandles="1" noChangeArrowheads="1" noChangeShapeType="1" noTextEdit="1"/>
              </p:cNvSpPr>
              <p:nvPr>
                <p:ph idx="1"/>
              </p:nvPr>
            </p:nvSpPr>
            <p:spPr>
              <a:blipFill>
                <a:blip r:embed="rId2"/>
                <a:stretch>
                  <a:fillRect l="-110" t="-503"/>
                </a:stretch>
              </a:blipFill>
            </p:spPr>
            <p:txBody>
              <a:bodyPr/>
              <a:lstStyle/>
              <a:p>
                <a:r>
                  <a:rPr lang="vi-VN">
                    <a:noFill/>
                  </a:rPr>
                  <a:t> </a:t>
                </a:r>
              </a:p>
            </p:txBody>
          </p:sp>
        </mc:Fallback>
      </mc:AlternateContent>
    </p:spTree>
    <p:extLst>
      <p:ext uri="{BB962C8B-B14F-4D97-AF65-F5344CB8AC3E}">
        <p14:creationId xmlns:p14="http://schemas.microsoft.com/office/powerpoint/2010/main" val="778997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F6C85-2129-C1ED-6023-94D01E516D4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43F6FB1-BBDA-F256-37A1-B3A7AB562EAB}"/>
              </a:ext>
            </a:extLst>
          </p:cNvPr>
          <p:cNvSpPr>
            <a:spLocks noGrp="1"/>
          </p:cNvSpPr>
          <p:nvPr>
            <p:ph type="title"/>
          </p:nvPr>
        </p:nvSpPr>
        <p:spPr/>
        <p:txBody>
          <a:bodyPr/>
          <a:lstStyle/>
          <a:p>
            <a:r>
              <a:rPr lang="vi-VN" dirty="0"/>
              <a:t>2. Thuật toán</a:t>
            </a: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6939E2B-640A-AB45-54D9-48926C73BD2A}"/>
                  </a:ext>
                </a:extLst>
              </p:cNvPr>
              <p:cNvSpPr>
                <a:spLocks noGrp="1"/>
              </p:cNvSpPr>
              <p:nvPr>
                <p:ph idx="1"/>
              </p:nvPr>
            </p:nvSpPr>
            <p:spPr>
              <a:xfrm>
                <a:off x="581193" y="2340864"/>
                <a:ext cx="6077818" cy="3418824"/>
              </a:xfrm>
            </p:spPr>
            <p:txBody>
              <a:bodyPr anchor="t">
                <a:normAutofit/>
              </a:bodyPr>
              <a:lstStyle/>
              <a:p>
                <a:pPr marL="0" indent="0">
                  <a:buNone/>
                </a:pPr>
                <a:r>
                  <a:rPr lang="vi-VN" sz="1800" b="1" dirty="0"/>
                  <a:t>Bước 1: Mô hình hóa dữ liệu.</a:t>
                </a:r>
              </a:p>
              <a:p>
                <a:pPr marL="0" indent="0">
                  <a:buNone/>
                </a:pPr>
                <a:r>
                  <a:rPr lang="vi-VN" sz="1600" dirty="0"/>
                  <a:t>Xem mỗi điểm dữ liệu là một đỉnh trên đồ thị:</a:t>
                </a:r>
              </a:p>
              <a:p>
                <a:pPr marL="0" indent="0">
                  <a:buNone/>
                </a:pPr>
                <a:r>
                  <a:rPr lang="vi-VN" sz="1600" dirty="0">
                    <a:sym typeface="Wingdings" panose="05000000000000000000" pitchFamily="2" charset="2"/>
                  </a:rPr>
                  <a:t> </a:t>
                </a:r>
                <a:r>
                  <a:rPr lang="vi-VN" sz="1600" dirty="0"/>
                  <a:t>Mô hình đồ thị G(V, E, </a:t>
                </a:r>
                <a14:m>
                  <m:oMath xmlns:m="http://schemas.openxmlformats.org/officeDocument/2006/math">
                    <m:r>
                      <a:rPr lang="vi-VN" sz="1600" i="1" smtClean="0">
                        <a:latin typeface="Cambria Math" panose="02040503050406030204" pitchFamily="18" charset="0"/>
                        <a:ea typeface="Cambria Math" panose="02040503050406030204" pitchFamily="18" charset="0"/>
                      </a:rPr>
                      <m:t>𝜔</m:t>
                    </m:r>
                  </m:oMath>
                </a14:m>
                <a:r>
                  <a:rPr lang="vi-VN" sz="1600" dirty="0"/>
                  <a:t>):</a:t>
                </a:r>
              </a:p>
              <a:p>
                <a:pPr>
                  <a:buFont typeface="Arial" panose="020B0604020202020204" pitchFamily="34" charset="0"/>
                  <a:buChar char="•"/>
                </a:pPr>
                <a:r>
                  <a:rPr lang="vi-VN" sz="1600" dirty="0"/>
                  <a:t>V : Là tập hợp các nút (đỉnh), đại diện cho các điểm dữ liệu.</a:t>
                </a:r>
              </a:p>
              <a:p>
                <a:pPr>
                  <a:buFont typeface="Arial" panose="020B0604020202020204" pitchFamily="34" charset="0"/>
                  <a:buChar char="•"/>
                </a:pPr>
                <a:r>
                  <a:rPr lang="vi-VN" sz="1600" dirty="0"/>
                  <a:t>E : Là tập hợp các cạnh nối giữa các nút này</a:t>
                </a:r>
                <a:endParaRPr lang="vi-VN" sz="1600" i="1" dirty="0">
                  <a:latin typeface="Cambria Math" panose="02040503050406030204" pitchFamily="18" charset="0"/>
                </a:endParaRPr>
              </a:p>
              <a:p>
                <a:pPr>
                  <a:buFont typeface="Arial" panose="020B0604020202020204" pitchFamily="34" charset="0"/>
                  <a:buChar char="•"/>
                </a:pPr>
                <a14:m>
                  <m:oMath xmlns:m="http://schemas.openxmlformats.org/officeDocument/2006/math">
                    <m:r>
                      <a:rPr lang="vi-VN" sz="1600" i="1">
                        <a:latin typeface="Cambria Math" panose="02040503050406030204" pitchFamily="18" charset="0"/>
                      </a:rPr>
                      <m:t>𝜔</m:t>
                    </m:r>
                    <m:r>
                      <a:rPr lang="vi-VN" sz="1600">
                        <a:latin typeface="Cambria Math" panose="02040503050406030204" pitchFamily="18" charset="0"/>
                      </a:rPr>
                      <m:t> </m:t>
                    </m:r>
                  </m:oMath>
                </a14:m>
                <a:r>
                  <a:rPr lang="vi-VN" sz="1600" dirty="0"/>
                  <a:t>: Là trọng số của cạnh, thường tương ứng với khoảng cách hoặc sự tương đồng giữa hai nút (khoảng cách </a:t>
                </a:r>
                <a:r>
                  <a:rPr lang="vi-VN" sz="1600" dirty="0" err="1"/>
                  <a:t>Euclidean</a:t>
                </a:r>
                <a:r>
                  <a:rPr lang="vi-VN" sz="1600" dirty="0"/>
                  <a:t> giữa các điểm).</a:t>
                </a:r>
              </a:p>
            </p:txBody>
          </p:sp>
        </mc:Choice>
        <mc:Fallback xmlns="">
          <p:sp>
            <p:nvSpPr>
              <p:cNvPr id="2" name="Content Placeholder 1">
                <a:extLst>
                  <a:ext uri="{FF2B5EF4-FFF2-40B4-BE49-F238E27FC236}">
                    <a16:creationId xmlns:a16="http://schemas.microsoft.com/office/drawing/2014/main" id="{76939E2B-640A-AB45-54D9-48926C73BD2A}"/>
                  </a:ext>
                </a:extLst>
              </p:cNvPr>
              <p:cNvSpPr>
                <a:spLocks noGrp="1" noRot="1" noChangeAspect="1" noMove="1" noResize="1" noEditPoints="1" noAdjustHandles="1" noChangeArrowheads="1" noChangeShapeType="1" noTextEdit="1"/>
              </p:cNvSpPr>
              <p:nvPr>
                <p:ph idx="1"/>
              </p:nvPr>
            </p:nvSpPr>
            <p:spPr>
              <a:xfrm>
                <a:off x="581193" y="2340864"/>
                <a:ext cx="6077818" cy="3418824"/>
              </a:xfrm>
              <a:blipFill>
                <a:blip r:embed="rId2"/>
                <a:stretch>
                  <a:fillRect l="-802" t="-713" r="-702"/>
                </a:stretch>
              </a:blipFill>
            </p:spPr>
            <p:txBody>
              <a:bodyPr/>
              <a:lstStyle/>
              <a:p>
                <a:r>
                  <a:rPr lang="vi-VN">
                    <a:noFill/>
                  </a:rPr>
                  <a:t> </a:t>
                </a:r>
              </a:p>
            </p:txBody>
          </p:sp>
        </mc:Fallback>
      </mc:AlternateContent>
      <p:grpSp>
        <p:nvGrpSpPr>
          <p:cNvPr id="40" name="Group 39">
            <a:extLst>
              <a:ext uri="{FF2B5EF4-FFF2-40B4-BE49-F238E27FC236}">
                <a16:creationId xmlns:a16="http://schemas.microsoft.com/office/drawing/2014/main" id="{C301ADE0-3099-8A20-0FDD-9D851909A37A}"/>
              </a:ext>
            </a:extLst>
          </p:cNvPr>
          <p:cNvGrpSpPr/>
          <p:nvPr/>
        </p:nvGrpSpPr>
        <p:grpSpPr>
          <a:xfrm>
            <a:off x="7616776" y="1890876"/>
            <a:ext cx="4504163" cy="3376631"/>
            <a:chOff x="6379647" y="2779213"/>
            <a:chExt cx="4504163" cy="3376631"/>
          </a:xfrm>
        </p:grpSpPr>
        <p:sp>
          <p:nvSpPr>
            <p:cNvPr id="4" name="TextBox 3">
              <a:extLst>
                <a:ext uri="{FF2B5EF4-FFF2-40B4-BE49-F238E27FC236}">
                  <a16:creationId xmlns:a16="http://schemas.microsoft.com/office/drawing/2014/main" id="{B8183278-AE99-5F9E-DA91-918D39D6DFC9}"/>
                </a:ext>
              </a:extLst>
            </p:cNvPr>
            <p:cNvSpPr txBox="1"/>
            <p:nvPr/>
          </p:nvSpPr>
          <p:spPr>
            <a:xfrm>
              <a:off x="8073267" y="2811633"/>
              <a:ext cx="518453" cy="369332"/>
            </a:xfrm>
            <a:prstGeom prst="rect">
              <a:avLst/>
            </a:prstGeom>
            <a:noFill/>
          </p:spPr>
          <p:txBody>
            <a:bodyPr wrap="square" rtlCol="0">
              <a:spAutoFit/>
            </a:bodyPr>
            <a:lstStyle/>
            <a:p>
              <a:r>
                <a:rPr lang="en-US" dirty="0"/>
                <a:t>E</a:t>
              </a:r>
              <a:endParaRPr lang="vi-VN" dirty="0"/>
            </a:p>
          </p:txBody>
        </p:sp>
        <p:sp>
          <p:nvSpPr>
            <p:cNvPr id="12" name="TextBox 11">
              <a:extLst>
                <a:ext uri="{FF2B5EF4-FFF2-40B4-BE49-F238E27FC236}">
                  <a16:creationId xmlns:a16="http://schemas.microsoft.com/office/drawing/2014/main" id="{548B8A40-9A61-C401-5FA4-CB3DF5E1A19D}"/>
                </a:ext>
              </a:extLst>
            </p:cNvPr>
            <p:cNvSpPr txBox="1"/>
            <p:nvPr/>
          </p:nvSpPr>
          <p:spPr>
            <a:xfrm>
              <a:off x="7143343" y="2779213"/>
              <a:ext cx="518453" cy="369332"/>
            </a:xfrm>
            <a:prstGeom prst="rect">
              <a:avLst/>
            </a:prstGeom>
            <a:noFill/>
          </p:spPr>
          <p:txBody>
            <a:bodyPr wrap="square" rtlCol="0">
              <a:spAutoFit/>
            </a:bodyPr>
            <a:lstStyle/>
            <a:p>
              <a:r>
                <a:rPr lang="en-US" dirty="0"/>
                <a:t>V</a:t>
              </a:r>
              <a:endParaRPr lang="vi-VN"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7519B53-A5A7-082D-8517-D4648FCABBA6}"/>
                    </a:ext>
                  </a:extLst>
                </p:cNvPr>
                <p:cNvSpPr txBox="1"/>
                <p:nvPr/>
              </p:nvSpPr>
              <p:spPr>
                <a:xfrm>
                  <a:off x="8023009" y="3194565"/>
                  <a:ext cx="51845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i="1">
                            <a:latin typeface="Cambria Math" panose="02040503050406030204" pitchFamily="18" charset="0"/>
                            <a:ea typeface="Cambria Math" panose="02040503050406030204" pitchFamily="18" charset="0"/>
                          </a:rPr>
                          <m:t>𝜔</m:t>
                        </m:r>
                      </m:oMath>
                    </m:oMathPara>
                  </a14:m>
                  <a:endParaRPr lang="vi-VN" dirty="0"/>
                </a:p>
              </p:txBody>
            </p:sp>
          </mc:Choice>
          <mc:Fallback xmlns="">
            <p:sp>
              <p:nvSpPr>
                <p:cNvPr id="14" name="TextBox 13">
                  <a:extLst>
                    <a:ext uri="{FF2B5EF4-FFF2-40B4-BE49-F238E27FC236}">
                      <a16:creationId xmlns:a16="http://schemas.microsoft.com/office/drawing/2014/main" id="{4858D576-C856-CB6A-87D6-19DBF2AAE8B3}"/>
                    </a:ext>
                  </a:extLst>
                </p:cNvPr>
                <p:cNvSpPr txBox="1">
                  <a:spLocks noRot="1" noChangeAspect="1" noMove="1" noResize="1" noEditPoints="1" noAdjustHandles="1" noChangeArrowheads="1" noChangeShapeType="1" noTextEdit="1"/>
                </p:cNvSpPr>
                <p:nvPr/>
              </p:nvSpPr>
              <p:spPr>
                <a:xfrm>
                  <a:off x="8023009" y="3194565"/>
                  <a:ext cx="518453" cy="369332"/>
                </a:xfrm>
                <a:prstGeom prst="rect">
                  <a:avLst/>
                </a:prstGeom>
                <a:blipFill>
                  <a:blip r:embed="rId3"/>
                  <a:stretch>
                    <a:fillRect/>
                  </a:stretch>
                </a:blipFill>
              </p:spPr>
              <p:txBody>
                <a:bodyPr/>
                <a:lstStyle/>
                <a:p>
                  <a:r>
                    <a:rPr lang="vi-VN">
                      <a:noFill/>
                    </a:rPr>
                    <a:t> </a:t>
                  </a:r>
                </a:p>
              </p:txBody>
            </p:sp>
          </mc:Fallback>
        </mc:AlternateContent>
        <p:grpSp>
          <p:nvGrpSpPr>
            <p:cNvPr id="17" name="Group 16">
              <a:extLst>
                <a:ext uri="{FF2B5EF4-FFF2-40B4-BE49-F238E27FC236}">
                  <a16:creationId xmlns:a16="http://schemas.microsoft.com/office/drawing/2014/main" id="{17CD525D-9B27-13CF-C483-49B057DBA2FD}"/>
                </a:ext>
              </a:extLst>
            </p:cNvPr>
            <p:cNvGrpSpPr/>
            <p:nvPr/>
          </p:nvGrpSpPr>
          <p:grpSpPr>
            <a:xfrm>
              <a:off x="6379647" y="2835670"/>
              <a:ext cx="4504163" cy="3320174"/>
              <a:chOff x="3101788" y="2590800"/>
              <a:chExt cx="4504163" cy="3320174"/>
            </a:xfrm>
          </p:grpSpPr>
          <p:sp>
            <p:nvSpPr>
              <p:cNvPr id="18" name="Oval 17">
                <a:extLst>
                  <a:ext uri="{FF2B5EF4-FFF2-40B4-BE49-F238E27FC236}">
                    <a16:creationId xmlns:a16="http://schemas.microsoft.com/office/drawing/2014/main" id="{FF04832C-07BC-F973-D31B-FCD30E2DACAF}"/>
                  </a:ext>
                </a:extLst>
              </p:cNvPr>
              <p:cNvSpPr/>
              <p:nvPr/>
            </p:nvSpPr>
            <p:spPr>
              <a:xfrm>
                <a:off x="3765176" y="292249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endParaRPr lang="vi-VN" dirty="0"/>
              </a:p>
            </p:txBody>
          </p:sp>
          <p:sp>
            <p:nvSpPr>
              <p:cNvPr id="22" name="Oval 21">
                <a:extLst>
                  <a:ext uri="{FF2B5EF4-FFF2-40B4-BE49-F238E27FC236}">
                    <a16:creationId xmlns:a16="http://schemas.microsoft.com/office/drawing/2014/main" id="{17BDEC5E-EA87-ADC3-DF13-05BAE99A08A9}"/>
                  </a:ext>
                </a:extLst>
              </p:cNvPr>
              <p:cNvSpPr/>
              <p:nvPr/>
            </p:nvSpPr>
            <p:spPr>
              <a:xfrm>
                <a:off x="3101788" y="436925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endParaRPr lang="vi-VN" dirty="0"/>
              </a:p>
            </p:txBody>
          </p:sp>
          <p:sp>
            <p:nvSpPr>
              <p:cNvPr id="23" name="Oval 22">
                <a:extLst>
                  <a:ext uri="{FF2B5EF4-FFF2-40B4-BE49-F238E27FC236}">
                    <a16:creationId xmlns:a16="http://schemas.microsoft.com/office/drawing/2014/main" id="{B0517A92-9BD0-D1AD-ED35-854853C96235}"/>
                  </a:ext>
                </a:extLst>
              </p:cNvPr>
              <p:cNvSpPr/>
              <p:nvPr/>
            </p:nvSpPr>
            <p:spPr>
              <a:xfrm>
                <a:off x="5602940" y="2590800"/>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endParaRPr lang="vi-VN" dirty="0"/>
              </a:p>
            </p:txBody>
          </p:sp>
          <p:sp>
            <p:nvSpPr>
              <p:cNvPr id="24" name="Oval 23">
                <a:extLst>
                  <a:ext uri="{FF2B5EF4-FFF2-40B4-BE49-F238E27FC236}">
                    <a16:creationId xmlns:a16="http://schemas.microsoft.com/office/drawing/2014/main" id="{830D9492-A5B8-1992-D002-4A8981FF9F27}"/>
                  </a:ext>
                </a:extLst>
              </p:cNvPr>
              <p:cNvSpPr/>
              <p:nvPr/>
            </p:nvSpPr>
            <p:spPr>
              <a:xfrm>
                <a:off x="5054635" y="379530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endParaRPr lang="vi-VN" dirty="0"/>
              </a:p>
            </p:txBody>
          </p:sp>
          <p:sp>
            <p:nvSpPr>
              <p:cNvPr id="25" name="Oval 24">
                <a:extLst>
                  <a:ext uri="{FF2B5EF4-FFF2-40B4-BE49-F238E27FC236}">
                    <a16:creationId xmlns:a16="http://schemas.microsoft.com/office/drawing/2014/main" id="{D92B4801-9139-C2D5-A7C3-E0951EF9CB5D}"/>
                  </a:ext>
                </a:extLst>
              </p:cNvPr>
              <p:cNvSpPr/>
              <p:nvPr/>
            </p:nvSpPr>
            <p:spPr>
              <a:xfrm>
                <a:off x="5941057" y="524758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endParaRPr lang="vi-VN" dirty="0"/>
              </a:p>
            </p:txBody>
          </p:sp>
          <p:sp>
            <p:nvSpPr>
              <p:cNvPr id="26" name="Oval 25">
                <a:extLst>
                  <a:ext uri="{FF2B5EF4-FFF2-40B4-BE49-F238E27FC236}">
                    <a16:creationId xmlns:a16="http://schemas.microsoft.com/office/drawing/2014/main" id="{7FB72CC4-B0DB-999A-443F-236722AD7C04}"/>
                  </a:ext>
                </a:extLst>
              </p:cNvPr>
              <p:cNvSpPr/>
              <p:nvPr/>
            </p:nvSpPr>
            <p:spPr>
              <a:xfrm>
                <a:off x="6942563" y="3595109"/>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endParaRPr lang="vi-VN" dirty="0"/>
              </a:p>
            </p:txBody>
          </p:sp>
          <p:cxnSp>
            <p:nvCxnSpPr>
              <p:cNvPr id="27" name="Straight Connector 26">
                <a:extLst>
                  <a:ext uri="{FF2B5EF4-FFF2-40B4-BE49-F238E27FC236}">
                    <a16:creationId xmlns:a16="http://schemas.microsoft.com/office/drawing/2014/main" id="{B4AFA41E-EA5A-3CFC-BE24-406965F1F5A8}"/>
                  </a:ext>
                </a:extLst>
              </p:cNvPr>
              <p:cNvCxnSpPr>
                <a:stCxn id="18" idx="5"/>
                <a:endCxn id="24" idx="1"/>
              </p:cNvCxnSpPr>
              <p:nvPr/>
            </p:nvCxnSpPr>
            <p:spPr>
              <a:xfrm>
                <a:off x="4331413" y="3488731"/>
                <a:ext cx="820373" cy="403724"/>
              </a:xfrm>
              <a:prstGeom prst="line">
                <a:avLst/>
              </a:prstGeom>
              <a:ln/>
            </p:spPr>
            <p:style>
              <a:lnRef idx="3">
                <a:schemeClr val="dk1"/>
              </a:lnRef>
              <a:fillRef idx="0">
                <a:schemeClr val="dk1"/>
              </a:fillRef>
              <a:effectRef idx="2">
                <a:schemeClr val="dk1"/>
              </a:effectRef>
              <a:fontRef idx="minor">
                <a:schemeClr val="tx1"/>
              </a:fontRef>
            </p:style>
          </p:cxnSp>
          <p:cxnSp>
            <p:nvCxnSpPr>
              <p:cNvPr id="28" name="Straight Connector 27">
                <a:extLst>
                  <a:ext uri="{FF2B5EF4-FFF2-40B4-BE49-F238E27FC236}">
                    <a16:creationId xmlns:a16="http://schemas.microsoft.com/office/drawing/2014/main" id="{29021574-F4A0-CE2E-CA07-99FC47513033}"/>
                  </a:ext>
                </a:extLst>
              </p:cNvPr>
              <p:cNvCxnSpPr>
                <a:cxnSpLocks/>
                <a:stCxn id="18" idx="7"/>
                <a:endCxn id="23" idx="2"/>
              </p:cNvCxnSpPr>
              <p:nvPr/>
            </p:nvCxnSpPr>
            <p:spPr>
              <a:xfrm flipV="1">
                <a:off x="4331413" y="2922494"/>
                <a:ext cx="1271527" cy="97151"/>
              </a:xfrm>
              <a:prstGeom prst="line">
                <a:avLst/>
              </a:prstGeom>
            </p:spPr>
            <p:style>
              <a:lnRef idx="3">
                <a:schemeClr val="dk1"/>
              </a:lnRef>
              <a:fillRef idx="0">
                <a:schemeClr val="dk1"/>
              </a:fillRef>
              <a:effectRef idx="2">
                <a:schemeClr val="dk1"/>
              </a:effectRef>
              <a:fontRef idx="minor">
                <a:schemeClr val="tx1"/>
              </a:fontRef>
            </p:style>
          </p:cxnSp>
          <p:cxnSp>
            <p:nvCxnSpPr>
              <p:cNvPr id="30" name="Straight Connector 29">
                <a:extLst>
                  <a:ext uri="{FF2B5EF4-FFF2-40B4-BE49-F238E27FC236}">
                    <a16:creationId xmlns:a16="http://schemas.microsoft.com/office/drawing/2014/main" id="{60D3378A-D8FA-9F47-52F9-BC755E3FD8EF}"/>
                  </a:ext>
                </a:extLst>
              </p:cNvPr>
              <p:cNvCxnSpPr>
                <a:cxnSpLocks/>
                <a:stCxn id="23" idx="5"/>
                <a:endCxn id="26" idx="1"/>
              </p:cNvCxnSpPr>
              <p:nvPr/>
            </p:nvCxnSpPr>
            <p:spPr>
              <a:xfrm>
                <a:off x="6169177" y="3157037"/>
                <a:ext cx="870537" cy="535223"/>
              </a:xfrm>
              <a:prstGeom prst="line">
                <a:avLst/>
              </a:prstGeom>
            </p:spPr>
            <p:style>
              <a:lnRef idx="3">
                <a:schemeClr val="dk1"/>
              </a:lnRef>
              <a:fillRef idx="0">
                <a:schemeClr val="dk1"/>
              </a:fillRef>
              <a:effectRef idx="2">
                <a:schemeClr val="dk1"/>
              </a:effectRef>
              <a:fontRef idx="minor">
                <a:schemeClr val="tx1"/>
              </a:fontRef>
            </p:style>
          </p:cxnSp>
          <p:cxnSp>
            <p:nvCxnSpPr>
              <p:cNvPr id="31" name="Straight Connector 30">
                <a:extLst>
                  <a:ext uri="{FF2B5EF4-FFF2-40B4-BE49-F238E27FC236}">
                    <a16:creationId xmlns:a16="http://schemas.microsoft.com/office/drawing/2014/main" id="{0E891BD5-6615-740B-95AA-C4A7F4DEB9DF}"/>
                  </a:ext>
                </a:extLst>
              </p:cNvPr>
              <p:cNvCxnSpPr>
                <a:cxnSpLocks/>
                <a:stCxn id="26" idx="4"/>
                <a:endCxn id="25" idx="7"/>
              </p:cNvCxnSpPr>
              <p:nvPr/>
            </p:nvCxnSpPr>
            <p:spPr>
              <a:xfrm flipH="1">
                <a:off x="6507294" y="4258497"/>
                <a:ext cx="766963" cy="1086240"/>
              </a:xfrm>
              <a:prstGeom prst="line">
                <a:avLst/>
              </a:prstGeom>
            </p:spPr>
            <p:style>
              <a:lnRef idx="3">
                <a:schemeClr val="dk1"/>
              </a:lnRef>
              <a:fillRef idx="0">
                <a:schemeClr val="dk1"/>
              </a:fillRef>
              <a:effectRef idx="2">
                <a:schemeClr val="dk1"/>
              </a:effectRef>
              <a:fontRef idx="minor">
                <a:schemeClr val="tx1"/>
              </a:fontRef>
            </p:style>
          </p:cxnSp>
          <p:cxnSp>
            <p:nvCxnSpPr>
              <p:cNvPr id="32" name="Straight Connector 31">
                <a:extLst>
                  <a:ext uri="{FF2B5EF4-FFF2-40B4-BE49-F238E27FC236}">
                    <a16:creationId xmlns:a16="http://schemas.microsoft.com/office/drawing/2014/main" id="{E2C275EF-4548-58AB-8405-105002ECFCD0}"/>
                  </a:ext>
                </a:extLst>
              </p:cNvPr>
              <p:cNvCxnSpPr>
                <a:cxnSpLocks/>
                <a:stCxn id="22" idx="6"/>
                <a:endCxn id="25" idx="2"/>
              </p:cNvCxnSpPr>
              <p:nvPr/>
            </p:nvCxnSpPr>
            <p:spPr>
              <a:xfrm>
                <a:off x="3765176" y="4700950"/>
                <a:ext cx="2175881" cy="878330"/>
              </a:xfrm>
              <a:prstGeom prst="line">
                <a:avLst/>
              </a:prstGeom>
            </p:spPr>
            <p:style>
              <a:lnRef idx="3">
                <a:schemeClr val="dk1"/>
              </a:lnRef>
              <a:fillRef idx="0">
                <a:schemeClr val="dk1"/>
              </a:fillRef>
              <a:effectRef idx="2">
                <a:schemeClr val="dk1"/>
              </a:effectRef>
              <a:fontRef idx="minor">
                <a:schemeClr val="tx1"/>
              </a:fontRef>
            </p:style>
          </p:cxnSp>
          <p:cxnSp>
            <p:nvCxnSpPr>
              <p:cNvPr id="33" name="Straight Connector 32">
                <a:extLst>
                  <a:ext uri="{FF2B5EF4-FFF2-40B4-BE49-F238E27FC236}">
                    <a16:creationId xmlns:a16="http://schemas.microsoft.com/office/drawing/2014/main" id="{9941FAE1-09D7-C2B1-74A5-C2052D831BD8}"/>
                  </a:ext>
                </a:extLst>
              </p:cNvPr>
              <p:cNvCxnSpPr>
                <a:cxnSpLocks/>
                <a:stCxn id="24" idx="5"/>
                <a:endCxn id="25" idx="1"/>
              </p:cNvCxnSpPr>
              <p:nvPr/>
            </p:nvCxnSpPr>
            <p:spPr>
              <a:xfrm>
                <a:off x="5620872" y="4361541"/>
                <a:ext cx="417336" cy="983196"/>
              </a:xfrm>
              <a:prstGeom prst="line">
                <a:avLst/>
              </a:prstGeom>
            </p:spPr>
            <p:style>
              <a:lnRef idx="3">
                <a:schemeClr val="dk1"/>
              </a:lnRef>
              <a:fillRef idx="0">
                <a:schemeClr val="dk1"/>
              </a:fillRef>
              <a:effectRef idx="2">
                <a:schemeClr val="dk1"/>
              </a:effectRef>
              <a:fontRef idx="minor">
                <a:schemeClr val="tx1"/>
              </a:fontRef>
            </p:style>
          </p:cxnSp>
          <p:cxnSp>
            <p:nvCxnSpPr>
              <p:cNvPr id="34" name="Straight Connector 33">
                <a:extLst>
                  <a:ext uri="{FF2B5EF4-FFF2-40B4-BE49-F238E27FC236}">
                    <a16:creationId xmlns:a16="http://schemas.microsoft.com/office/drawing/2014/main" id="{F11D9827-7F7B-1C0A-975A-5D4BC4EF80D2}"/>
                  </a:ext>
                </a:extLst>
              </p:cNvPr>
              <p:cNvCxnSpPr>
                <a:cxnSpLocks/>
                <a:stCxn id="18" idx="3"/>
                <a:endCxn id="22" idx="0"/>
              </p:cNvCxnSpPr>
              <p:nvPr/>
            </p:nvCxnSpPr>
            <p:spPr>
              <a:xfrm flipH="1">
                <a:off x="3433482" y="3488731"/>
                <a:ext cx="428845" cy="880525"/>
              </a:xfrm>
              <a:prstGeom prst="line">
                <a:avLst/>
              </a:prstGeom>
            </p:spPr>
            <p:style>
              <a:lnRef idx="3">
                <a:schemeClr val="dk1"/>
              </a:lnRef>
              <a:fillRef idx="0">
                <a:schemeClr val="dk1"/>
              </a:fillRef>
              <a:effectRef idx="2">
                <a:schemeClr val="dk1"/>
              </a:effectRef>
              <a:fontRef idx="minor">
                <a:schemeClr val="tx1"/>
              </a:fontRef>
            </p:style>
          </p:cxnSp>
          <p:cxnSp>
            <p:nvCxnSpPr>
              <p:cNvPr id="35" name="Straight Connector 34">
                <a:extLst>
                  <a:ext uri="{FF2B5EF4-FFF2-40B4-BE49-F238E27FC236}">
                    <a16:creationId xmlns:a16="http://schemas.microsoft.com/office/drawing/2014/main" id="{55F0F040-262B-B5B5-8800-662B77B9BFB2}"/>
                  </a:ext>
                </a:extLst>
              </p:cNvPr>
              <p:cNvCxnSpPr>
                <a:cxnSpLocks/>
                <a:stCxn id="24" idx="2"/>
                <a:endCxn id="22" idx="7"/>
              </p:cNvCxnSpPr>
              <p:nvPr/>
            </p:nvCxnSpPr>
            <p:spPr>
              <a:xfrm flipH="1">
                <a:off x="3668025" y="4126998"/>
                <a:ext cx="1386610" cy="339409"/>
              </a:xfrm>
              <a:prstGeom prst="line">
                <a:avLst/>
              </a:prstGeom>
            </p:spPr>
            <p:style>
              <a:lnRef idx="3">
                <a:schemeClr val="dk1"/>
              </a:lnRef>
              <a:fillRef idx="0">
                <a:schemeClr val="dk1"/>
              </a:fillRef>
              <a:effectRef idx="2">
                <a:schemeClr val="dk1"/>
              </a:effectRef>
              <a:fontRef idx="minor">
                <a:schemeClr val="tx1"/>
              </a:fontRef>
            </p:style>
          </p:cxnSp>
          <p:cxnSp>
            <p:nvCxnSpPr>
              <p:cNvPr id="37" name="Straight Connector 36">
                <a:extLst>
                  <a:ext uri="{FF2B5EF4-FFF2-40B4-BE49-F238E27FC236}">
                    <a16:creationId xmlns:a16="http://schemas.microsoft.com/office/drawing/2014/main" id="{E6128767-C489-9A4D-0CC3-81536141F7BB}"/>
                  </a:ext>
                </a:extLst>
              </p:cNvPr>
              <p:cNvCxnSpPr>
                <a:cxnSpLocks/>
                <a:stCxn id="24" idx="6"/>
                <a:endCxn id="26" idx="2"/>
              </p:cNvCxnSpPr>
              <p:nvPr/>
            </p:nvCxnSpPr>
            <p:spPr>
              <a:xfrm flipV="1">
                <a:off x="5718023" y="3926803"/>
                <a:ext cx="1224540" cy="200195"/>
              </a:xfrm>
              <a:prstGeom prst="line">
                <a:avLst/>
              </a:prstGeom>
            </p:spPr>
            <p:style>
              <a:lnRef idx="3">
                <a:schemeClr val="dk1"/>
              </a:lnRef>
              <a:fillRef idx="0">
                <a:schemeClr val="dk1"/>
              </a:fillRef>
              <a:effectRef idx="2">
                <a:schemeClr val="dk1"/>
              </a:effectRef>
              <a:fontRef idx="minor">
                <a:schemeClr val="tx1"/>
              </a:fontRef>
            </p:style>
          </p:cxnSp>
          <p:cxnSp>
            <p:nvCxnSpPr>
              <p:cNvPr id="38" name="Straight Connector 37">
                <a:extLst>
                  <a:ext uri="{FF2B5EF4-FFF2-40B4-BE49-F238E27FC236}">
                    <a16:creationId xmlns:a16="http://schemas.microsoft.com/office/drawing/2014/main" id="{92CB7B31-5C39-AF48-678B-BB53DFE869D9}"/>
                  </a:ext>
                </a:extLst>
              </p:cNvPr>
              <p:cNvCxnSpPr>
                <a:cxnSpLocks/>
                <a:stCxn id="24" idx="0"/>
                <a:endCxn id="23" idx="3"/>
              </p:cNvCxnSpPr>
              <p:nvPr/>
            </p:nvCxnSpPr>
            <p:spPr>
              <a:xfrm flipV="1">
                <a:off x="5386329" y="3157037"/>
                <a:ext cx="313762" cy="638267"/>
              </a:xfrm>
              <a:prstGeom prst="line">
                <a:avLst/>
              </a:prstGeom>
            </p:spPr>
            <p:style>
              <a:lnRef idx="3">
                <a:schemeClr val="dk1"/>
              </a:lnRef>
              <a:fillRef idx="0">
                <a:schemeClr val="dk1"/>
              </a:fillRef>
              <a:effectRef idx="2">
                <a:schemeClr val="dk1"/>
              </a:effectRef>
              <a:fontRef idx="minor">
                <a:schemeClr val="tx1"/>
              </a:fontRef>
            </p:style>
          </p:cxnSp>
        </p:grpSp>
      </p:grpSp>
    </p:spTree>
    <p:extLst>
      <p:ext uri="{BB962C8B-B14F-4D97-AF65-F5344CB8AC3E}">
        <p14:creationId xmlns:p14="http://schemas.microsoft.com/office/powerpoint/2010/main" val="1612989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E6B68-FA37-ACA0-2FE9-18B1BE6550B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838AC5F-B6AB-C0AB-58AE-49FD7F3273EC}"/>
              </a:ext>
            </a:extLst>
          </p:cNvPr>
          <p:cNvSpPr>
            <a:spLocks noGrp="1"/>
          </p:cNvSpPr>
          <p:nvPr>
            <p:ph type="title"/>
          </p:nvPr>
        </p:nvSpPr>
        <p:spPr/>
        <p:txBody>
          <a:bodyPr/>
          <a:lstStyle/>
          <a:p>
            <a:r>
              <a:rPr lang="vi-VN" dirty="0"/>
              <a:t>2. Thuật toán</a:t>
            </a: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DE59BF0-E0F1-4DC5-A9AD-E7C8F7CEC6A8}"/>
                  </a:ext>
                </a:extLst>
              </p:cNvPr>
              <p:cNvSpPr>
                <a:spLocks noGrp="1"/>
              </p:cNvSpPr>
              <p:nvPr>
                <p:ph idx="1"/>
              </p:nvPr>
            </p:nvSpPr>
            <p:spPr>
              <a:xfrm>
                <a:off x="581192" y="2331339"/>
                <a:ext cx="11029616" cy="4215780"/>
              </a:xfrm>
            </p:spPr>
            <p:txBody>
              <a:bodyPr>
                <a:normAutofit fontScale="92500" lnSpcReduction="10000"/>
              </a:bodyPr>
              <a:lstStyle/>
              <a:p>
                <a:pPr marL="0" indent="0">
                  <a:buNone/>
                </a:pPr>
                <a:r>
                  <a:rPr lang="vi-VN" sz="2100" b="1" dirty="0"/>
                  <a:t>Bước 2: Xác định các đỉnh mật độ.</a:t>
                </a:r>
              </a:p>
              <a:p>
                <a:pPr marL="0" indent="0">
                  <a:buNone/>
                </a:pPr>
                <a:r>
                  <a:rPr lang="vi-VN" dirty="0"/>
                  <a:t>Với mỗi điểm </a:t>
                </a:r>
                <a14:m>
                  <m:oMath xmlns:m="http://schemas.openxmlformats.org/officeDocument/2006/math">
                    <m:r>
                      <a:rPr lang="vi-VN" i="1" dirty="0" smtClean="0">
                        <a:latin typeface="Cambria Math" panose="02040503050406030204" pitchFamily="18" charset="0"/>
                      </a:rPr>
                      <m:t>𝑣</m:t>
                    </m:r>
                  </m:oMath>
                </a14:m>
                <a:r>
                  <a:rPr lang="vi-VN" dirty="0"/>
                  <a:t> trong tập dữ liệu thuật toán cần xác định 2 đại lượng</a:t>
                </a:r>
              </a:p>
              <a:p>
                <a:pPr marL="342900" indent="-342900">
                  <a:lnSpc>
                    <a:spcPct val="120000"/>
                  </a:lnSpc>
                  <a:buAutoNum type="arabicPeriod"/>
                </a:pPr>
                <a:r>
                  <a:rPr lang="vi-VN" dirty="0"/>
                  <a:t>Mật độ cục bộ (</a:t>
                </a:r>
                <a14:m>
                  <m:oMath xmlns:m="http://schemas.openxmlformats.org/officeDocument/2006/math">
                    <m:sSub>
                      <m:sSubPr>
                        <m:ctrlPr>
                          <a:rPr lang="vi-VN" i="1" smtClean="0">
                            <a:latin typeface="Cambria Math" panose="02040503050406030204" pitchFamily="18" charset="0"/>
                            <a:ea typeface="Cambria Math" panose="02040503050406030204" pitchFamily="18" charset="0"/>
                          </a:rPr>
                        </m:ctrlPr>
                      </m:sSubPr>
                      <m:e>
                        <m:r>
                          <a:rPr lang="vi-VN" i="1" smtClean="0">
                            <a:latin typeface="Cambria Math" panose="02040503050406030204" pitchFamily="18" charset="0"/>
                            <a:ea typeface="Cambria Math" panose="02040503050406030204" pitchFamily="18" charset="0"/>
                          </a:rPr>
                          <m:t>𝜌</m:t>
                        </m:r>
                      </m:e>
                      <m:sub>
                        <m:r>
                          <a:rPr lang="vi-VN" i="1">
                            <a:latin typeface="Cambria Math" panose="02040503050406030204" pitchFamily="18" charset="0"/>
                            <a:ea typeface="Cambria Math" panose="02040503050406030204" pitchFamily="18" charset="0"/>
                          </a:rPr>
                          <m:t>𝑣</m:t>
                        </m:r>
                      </m:sub>
                    </m:sSub>
                  </m:oMath>
                </a14:m>
                <a:r>
                  <a:rPr lang="vi-VN" dirty="0"/>
                  <a:t>): Số lượng điểm trong vùng lân cận của </a:t>
                </a:r>
                <a14:m>
                  <m:oMath xmlns:m="http://schemas.openxmlformats.org/officeDocument/2006/math">
                    <m:r>
                      <a:rPr lang="vi-VN" i="1">
                        <a:latin typeface="Cambria Math" panose="02040503050406030204" pitchFamily="18" charset="0"/>
                      </a:rPr>
                      <m:t>𝑣</m:t>
                    </m:r>
                  </m:oMath>
                </a14:m>
                <a:r>
                  <a:rPr lang="vi-VN" dirty="0"/>
                  <a:t>, ta sử dụng phương pháp Gaussian </a:t>
                </a:r>
                <a:r>
                  <a:rPr lang="vi-VN" dirty="0" err="1"/>
                  <a:t>Kernel</a:t>
                </a:r>
                <a:r>
                  <a:rPr lang="vi-VN" dirty="0"/>
                  <a:t> (cắt mềm).</a:t>
                </a:r>
                <a:br>
                  <a:rPr lang="vi-VN" dirty="0"/>
                </a:br>
                <a14:m>
                  <m:oMath xmlns:m="http://schemas.openxmlformats.org/officeDocument/2006/math">
                    <m:sSub>
                      <m:sSubPr>
                        <m:ctrlPr>
                          <a:rPr lang="vi-VN" i="1" smtClean="0">
                            <a:latin typeface="Cambria Math" panose="02040503050406030204" pitchFamily="18" charset="0"/>
                          </a:rPr>
                        </m:ctrlPr>
                      </m:sSubPr>
                      <m:e>
                        <m:r>
                          <a:rPr lang="vi-VN" i="1" smtClean="0">
                            <a:latin typeface="Cambria Math" panose="02040503050406030204" pitchFamily="18" charset="0"/>
                          </a:rPr>
                          <m:t>𝜌</m:t>
                        </m:r>
                      </m:e>
                      <m:sub>
                        <m:r>
                          <a:rPr lang="vi-VN" i="1">
                            <a:latin typeface="Cambria Math" panose="02040503050406030204" pitchFamily="18" charset="0"/>
                          </a:rPr>
                          <m:t>𝑖</m:t>
                        </m:r>
                      </m:sub>
                    </m:sSub>
                    <m:r>
                      <a:rPr lang="vi-VN" i="1">
                        <a:latin typeface="Cambria Math" panose="02040503050406030204" pitchFamily="18" charset="0"/>
                      </a:rPr>
                      <m:t> =</m:t>
                    </m:r>
                    <m:nary>
                      <m:naryPr>
                        <m:chr m:val="∑"/>
                        <m:supHide m:val="on"/>
                        <m:ctrlPr>
                          <a:rPr lang="vi-VN" i="1" smtClean="0">
                            <a:latin typeface="Cambria Math" panose="02040503050406030204" pitchFamily="18" charset="0"/>
                          </a:rPr>
                        </m:ctrlPr>
                      </m:naryPr>
                      <m:sub>
                        <m:r>
                          <a:rPr lang="vi-VN" i="1">
                            <a:latin typeface="Cambria Math" panose="02040503050406030204" pitchFamily="18" charset="0"/>
                          </a:rPr>
                          <m:t>𝑗</m:t>
                        </m:r>
                      </m:sub>
                      <m:sup/>
                      <m:e>
                        <m:sSup>
                          <m:sSupPr>
                            <m:ctrlPr>
                              <a:rPr lang="vi-VN" i="1">
                                <a:latin typeface="Cambria Math" panose="02040503050406030204" pitchFamily="18" charset="0"/>
                              </a:rPr>
                            </m:ctrlPr>
                          </m:sSupPr>
                          <m:e>
                            <m:r>
                              <a:rPr lang="vi-VN" i="1" dirty="0">
                                <a:latin typeface="Cambria Math" panose="02040503050406030204" pitchFamily="18" charset="0"/>
                              </a:rPr>
                              <m:t>𝑒</m:t>
                            </m:r>
                          </m:e>
                          <m:sup>
                            <m:r>
                              <a:rPr lang="vi-VN" i="1">
                                <a:latin typeface="Cambria Math" panose="02040503050406030204" pitchFamily="18" charset="0"/>
                              </a:rPr>
                              <m:t>−</m:t>
                            </m:r>
                            <m:sSup>
                              <m:sSupPr>
                                <m:ctrlPr>
                                  <a:rPr lang="vi-VN" i="1">
                                    <a:latin typeface="Cambria Math" panose="02040503050406030204" pitchFamily="18" charset="0"/>
                                  </a:rPr>
                                </m:ctrlPr>
                              </m:sSupPr>
                              <m:e>
                                <m:d>
                                  <m:dPr>
                                    <m:ctrlPr>
                                      <a:rPr lang="vi-VN" i="1">
                                        <a:latin typeface="Cambria Math" panose="02040503050406030204" pitchFamily="18" charset="0"/>
                                      </a:rPr>
                                    </m:ctrlPr>
                                  </m:dPr>
                                  <m:e>
                                    <m:f>
                                      <m:fPr>
                                        <m:ctrlPr>
                                          <a:rPr lang="vi-VN" i="1">
                                            <a:latin typeface="Cambria Math" panose="02040503050406030204" pitchFamily="18" charset="0"/>
                                          </a:rPr>
                                        </m:ctrlPr>
                                      </m:fPr>
                                      <m:num>
                                        <m:sSub>
                                          <m:sSubPr>
                                            <m:ctrlPr>
                                              <a:rPr lang="vi-VN" i="1">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𝑖𝑗</m:t>
                                            </m:r>
                                          </m:sub>
                                        </m:sSub>
                                      </m:num>
                                      <m:den>
                                        <m:sSub>
                                          <m:sSubPr>
                                            <m:ctrlPr>
                                              <a:rPr lang="vi-VN" i="1">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𝑐</m:t>
                                            </m:r>
                                            <m:r>
                                              <a:rPr lang="vi-VN" i="1">
                                                <a:latin typeface="Cambria Math" panose="02040503050406030204" pitchFamily="18" charset="0"/>
                                              </a:rPr>
                                              <m:t> </m:t>
                                            </m:r>
                                          </m:sub>
                                        </m:sSub>
                                      </m:den>
                                    </m:f>
                                  </m:e>
                                </m:d>
                              </m:e>
                              <m:sup>
                                <m:r>
                                  <a:rPr lang="vi-VN" i="1">
                                    <a:latin typeface="Cambria Math" panose="02040503050406030204" pitchFamily="18" charset="0"/>
                                  </a:rPr>
                                  <m:t>2</m:t>
                                </m:r>
                              </m:sup>
                            </m:sSup>
                          </m:sup>
                        </m:sSup>
                      </m:e>
                    </m:nary>
                  </m:oMath>
                </a14:m>
                <a:endParaRPr lang="vi-VN" dirty="0"/>
              </a:p>
              <a:p>
                <a:pPr marL="0" indent="0">
                  <a:lnSpc>
                    <a:spcPct val="120000"/>
                  </a:lnSpc>
                  <a:buNone/>
                </a:pPr>
                <a:r>
                  <a:rPr lang="vi-VN" dirty="0"/>
                  <a:t>Xét xung quanh điểm i.</a:t>
                </a:r>
              </a:p>
              <a:p>
                <a:pPr>
                  <a:buFont typeface="Arial" panose="020B0604020202020204" pitchFamily="34" charset="0"/>
                  <a:buChar char="•"/>
                </a:pPr>
                <a:r>
                  <a:rPr lang="vi-VN" dirty="0"/>
                  <a:t>Nếu điểm j nằm rất gần i </a:t>
                </a:r>
                <a14:m>
                  <m:oMath xmlns:m="http://schemas.openxmlformats.org/officeDocument/2006/math">
                    <m:r>
                      <a:rPr lang="vi-VN" i="1" dirty="0" smtClean="0">
                        <a:latin typeface="Cambria Math" panose="02040503050406030204" pitchFamily="18" charset="0"/>
                      </a:rPr>
                      <m:t>(</m:t>
                    </m:r>
                    <m:sSub>
                      <m:sSubPr>
                        <m:ctrlPr>
                          <a:rPr lang="vi-VN" i="1" dirty="0" err="1" smtClean="0">
                            <a:latin typeface="Cambria Math" panose="02040503050406030204" pitchFamily="18" charset="0"/>
                          </a:rPr>
                        </m:ctrlPr>
                      </m:sSubPr>
                      <m:e>
                        <m:r>
                          <a:rPr lang="vi-VN" i="1" dirty="0" err="1" smtClean="0">
                            <a:latin typeface="Cambria Math" panose="02040503050406030204" pitchFamily="18" charset="0"/>
                          </a:rPr>
                          <m:t>𝑑</m:t>
                        </m:r>
                      </m:e>
                      <m:sub>
                        <m:r>
                          <a:rPr lang="vi-VN" i="1" dirty="0" err="1" smtClean="0">
                            <a:latin typeface="Cambria Math" panose="02040503050406030204" pitchFamily="18" charset="0"/>
                          </a:rPr>
                          <m:t>𝑖𝑗</m:t>
                        </m:r>
                      </m:sub>
                    </m:sSub>
                    <m:r>
                      <a:rPr lang="vi-VN" i="1" dirty="0" smtClean="0">
                        <a:latin typeface="Cambria Math" panose="02040503050406030204" pitchFamily="18" charset="0"/>
                      </a:rPr>
                      <m:t>≈ 0)</m:t>
                    </m:r>
                  </m:oMath>
                </a14:m>
                <a:r>
                  <a:rPr lang="vi-VN" dirty="0"/>
                  <a:t>: Nó đóng góp 1 điểm vào mật độ.</a:t>
                </a:r>
              </a:p>
              <a:p>
                <a:pPr>
                  <a:buFont typeface="Arial" panose="020B0604020202020204" pitchFamily="34" charset="0"/>
                  <a:buChar char="•"/>
                </a:pPr>
                <a:r>
                  <a:rPr lang="vi-VN" dirty="0"/>
                  <a:t>Nếu điểm j nằm đúng bằng khoảng cách </a:t>
                </a:r>
                <a14:m>
                  <m:oMath xmlns:m="http://schemas.openxmlformats.org/officeDocument/2006/math">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𝑑</m:t>
                        </m:r>
                      </m:e>
                      <m:sub>
                        <m:r>
                          <a:rPr lang="vi-VN" i="1" dirty="0" smtClean="0">
                            <a:latin typeface="Cambria Math" panose="02040503050406030204" pitchFamily="18" charset="0"/>
                          </a:rPr>
                          <m:t>𝑐</m:t>
                        </m:r>
                      </m:sub>
                    </m:sSub>
                    <m:r>
                      <a:rPr lang="vi-VN" b="0" i="1" dirty="0" smtClean="0">
                        <a:latin typeface="Cambria Math" panose="02040503050406030204" pitchFamily="18" charset="0"/>
                      </a:rPr>
                      <m:t> </m:t>
                    </m:r>
                  </m:oMath>
                </a14:m>
                <a:r>
                  <a:rPr lang="vi-VN" dirty="0"/>
                  <a:t>(</a:t>
                </a:r>
                <a14:m>
                  <m:oMath xmlns:m="http://schemas.openxmlformats.org/officeDocument/2006/math">
                    <m:sSub>
                      <m:sSubPr>
                        <m:ctrlPr>
                          <a:rPr lang="vi-VN" i="1" smtClean="0">
                            <a:latin typeface="Cambria Math" panose="02040503050406030204" pitchFamily="18" charset="0"/>
                          </a:rPr>
                        </m:ctrlPr>
                      </m:sSubPr>
                      <m:e>
                        <m:r>
                          <a:rPr lang="vi-VN" i="1" smtClean="0">
                            <a:latin typeface="Cambria Math" panose="02040503050406030204" pitchFamily="18" charset="0"/>
                          </a:rPr>
                          <m:t>𝑑</m:t>
                        </m:r>
                      </m:e>
                      <m:sub>
                        <m:r>
                          <a:rPr lang="vi-VN" i="1">
                            <a:latin typeface="Cambria Math" panose="02040503050406030204" pitchFamily="18" charset="0"/>
                          </a:rPr>
                          <m:t>𝑖𝑗</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𝑐</m:t>
                        </m:r>
                      </m:sub>
                    </m:sSub>
                  </m:oMath>
                </a14:m>
                <a:r>
                  <a:rPr lang="vi-VN" dirty="0"/>
                  <a:t>)</a:t>
                </a:r>
                <a14:m>
                  <m:oMath xmlns:m="http://schemas.openxmlformats.org/officeDocument/2006/math">
                    <m:r>
                      <a:rPr lang="vi-VN" i="1" dirty="0" smtClean="0">
                        <a:latin typeface="Cambria Math" panose="02040503050406030204" pitchFamily="18" charset="0"/>
                      </a:rPr>
                      <m:t>:</m:t>
                    </m:r>
                  </m:oMath>
                </a14:m>
                <a:r>
                  <a:rPr lang="vi-VN" dirty="0"/>
                  <a:t> Nó đóng góp khoảng </a:t>
                </a:r>
                <a14:m>
                  <m:oMath xmlns:m="http://schemas.openxmlformats.org/officeDocument/2006/math">
                    <m:sSup>
                      <m:sSupPr>
                        <m:ctrlPr>
                          <a:rPr lang="vi-VN" i="1" dirty="0" smtClean="0">
                            <a:latin typeface="Cambria Math" panose="02040503050406030204" pitchFamily="18" charset="0"/>
                          </a:rPr>
                        </m:ctrlPr>
                      </m:sSupPr>
                      <m:e>
                        <m:r>
                          <a:rPr lang="vi-VN" i="1" dirty="0" smtClean="0">
                            <a:latin typeface="Cambria Math" panose="02040503050406030204" pitchFamily="18" charset="0"/>
                          </a:rPr>
                          <m:t>𝑒</m:t>
                        </m:r>
                      </m:e>
                      <m:sup>
                        <m:r>
                          <a:rPr lang="vi-VN" i="1" dirty="0">
                            <a:latin typeface="Cambria Math" panose="02040503050406030204" pitchFamily="18" charset="0"/>
                          </a:rPr>
                          <m:t>−</m:t>
                        </m:r>
                        <m:sSup>
                          <m:sSupPr>
                            <m:ctrlPr>
                              <a:rPr lang="vi-VN" i="1" dirty="0">
                                <a:latin typeface="Cambria Math" panose="02040503050406030204" pitchFamily="18" charset="0"/>
                              </a:rPr>
                            </m:ctrlPr>
                          </m:sSupPr>
                          <m:e>
                            <m:d>
                              <m:dPr>
                                <m:ctrlPr>
                                  <a:rPr lang="vi-VN" i="1" dirty="0">
                                    <a:latin typeface="Cambria Math" panose="02040503050406030204" pitchFamily="18" charset="0"/>
                                  </a:rPr>
                                </m:ctrlPr>
                              </m:dPr>
                              <m:e>
                                <m:f>
                                  <m:fPr>
                                    <m:ctrlPr>
                                      <a:rPr lang="vi-VN" i="1" dirty="0">
                                        <a:latin typeface="Cambria Math" panose="02040503050406030204" pitchFamily="18" charset="0"/>
                                      </a:rPr>
                                    </m:ctrlPr>
                                  </m:fPr>
                                  <m:num>
                                    <m:r>
                                      <a:rPr lang="vi-VN" i="1" dirty="0">
                                        <a:latin typeface="Cambria Math" panose="02040503050406030204" pitchFamily="18" charset="0"/>
                                      </a:rPr>
                                      <m:t>𝑑</m:t>
                                    </m:r>
                                  </m:num>
                                  <m:den>
                                    <m:sSub>
                                      <m:sSubPr>
                                        <m:ctrlPr>
                                          <a:rPr lang="vi-VN" i="1" dirty="0" err="1">
                                            <a:latin typeface="Cambria Math" panose="02040503050406030204" pitchFamily="18" charset="0"/>
                                          </a:rPr>
                                        </m:ctrlPr>
                                      </m:sSubPr>
                                      <m:e>
                                        <m:r>
                                          <a:rPr lang="vi-VN" i="1" dirty="0" err="1">
                                            <a:latin typeface="Cambria Math" panose="02040503050406030204" pitchFamily="18" charset="0"/>
                                          </a:rPr>
                                          <m:t>𝑑</m:t>
                                        </m:r>
                                      </m:e>
                                      <m:sub>
                                        <m:r>
                                          <a:rPr lang="vi-VN" i="1" dirty="0" err="1">
                                            <a:latin typeface="Cambria Math" panose="02040503050406030204" pitchFamily="18" charset="0"/>
                                          </a:rPr>
                                          <m:t>𝑐</m:t>
                                        </m:r>
                                      </m:sub>
                                    </m:sSub>
                                  </m:den>
                                </m:f>
                              </m:e>
                            </m:d>
                          </m:e>
                          <m:sup>
                            <m:r>
                              <a:rPr lang="vi-VN" i="1" dirty="0">
                                <a:latin typeface="Cambria Math" panose="02040503050406030204" pitchFamily="18" charset="0"/>
                              </a:rPr>
                              <m:t>2</m:t>
                            </m:r>
                          </m:sup>
                        </m:sSup>
                      </m:sup>
                    </m:sSup>
                  </m:oMath>
                </a14:m>
                <a:r>
                  <a:rPr lang="vi-VN" dirty="0"/>
                  <a:t> điểm mật độ.</a:t>
                </a:r>
              </a:p>
              <a:p>
                <a:pPr>
                  <a:buFont typeface="Arial" panose="020B0604020202020204" pitchFamily="34" charset="0"/>
                  <a:buChar char="•"/>
                </a:pPr>
                <a:r>
                  <a:rPr lang="vi-VN" dirty="0"/>
                  <a:t>Nếu điểm j nằm rất xa: Nó đóng góp gần bằng 0.</a:t>
                </a:r>
              </a:p>
              <a:p>
                <a:pPr>
                  <a:buFont typeface="Wingdings" panose="05000000000000000000" pitchFamily="2" charset="2"/>
                  <a:buChar char="v"/>
                </a:pPr>
                <a:r>
                  <a:rPr lang="vi-VN" dirty="0"/>
                  <a:t>Lưu ý</a:t>
                </a:r>
                <a:r>
                  <a:rPr lang="vi-VN" b="0" i="0" dirty="0">
                    <a:latin typeface="+mj-lt"/>
                  </a:rPr>
                  <a:t>:</a:t>
                </a:r>
                <a14:m>
                  <m:oMath xmlns:m="http://schemas.openxmlformats.org/officeDocument/2006/math">
                    <m:r>
                      <a:rPr lang="vi-VN" b="0" i="0" smtClean="0">
                        <a:latin typeface="Cambria Math" panose="02040503050406030204" pitchFamily="18" charset="0"/>
                      </a:rPr>
                      <m:t> </m:t>
                    </m:r>
                    <m:sSub>
                      <m:sSubPr>
                        <m:ctrlPr>
                          <a:rPr lang="vi-VN" i="1" smtClean="0">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𝑐</m:t>
                        </m:r>
                      </m:sub>
                    </m:sSub>
                    <m:r>
                      <a:rPr lang="vi-VN" b="0" i="1" smtClean="0">
                        <a:latin typeface="Cambria Math" panose="02040503050406030204" pitchFamily="18" charset="0"/>
                      </a:rPr>
                      <m:t> </m:t>
                    </m:r>
                    <m:r>
                      <a:rPr lang="vi-VN" i="1">
                        <a:latin typeface="Cambria Math" panose="02040503050406030204" pitchFamily="18" charset="0"/>
                      </a:rPr>
                      <m:t>đượ</m:t>
                    </m:r>
                    <m:r>
                      <m:rPr>
                        <m:sty m:val="p"/>
                      </m:rPr>
                      <a:rPr lang="vi-VN" i="1">
                        <a:latin typeface="Cambria Math" panose="02040503050406030204" pitchFamily="18" charset="0"/>
                      </a:rPr>
                      <m:t>c</m:t>
                    </m:r>
                  </m:oMath>
                </a14:m>
                <a:r>
                  <a:rPr lang="vi-VN" dirty="0"/>
                  <a:t> chọn ở vị trí 2% trong danh sách khoảng cách.</a:t>
                </a:r>
              </a:p>
            </p:txBody>
          </p:sp>
        </mc:Choice>
        <mc:Fallback xmlns="">
          <p:sp>
            <p:nvSpPr>
              <p:cNvPr id="2" name="Content Placeholder 1">
                <a:extLst>
                  <a:ext uri="{FF2B5EF4-FFF2-40B4-BE49-F238E27FC236}">
                    <a16:creationId xmlns:a16="http://schemas.microsoft.com/office/drawing/2014/main" id="{ADE59BF0-E0F1-4DC5-A9AD-E7C8F7CEC6A8}"/>
                  </a:ext>
                </a:extLst>
              </p:cNvPr>
              <p:cNvSpPr>
                <a:spLocks noGrp="1" noRot="1" noChangeAspect="1" noMove="1" noResize="1" noEditPoints="1" noAdjustHandles="1" noChangeArrowheads="1" noChangeShapeType="1" noTextEdit="1"/>
              </p:cNvSpPr>
              <p:nvPr>
                <p:ph idx="1"/>
              </p:nvPr>
            </p:nvSpPr>
            <p:spPr>
              <a:xfrm>
                <a:off x="581192" y="2331339"/>
                <a:ext cx="11029616" cy="4215780"/>
              </a:xfrm>
              <a:blipFill>
                <a:blip r:embed="rId2"/>
                <a:stretch>
                  <a:fillRect l="-497"/>
                </a:stretch>
              </a:blipFill>
            </p:spPr>
            <p:txBody>
              <a:bodyPr/>
              <a:lstStyle/>
              <a:p>
                <a:r>
                  <a:rPr lang="vi-VN">
                    <a:noFill/>
                  </a:rPr>
                  <a:t> </a:t>
                </a:r>
              </a:p>
            </p:txBody>
          </p:sp>
        </mc:Fallback>
      </mc:AlternateContent>
    </p:spTree>
    <p:extLst>
      <p:ext uri="{BB962C8B-B14F-4D97-AF65-F5344CB8AC3E}">
        <p14:creationId xmlns:p14="http://schemas.microsoft.com/office/powerpoint/2010/main" val="1706191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A3438-F36A-B46F-4B32-BFDD93FF941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2DF57EF-69CB-C66D-8726-E8428705840A}"/>
              </a:ext>
            </a:extLst>
          </p:cNvPr>
          <p:cNvSpPr>
            <a:spLocks noGrp="1"/>
          </p:cNvSpPr>
          <p:nvPr>
            <p:ph type="title"/>
          </p:nvPr>
        </p:nvSpPr>
        <p:spPr/>
        <p:txBody>
          <a:bodyPr/>
          <a:lstStyle/>
          <a:p>
            <a:r>
              <a:rPr lang="vi-VN" dirty="0"/>
              <a:t>2. Thuật toán</a:t>
            </a: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6D682466-525B-FD49-244D-C0D0B7E10EC9}"/>
                  </a:ext>
                </a:extLst>
              </p:cNvPr>
              <p:cNvSpPr>
                <a:spLocks noGrp="1"/>
              </p:cNvSpPr>
              <p:nvPr>
                <p:ph idx="1"/>
              </p:nvPr>
            </p:nvSpPr>
            <p:spPr>
              <a:xfrm>
                <a:off x="581192" y="2340864"/>
                <a:ext cx="11029615" cy="4215780"/>
              </a:xfrm>
            </p:spPr>
            <p:txBody>
              <a:bodyPr anchor="t">
                <a:normAutofit/>
              </a:bodyPr>
              <a:lstStyle/>
              <a:p>
                <a:pPr marL="0" indent="0">
                  <a:buNone/>
                </a:pPr>
                <a:r>
                  <a:rPr lang="vi-VN" sz="2100" b="1" dirty="0"/>
                  <a:t>Bước 2: Xác định các đỉnh mật độ.</a:t>
                </a:r>
              </a:p>
              <a:p>
                <a:pPr marL="0" indent="0">
                  <a:buNone/>
                </a:pPr>
                <a:r>
                  <a:rPr lang="vi-VN" sz="1600" dirty="0"/>
                  <a:t>Với mỗi điểm </a:t>
                </a:r>
                <a14:m>
                  <m:oMath xmlns:m="http://schemas.openxmlformats.org/officeDocument/2006/math">
                    <m:r>
                      <a:rPr lang="vi-VN" sz="1600" i="1" dirty="0" smtClean="0">
                        <a:latin typeface="Cambria Math" panose="02040503050406030204" pitchFamily="18" charset="0"/>
                      </a:rPr>
                      <m:t>𝑣</m:t>
                    </m:r>
                  </m:oMath>
                </a14:m>
                <a:r>
                  <a:rPr lang="vi-VN" sz="1600" dirty="0"/>
                  <a:t> trong tập dữ liệu thuật toán cần xác định 2 đại lượng</a:t>
                </a:r>
              </a:p>
              <a:p>
                <a:pPr marL="342900" indent="-342900">
                  <a:lnSpc>
                    <a:spcPct val="120000"/>
                  </a:lnSpc>
                  <a:buAutoNum type="arabicPeriod"/>
                </a:pPr>
                <a:r>
                  <a:rPr lang="vi-VN" sz="1600" dirty="0"/>
                  <a:t>Mật độ cục bộ (</a:t>
                </a:r>
                <a14:m>
                  <m:oMath xmlns:m="http://schemas.openxmlformats.org/officeDocument/2006/math">
                    <m:sSub>
                      <m:sSubPr>
                        <m:ctrlPr>
                          <a:rPr lang="vi-VN" sz="1600" i="1">
                            <a:latin typeface="Cambria Math" panose="02040503050406030204" pitchFamily="18" charset="0"/>
                            <a:ea typeface="Cambria Math" panose="02040503050406030204" pitchFamily="18" charset="0"/>
                          </a:rPr>
                        </m:ctrlPr>
                      </m:sSubPr>
                      <m:e>
                        <m:r>
                          <a:rPr lang="vi-VN" sz="1600" i="1">
                            <a:latin typeface="Cambria Math" panose="02040503050406030204" pitchFamily="18" charset="0"/>
                            <a:ea typeface="Cambria Math" panose="02040503050406030204" pitchFamily="18" charset="0"/>
                          </a:rPr>
                          <m:t>𝜌</m:t>
                        </m:r>
                      </m:e>
                      <m:sub>
                        <m:r>
                          <a:rPr lang="vi-VN" sz="1600" i="1">
                            <a:latin typeface="Cambria Math" panose="02040503050406030204" pitchFamily="18" charset="0"/>
                          </a:rPr>
                          <m:t>𝑣</m:t>
                        </m:r>
                      </m:sub>
                    </m:sSub>
                  </m:oMath>
                </a14:m>
                <a:r>
                  <a:rPr lang="vi-VN" sz="1600" dirty="0"/>
                  <a:t>): Số lượng điểm trong vùng lân cận của </a:t>
                </a:r>
                <a14:m>
                  <m:oMath xmlns:m="http://schemas.openxmlformats.org/officeDocument/2006/math">
                    <m:r>
                      <a:rPr lang="vi-VN" sz="1600" i="1">
                        <a:latin typeface="Cambria Math" panose="02040503050406030204" pitchFamily="18" charset="0"/>
                      </a:rPr>
                      <m:t>𝑣</m:t>
                    </m:r>
                  </m:oMath>
                </a14:m>
                <a:r>
                  <a:rPr lang="vi-VN" sz="1600" dirty="0"/>
                  <a:t>, ta sử dụng phương pháp Gaussian </a:t>
                </a:r>
                <a:r>
                  <a:rPr lang="vi-VN" sz="1600" dirty="0" err="1"/>
                  <a:t>Kernel</a:t>
                </a:r>
                <a:r>
                  <a:rPr lang="vi-VN" sz="1600" dirty="0"/>
                  <a:t> (cắt mềm).</a:t>
                </a:r>
                <a:br>
                  <a:rPr lang="vi-VN" sz="1600" dirty="0"/>
                </a:br>
                <a14:m>
                  <m:oMath xmlns:m="http://schemas.openxmlformats.org/officeDocument/2006/math">
                    <m:sSub>
                      <m:sSubPr>
                        <m:ctrlPr>
                          <a:rPr lang="vi-VN" sz="1600" i="1" smtClean="0">
                            <a:latin typeface="Cambria Math" panose="02040503050406030204" pitchFamily="18" charset="0"/>
                          </a:rPr>
                        </m:ctrlPr>
                      </m:sSubPr>
                      <m:e>
                        <m:r>
                          <a:rPr lang="vi-VN" sz="1600" i="1" smtClean="0">
                            <a:latin typeface="Cambria Math" panose="02040503050406030204" pitchFamily="18" charset="0"/>
                          </a:rPr>
                          <m:t>𝜌</m:t>
                        </m:r>
                      </m:e>
                      <m:sub>
                        <m:r>
                          <a:rPr lang="vi-VN" sz="1600" i="1">
                            <a:latin typeface="Cambria Math" panose="02040503050406030204" pitchFamily="18" charset="0"/>
                          </a:rPr>
                          <m:t>𝑖</m:t>
                        </m:r>
                      </m:sub>
                    </m:sSub>
                    <m:r>
                      <a:rPr lang="vi-VN" sz="1600" i="1">
                        <a:latin typeface="Cambria Math" panose="02040503050406030204" pitchFamily="18" charset="0"/>
                      </a:rPr>
                      <m:t> =</m:t>
                    </m:r>
                    <m:nary>
                      <m:naryPr>
                        <m:chr m:val="∑"/>
                        <m:supHide m:val="on"/>
                        <m:ctrlPr>
                          <a:rPr lang="vi-VN" sz="1600" i="1" smtClean="0">
                            <a:latin typeface="Cambria Math" panose="02040503050406030204" pitchFamily="18" charset="0"/>
                          </a:rPr>
                        </m:ctrlPr>
                      </m:naryPr>
                      <m:sub>
                        <m:r>
                          <a:rPr lang="vi-VN" sz="1600" i="1">
                            <a:latin typeface="Cambria Math" panose="02040503050406030204" pitchFamily="18" charset="0"/>
                          </a:rPr>
                          <m:t>𝑗</m:t>
                        </m:r>
                      </m:sub>
                      <m:sup/>
                      <m:e>
                        <m:func>
                          <m:funcPr>
                            <m:ctrlPr>
                              <a:rPr lang="vi-VN" sz="1600" i="1">
                                <a:latin typeface="Cambria Math" panose="02040503050406030204" pitchFamily="18" charset="0"/>
                              </a:rPr>
                            </m:ctrlPr>
                          </m:funcPr>
                          <m:fName>
                            <m:r>
                              <m:rPr>
                                <m:sty m:val="p"/>
                              </m:rPr>
                              <a:rPr lang="vi-VN" sz="1600">
                                <a:latin typeface="Cambria Math" panose="02040503050406030204" pitchFamily="18" charset="0"/>
                              </a:rPr>
                              <m:t>exp</m:t>
                            </m:r>
                          </m:fName>
                          <m:e>
                            <m:d>
                              <m:dPr>
                                <m:ctrlPr>
                                  <a:rPr lang="vi-VN" sz="1600" i="1">
                                    <a:latin typeface="Cambria Math" panose="02040503050406030204" pitchFamily="18" charset="0"/>
                                  </a:rPr>
                                </m:ctrlPr>
                              </m:dPr>
                              <m:e>
                                <m:r>
                                  <a:rPr lang="vi-VN" sz="1600" i="1">
                                    <a:latin typeface="Cambria Math" panose="02040503050406030204" pitchFamily="18" charset="0"/>
                                  </a:rPr>
                                  <m:t>−</m:t>
                                </m:r>
                                <m:sSup>
                                  <m:sSupPr>
                                    <m:ctrlPr>
                                      <a:rPr lang="vi-VN" sz="1600" i="1">
                                        <a:latin typeface="Cambria Math" panose="02040503050406030204" pitchFamily="18" charset="0"/>
                                      </a:rPr>
                                    </m:ctrlPr>
                                  </m:sSupPr>
                                  <m:e>
                                    <m:d>
                                      <m:dPr>
                                        <m:ctrlPr>
                                          <a:rPr lang="vi-VN" sz="1600" i="1">
                                            <a:latin typeface="Cambria Math" panose="02040503050406030204" pitchFamily="18" charset="0"/>
                                          </a:rPr>
                                        </m:ctrlPr>
                                      </m:dPr>
                                      <m:e>
                                        <m:f>
                                          <m:fPr>
                                            <m:ctrlPr>
                                              <a:rPr lang="vi-VN" sz="1600" i="1">
                                                <a:latin typeface="Cambria Math" panose="02040503050406030204" pitchFamily="18" charset="0"/>
                                              </a:rPr>
                                            </m:ctrlPr>
                                          </m:fPr>
                                          <m:num>
                                            <m:sSub>
                                              <m:sSubPr>
                                                <m:ctrlPr>
                                                  <a:rPr lang="vi-VN" sz="1600" i="1">
                                                    <a:latin typeface="Cambria Math" panose="02040503050406030204" pitchFamily="18" charset="0"/>
                                                  </a:rPr>
                                                </m:ctrlPr>
                                              </m:sSubPr>
                                              <m:e>
                                                <m:r>
                                                  <a:rPr lang="vi-VN" sz="1600" i="1">
                                                    <a:latin typeface="Cambria Math" panose="02040503050406030204" pitchFamily="18" charset="0"/>
                                                  </a:rPr>
                                                  <m:t>𝑑</m:t>
                                                </m:r>
                                              </m:e>
                                              <m:sub>
                                                <m:r>
                                                  <a:rPr lang="vi-VN" sz="1600" i="1">
                                                    <a:latin typeface="Cambria Math" panose="02040503050406030204" pitchFamily="18" charset="0"/>
                                                  </a:rPr>
                                                  <m:t>𝑖𝑗</m:t>
                                                </m:r>
                                              </m:sub>
                                            </m:sSub>
                                          </m:num>
                                          <m:den>
                                            <m:sSub>
                                              <m:sSubPr>
                                                <m:ctrlPr>
                                                  <a:rPr lang="vi-VN" sz="1600" i="1">
                                                    <a:latin typeface="Cambria Math" panose="02040503050406030204" pitchFamily="18" charset="0"/>
                                                  </a:rPr>
                                                </m:ctrlPr>
                                              </m:sSubPr>
                                              <m:e>
                                                <m:r>
                                                  <a:rPr lang="vi-VN" sz="1600" i="1">
                                                    <a:latin typeface="Cambria Math" panose="02040503050406030204" pitchFamily="18" charset="0"/>
                                                  </a:rPr>
                                                  <m:t>𝑑</m:t>
                                                </m:r>
                                              </m:e>
                                              <m:sub>
                                                <m:r>
                                                  <a:rPr lang="vi-VN" sz="1600" i="1">
                                                    <a:latin typeface="Cambria Math" panose="02040503050406030204" pitchFamily="18" charset="0"/>
                                                  </a:rPr>
                                                  <m:t>𝑐</m:t>
                                                </m:r>
                                                <m:r>
                                                  <a:rPr lang="vi-VN" sz="1600" i="1">
                                                    <a:latin typeface="Cambria Math" panose="02040503050406030204" pitchFamily="18" charset="0"/>
                                                  </a:rPr>
                                                  <m:t> </m:t>
                                                </m:r>
                                              </m:sub>
                                            </m:sSub>
                                          </m:den>
                                        </m:f>
                                      </m:e>
                                    </m:d>
                                  </m:e>
                                  <m:sup>
                                    <m:r>
                                      <a:rPr lang="vi-VN" sz="1600" i="1">
                                        <a:latin typeface="Cambria Math" panose="02040503050406030204" pitchFamily="18" charset="0"/>
                                      </a:rPr>
                                      <m:t>2</m:t>
                                    </m:r>
                                  </m:sup>
                                </m:sSup>
                              </m:e>
                            </m:d>
                          </m:e>
                        </m:func>
                      </m:e>
                    </m:nary>
                  </m:oMath>
                </a14:m>
                <a:endParaRPr lang="vi-VN" sz="1600" dirty="0"/>
              </a:p>
              <a:p>
                <a:pPr marL="342900" indent="-342900">
                  <a:buAutoNum type="arabicPeriod"/>
                </a:pPr>
                <a:r>
                  <a:rPr lang="vi-VN" sz="1600" dirty="0"/>
                  <a:t>Khoảng cách (</a:t>
                </a:r>
                <a14:m>
                  <m:oMath xmlns:m="http://schemas.openxmlformats.org/officeDocument/2006/math">
                    <m:sSub>
                      <m:sSubPr>
                        <m:ctrlPr>
                          <a:rPr lang="vi-VN" sz="1600" i="1" dirty="0">
                            <a:latin typeface="Cambria Math" panose="02040503050406030204" pitchFamily="18" charset="0"/>
                          </a:rPr>
                        </m:ctrlPr>
                      </m:sSubPr>
                      <m:e>
                        <m:r>
                          <a:rPr lang="vi-VN" sz="1600" i="1">
                            <a:latin typeface="Cambria Math" panose="02040503050406030204" pitchFamily="18" charset="0"/>
                            <a:ea typeface="Cambria Math" panose="02040503050406030204" pitchFamily="18" charset="0"/>
                          </a:rPr>
                          <m:t>𝛿</m:t>
                        </m:r>
                      </m:e>
                      <m:sub>
                        <m:r>
                          <a:rPr lang="vi-VN" sz="1600" i="1" dirty="0">
                            <a:latin typeface="Cambria Math" panose="02040503050406030204" pitchFamily="18" charset="0"/>
                          </a:rPr>
                          <m:t>𝑣</m:t>
                        </m:r>
                      </m:sub>
                    </m:sSub>
                  </m:oMath>
                </a14:m>
                <a:r>
                  <a:rPr lang="vi-VN" sz="1600" dirty="0"/>
                  <a:t>): Khoảng cách ngắn nhất đến điểm có mật độ cao hơn </a:t>
                </a:r>
                <a14:m>
                  <m:oMath xmlns:m="http://schemas.openxmlformats.org/officeDocument/2006/math">
                    <m:r>
                      <a:rPr lang="vi-VN" sz="1600" i="1">
                        <a:latin typeface="Cambria Math" panose="02040503050406030204" pitchFamily="18" charset="0"/>
                      </a:rPr>
                      <m:t>𝑣</m:t>
                    </m:r>
                    <m:r>
                      <a:rPr lang="vi-VN" sz="1600" b="0" i="1" smtClean="0">
                        <a:latin typeface="Cambria Math" panose="02040503050406030204" pitchFamily="18" charset="0"/>
                      </a:rPr>
                      <m:t>.</m:t>
                    </m:r>
                  </m:oMath>
                </a14:m>
                <a:endParaRPr lang="vi-VN" sz="1600" dirty="0"/>
              </a:p>
              <a:p>
                <a:pPr marL="0" indent="0">
                  <a:buNone/>
                </a:pPr>
                <a14:m>
                  <m:oMathPara xmlns:m="http://schemas.openxmlformats.org/officeDocument/2006/math">
                    <m:oMathParaPr>
                      <m:jc m:val="centerGroup"/>
                    </m:oMathParaPr>
                    <m:oMath xmlns:m="http://schemas.openxmlformats.org/officeDocument/2006/math">
                      <m:sSub>
                        <m:sSubPr>
                          <m:ctrlPr>
                            <a:rPr lang="vi-VN" sz="1600" b="0" i="1" smtClean="0">
                              <a:latin typeface="Cambria Math" panose="02040503050406030204" pitchFamily="18" charset="0"/>
                            </a:rPr>
                          </m:ctrlPr>
                        </m:sSubPr>
                        <m:e>
                          <m:r>
                            <a:rPr lang="vi-VN" sz="1600" i="1" smtClean="0">
                              <a:latin typeface="Cambria Math" panose="02040503050406030204" pitchFamily="18" charset="0"/>
                            </a:rPr>
                            <m:t>𝛿</m:t>
                          </m:r>
                        </m:e>
                        <m:sub>
                          <m:r>
                            <a:rPr lang="vi-VN" sz="1600" i="1" dirty="0">
                              <a:latin typeface="Cambria Math" panose="02040503050406030204" pitchFamily="18" charset="0"/>
                            </a:rPr>
                            <m:t>𝑣</m:t>
                          </m:r>
                        </m:sub>
                      </m:sSub>
                      <m:r>
                        <a:rPr lang="vi-VN" sz="1600" i="1">
                          <a:latin typeface="Cambria Math" panose="02040503050406030204" pitchFamily="18" charset="0"/>
                        </a:rPr>
                        <m:t> =</m:t>
                      </m:r>
                      <m:limLow>
                        <m:limLowPr>
                          <m:ctrlPr>
                            <a:rPr lang="vi-VN" sz="1600" b="0" i="1" smtClean="0">
                              <a:latin typeface="Cambria Math" panose="02040503050406030204" pitchFamily="18" charset="0"/>
                            </a:rPr>
                          </m:ctrlPr>
                        </m:limLowPr>
                        <m:e>
                          <m:r>
                            <m:rPr>
                              <m:sty m:val="p"/>
                            </m:rPr>
                            <a:rPr lang="vi-VN" sz="1600" i="0" smtClean="0">
                              <a:latin typeface="Cambria Math" panose="02040503050406030204" pitchFamily="18" charset="0"/>
                            </a:rPr>
                            <m:t>min</m:t>
                          </m:r>
                        </m:e>
                        <m:lim>
                          <m:d>
                            <m:dPr>
                              <m:begChr m:val="{"/>
                              <m:endChr m:val="}"/>
                              <m:ctrlPr>
                                <a:rPr lang="vi-VN" sz="1600" i="1" smtClean="0">
                                  <a:latin typeface="Cambria Math" panose="02040503050406030204" pitchFamily="18" charset="0"/>
                                </a:rPr>
                              </m:ctrlPr>
                            </m:dPr>
                            <m:e>
                              <m:r>
                                <a:rPr lang="vi-VN" sz="1600" i="1">
                                  <a:latin typeface="Cambria Math" panose="02040503050406030204" pitchFamily="18" charset="0"/>
                                </a:rPr>
                                <m:t>𝑢</m:t>
                              </m:r>
                              <m:r>
                                <a:rPr lang="vi-VN" sz="1600" i="1">
                                  <a:latin typeface="Cambria Math" panose="02040503050406030204" pitchFamily="18" charset="0"/>
                                </a:rPr>
                                <m:t>:</m:t>
                              </m:r>
                              <m:sSub>
                                <m:sSubPr>
                                  <m:ctrlPr>
                                    <a:rPr lang="vi-VN" sz="1600" i="1">
                                      <a:latin typeface="Cambria Math" panose="02040503050406030204" pitchFamily="18" charset="0"/>
                                    </a:rPr>
                                  </m:ctrlPr>
                                </m:sSubPr>
                                <m:e>
                                  <m:r>
                                    <a:rPr lang="vi-VN" sz="1600" i="1" smtClean="0">
                                      <a:latin typeface="Cambria Math" panose="02040503050406030204" pitchFamily="18" charset="0"/>
                                    </a:rPr>
                                    <m:t>𝜌</m:t>
                                  </m:r>
                                </m:e>
                                <m:sub>
                                  <m:r>
                                    <a:rPr lang="vi-VN" sz="1600" i="1">
                                      <a:latin typeface="Cambria Math" panose="02040503050406030204" pitchFamily="18" charset="0"/>
                                    </a:rPr>
                                    <m:t>𝑢</m:t>
                                  </m:r>
                                </m:sub>
                              </m:sSub>
                              <m:r>
                                <a:rPr lang="vi-VN" sz="1600" i="1" smtClean="0">
                                  <a:latin typeface="Cambria Math" panose="02040503050406030204" pitchFamily="18" charset="0"/>
                                </a:rPr>
                                <m:t>≥</m:t>
                              </m:r>
                              <m:sSub>
                                <m:sSubPr>
                                  <m:ctrlPr>
                                    <a:rPr lang="vi-VN" sz="1600" i="1">
                                      <a:latin typeface="Cambria Math" panose="02040503050406030204" pitchFamily="18" charset="0"/>
                                    </a:rPr>
                                  </m:ctrlPr>
                                </m:sSubPr>
                                <m:e>
                                  <m:r>
                                    <a:rPr lang="vi-VN" sz="1600" i="1" smtClean="0">
                                      <a:latin typeface="Cambria Math" panose="02040503050406030204" pitchFamily="18" charset="0"/>
                                    </a:rPr>
                                    <m:t>𝜌</m:t>
                                  </m:r>
                                </m:e>
                                <m:sub>
                                  <m:r>
                                    <a:rPr lang="vi-VN" sz="1600" i="1">
                                      <a:latin typeface="Cambria Math" panose="02040503050406030204" pitchFamily="18" charset="0"/>
                                    </a:rPr>
                                    <m:t>𝑣</m:t>
                                  </m:r>
                                </m:sub>
                              </m:sSub>
                            </m:e>
                          </m:d>
                        </m:lim>
                      </m:limLow>
                      <m:r>
                        <a:rPr lang="vi-VN" sz="1600" i="1">
                          <a:latin typeface="Cambria Math" panose="02040503050406030204" pitchFamily="18" charset="0"/>
                        </a:rPr>
                        <m:t> ||</m:t>
                      </m:r>
                      <m:r>
                        <a:rPr lang="vi-VN" sz="1600" i="1">
                          <a:latin typeface="Cambria Math" panose="02040503050406030204" pitchFamily="18" charset="0"/>
                        </a:rPr>
                        <m:t>𝑥</m:t>
                      </m:r>
                      <m:r>
                        <a:rPr lang="vi-VN" sz="1600" i="1">
                          <a:latin typeface="Cambria Math" panose="02040503050406030204" pitchFamily="18" charset="0"/>
                        </a:rPr>
                        <m:t> − </m:t>
                      </m:r>
                      <m:r>
                        <a:rPr lang="vi-VN" sz="1600" i="1">
                          <a:latin typeface="Cambria Math" panose="02040503050406030204" pitchFamily="18" charset="0"/>
                        </a:rPr>
                        <m:t>𝑢</m:t>
                      </m:r>
                      <m:r>
                        <a:rPr lang="vi-VN" sz="1600" i="1">
                          <a:latin typeface="Cambria Math" panose="02040503050406030204" pitchFamily="18" charset="0"/>
                        </a:rPr>
                        <m:t>||</m:t>
                      </m:r>
                    </m:oMath>
                  </m:oMathPara>
                </a14:m>
                <a:endParaRPr lang="vi-VN" sz="1600" dirty="0"/>
              </a:p>
              <a:p>
                <a:pPr>
                  <a:buFont typeface="Wingdings" panose="05000000000000000000" pitchFamily="2" charset="2"/>
                  <a:buChar char="à"/>
                </a:pPr>
                <a:r>
                  <a:rPr lang="vi-VN" sz="1600" dirty="0">
                    <a:sym typeface="Wingdings" panose="05000000000000000000" pitchFamily="2" charset="2"/>
                  </a:rPr>
                  <a:t>Tập hợp các Đỉnh Mật độ </a:t>
                </a:r>
                <a14:m>
                  <m:oMath xmlns:m="http://schemas.openxmlformats.org/officeDocument/2006/math">
                    <m:d>
                      <m:dPr>
                        <m:ctrlPr>
                          <a:rPr lang="vi-VN" sz="1600" i="1" dirty="0" smtClean="0">
                            <a:latin typeface="Cambria Math" panose="02040503050406030204" pitchFamily="18" charset="0"/>
                            <a:sym typeface="Wingdings" panose="05000000000000000000" pitchFamily="2" charset="2"/>
                          </a:rPr>
                        </m:ctrlPr>
                      </m:dPr>
                      <m:e>
                        <m:sSub>
                          <m:sSubPr>
                            <m:ctrlPr>
                              <a:rPr lang="vi-VN" sz="1600" i="1" dirty="0" smtClean="0">
                                <a:latin typeface="Cambria Math" panose="02040503050406030204" pitchFamily="18" charset="0"/>
                                <a:sym typeface="Wingdings" panose="05000000000000000000" pitchFamily="2" charset="2"/>
                              </a:rPr>
                            </m:ctrlPr>
                          </m:sSubPr>
                          <m:e>
                            <m:r>
                              <a:rPr lang="vi-VN" sz="1600" i="1" dirty="0" smtClean="0">
                                <a:latin typeface="Cambria Math" panose="02040503050406030204" pitchFamily="18" charset="0"/>
                                <a:sym typeface="Wingdings" panose="05000000000000000000" pitchFamily="2" charset="2"/>
                              </a:rPr>
                              <m:t>𝑃</m:t>
                            </m:r>
                          </m:e>
                          <m:sub>
                            <m:r>
                              <a:rPr lang="vi-VN" sz="1600" i="1" dirty="0" smtClean="0">
                                <a:latin typeface="Cambria Math" panose="02040503050406030204" pitchFamily="18" charset="0"/>
                                <a:sym typeface="Wingdings" panose="05000000000000000000" pitchFamily="2" charset="2"/>
                              </a:rPr>
                              <m:t>𝜏</m:t>
                            </m:r>
                          </m:sub>
                        </m:sSub>
                      </m:e>
                    </m:d>
                    <m:r>
                      <a:rPr lang="vi-VN" sz="1600" i="1" dirty="0" smtClean="0">
                        <a:latin typeface="Cambria Math" panose="02040503050406030204" pitchFamily="18" charset="0"/>
                        <a:sym typeface="Wingdings" panose="05000000000000000000" pitchFamily="2" charset="2"/>
                      </a:rPr>
                      <m:t>:</m:t>
                    </m:r>
                  </m:oMath>
                </a14:m>
                <a:r>
                  <a:rPr lang="vi-VN" sz="1600" dirty="0">
                    <a:sym typeface="Wingdings" panose="05000000000000000000" pitchFamily="2" charset="2"/>
                  </a:rPr>
                  <a:t> Là các điểm thỏa mãn cả hai ngưỡng về mật độ </a:t>
                </a:r>
                <a14:m>
                  <m:oMath xmlns:m="http://schemas.openxmlformats.org/officeDocument/2006/math">
                    <m:r>
                      <a:rPr lang="vi-VN" sz="1600" i="1" dirty="0" smtClean="0">
                        <a:latin typeface="Cambria Math" panose="02040503050406030204" pitchFamily="18" charset="0"/>
                        <a:sym typeface="Wingdings" panose="05000000000000000000" pitchFamily="2" charset="2"/>
                      </a:rPr>
                      <m:t>(</m:t>
                    </m:r>
                    <m:sSub>
                      <m:sSubPr>
                        <m:ctrlPr>
                          <a:rPr lang="vi-VN" sz="1600" i="1" dirty="0" smtClean="0">
                            <a:latin typeface="Cambria Math" panose="02040503050406030204" pitchFamily="18" charset="0"/>
                            <a:sym typeface="Wingdings" panose="05000000000000000000" pitchFamily="2" charset="2"/>
                          </a:rPr>
                        </m:ctrlPr>
                      </m:sSubPr>
                      <m:e>
                        <m:r>
                          <a:rPr lang="vi-VN" sz="1600" i="1" dirty="0" smtClean="0">
                            <a:latin typeface="Cambria Math" panose="02040503050406030204" pitchFamily="18" charset="0"/>
                            <a:sym typeface="Wingdings" panose="05000000000000000000" pitchFamily="2" charset="2"/>
                          </a:rPr>
                          <m:t>𝜏</m:t>
                        </m:r>
                      </m:e>
                      <m:sub>
                        <m:r>
                          <a:rPr lang="vi-VN" sz="1600" i="1" dirty="0" smtClean="0">
                            <a:latin typeface="Cambria Math" panose="02040503050406030204" pitchFamily="18" charset="0"/>
                            <a:sym typeface="Wingdings" panose="05000000000000000000" pitchFamily="2" charset="2"/>
                          </a:rPr>
                          <m:t>𝜌</m:t>
                        </m:r>
                      </m:sub>
                    </m:sSub>
                    <m:r>
                      <a:rPr lang="vi-VN" sz="1600" i="1" dirty="0" smtClean="0">
                        <a:latin typeface="Cambria Math" panose="02040503050406030204" pitchFamily="18" charset="0"/>
                        <a:sym typeface="Wingdings" panose="05000000000000000000" pitchFamily="2" charset="2"/>
                      </a:rPr>
                      <m:t>) </m:t>
                    </m:r>
                  </m:oMath>
                </a14:m>
                <a:r>
                  <a:rPr lang="vi-VN" sz="1600" dirty="0">
                    <a:sym typeface="Wingdings" panose="05000000000000000000" pitchFamily="2" charset="2"/>
                  </a:rPr>
                  <a:t>và khoảng cách </a:t>
                </a:r>
                <a14:m>
                  <m:oMath xmlns:m="http://schemas.openxmlformats.org/officeDocument/2006/math">
                    <m:r>
                      <a:rPr lang="vi-VN" sz="1600" i="1" dirty="0" smtClean="0">
                        <a:latin typeface="Cambria Math" panose="02040503050406030204" pitchFamily="18" charset="0"/>
                        <a:sym typeface="Wingdings" panose="05000000000000000000" pitchFamily="2" charset="2"/>
                      </a:rPr>
                      <m:t>(</m:t>
                    </m:r>
                    <m:sSub>
                      <m:sSubPr>
                        <m:ctrlPr>
                          <a:rPr lang="vi-VN" sz="1600" i="1" dirty="0" smtClean="0">
                            <a:latin typeface="Cambria Math" panose="02040503050406030204" pitchFamily="18" charset="0"/>
                            <a:sym typeface="Wingdings" panose="05000000000000000000" pitchFamily="2" charset="2"/>
                          </a:rPr>
                        </m:ctrlPr>
                      </m:sSubPr>
                      <m:e>
                        <m:r>
                          <a:rPr lang="vi-VN" sz="1600" i="1" dirty="0" smtClean="0">
                            <a:latin typeface="Cambria Math" panose="02040503050406030204" pitchFamily="18" charset="0"/>
                            <a:sym typeface="Wingdings" panose="05000000000000000000" pitchFamily="2" charset="2"/>
                          </a:rPr>
                          <m:t>𝜏</m:t>
                        </m:r>
                      </m:e>
                      <m:sub>
                        <m:r>
                          <a:rPr lang="vi-VN" sz="1600" i="1" dirty="0" smtClean="0">
                            <a:latin typeface="Cambria Math" panose="02040503050406030204" pitchFamily="18" charset="0"/>
                            <a:sym typeface="Wingdings" panose="05000000000000000000" pitchFamily="2" charset="2"/>
                          </a:rPr>
                          <m:t>𝛿</m:t>
                        </m:r>
                      </m:sub>
                    </m:sSub>
                    <m:r>
                      <a:rPr lang="vi-VN" sz="1600" i="1" dirty="0" smtClean="0">
                        <a:latin typeface="Cambria Math" panose="02040503050406030204" pitchFamily="18" charset="0"/>
                        <a:sym typeface="Wingdings" panose="05000000000000000000" pitchFamily="2" charset="2"/>
                      </a:rPr>
                      <m:t>)</m:t>
                    </m:r>
                  </m:oMath>
                </a14:m>
                <a:r>
                  <a:rPr lang="vi-VN" sz="1600" dirty="0">
                    <a:sym typeface="Wingdings" panose="05000000000000000000" pitchFamily="2" charset="2"/>
                  </a:rPr>
                  <a:t>:</a:t>
                </a:r>
              </a:p>
              <a:p>
                <a:pPr marL="0" indent="0">
                  <a:buNone/>
                </a:pPr>
                <a14:m>
                  <m:oMathPara xmlns:m="http://schemas.openxmlformats.org/officeDocument/2006/math">
                    <m:oMathParaPr>
                      <m:jc m:val="centerGroup"/>
                    </m:oMathParaPr>
                    <m:oMath xmlns:m="http://schemas.openxmlformats.org/officeDocument/2006/math">
                      <m:sSub>
                        <m:sSubPr>
                          <m:ctrlPr>
                            <a:rPr lang="vi-VN" sz="1600" i="1">
                              <a:latin typeface="Cambria Math" panose="02040503050406030204" pitchFamily="18" charset="0"/>
                            </a:rPr>
                          </m:ctrlPr>
                        </m:sSubPr>
                        <m:e>
                          <m:r>
                            <a:rPr lang="vi-VN" sz="1600" i="1">
                              <a:latin typeface="Cambria Math" panose="02040503050406030204" pitchFamily="18" charset="0"/>
                            </a:rPr>
                            <m:t>𝑃</m:t>
                          </m:r>
                        </m:e>
                        <m:sub>
                          <m:r>
                            <a:rPr lang="vi-VN" sz="1600" i="1" smtClean="0">
                              <a:latin typeface="Cambria Math" panose="02040503050406030204" pitchFamily="18" charset="0"/>
                            </a:rPr>
                            <m:t>𝜏</m:t>
                          </m:r>
                        </m:sub>
                      </m:sSub>
                      <m:r>
                        <a:rPr lang="vi-VN" sz="1600" i="1">
                          <a:latin typeface="Cambria Math" panose="02040503050406030204" pitchFamily="18" charset="0"/>
                        </a:rPr>
                        <m:t> =</m:t>
                      </m:r>
                      <m:r>
                        <a:rPr lang="vi-VN" sz="1600" b="0" i="1" smtClean="0">
                          <a:latin typeface="Cambria Math" panose="02040503050406030204" pitchFamily="18" charset="0"/>
                        </a:rPr>
                        <m:t>{</m:t>
                      </m:r>
                      <m:r>
                        <a:rPr lang="vi-VN" sz="1600" i="1">
                          <a:latin typeface="Cambria Math" panose="02040503050406030204" pitchFamily="18" charset="0"/>
                        </a:rPr>
                        <m:t> </m:t>
                      </m:r>
                      <m:r>
                        <a:rPr lang="vi-VN" sz="1600" i="1">
                          <a:latin typeface="Cambria Math" panose="02040503050406030204" pitchFamily="18" charset="0"/>
                        </a:rPr>
                        <m:t>𝑣</m:t>
                      </m:r>
                      <m:r>
                        <a:rPr lang="vi-VN" sz="1600" i="1" smtClean="0">
                          <a:latin typeface="Cambria Math" panose="02040503050406030204" pitchFamily="18" charset="0"/>
                        </a:rPr>
                        <m:t>∈</m:t>
                      </m:r>
                      <m:r>
                        <a:rPr lang="vi-VN" sz="1600" i="1">
                          <a:latin typeface="Cambria Math" panose="02040503050406030204" pitchFamily="18" charset="0"/>
                        </a:rPr>
                        <m:t> </m:t>
                      </m:r>
                      <m:r>
                        <a:rPr lang="vi-VN" sz="1600" i="1">
                          <a:latin typeface="Cambria Math" panose="02040503050406030204" pitchFamily="18" charset="0"/>
                        </a:rPr>
                        <m:t>𝑉</m:t>
                      </m:r>
                      <m:r>
                        <a:rPr lang="vi-VN" sz="1600" i="1" smtClean="0">
                          <a:latin typeface="Cambria Math" panose="02040503050406030204" pitchFamily="18" charset="0"/>
                        </a:rPr>
                        <m:t>∣</m:t>
                      </m:r>
                      <m:sSub>
                        <m:sSubPr>
                          <m:ctrlPr>
                            <a:rPr lang="vi-VN" sz="1600" i="1">
                              <a:latin typeface="Cambria Math" panose="02040503050406030204" pitchFamily="18" charset="0"/>
                            </a:rPr>
                          </m:ctrlPr>
                        </m:sSubPr>
                        <m:e>
                          <m:r>
                            <a:rPr lang="vi-VN" sz="1600" i="1" smtClean="0">
                              <a:latin typeface="Cambria Math" panose="02040503050406030204" pitchFamily="18" charset="0"/>
                            </a:rPr>
                            <m:t>𝜌</m:t>
                          </m:r>
                        </m:e>
                        <m:sub>
                          <m:r>
                            <a:rPr lang="vi-VN" sz="1600" i="1">
                              <a:latin typeface="Cambria Math" panose="02040503050406030204" pitchFamily="18" charset="0"/>
                            </a:rPr>
                            <m:t>𝑣</m:t>
                          </m:r>
                        </m:sub>
                      </m:sSub>
                      <m:r>
                        <a:rPr lang="vi-VN" sz="1600" i="1">
                          <a:latin typeface="Cambria Math" panose="02040503050406030204" pitchFamily="18" charset="0"/>
                        </a:rPr>
                        <m:t> &gt;</m:t>
                      </m:r>
                      <m:sSub>
                        <m:sSubPr>
                          <m:ctrlPr>
                            <a:rPr lang="vi-VN" sz="1600" i="1">
                              <a:latin typeface="Cambria Math" panose="02040503050406030204" pitchFamily="18" charset="0"/>
                            </a:rPr>
                          </m:ctrlPr>
                        </m:sSubPr>
                        <m:e>
                          <m:r>
                            <a:rPr lang="vi-VN" sz="1600" i="1" smtClean="0">
                              <a:latin typeface="Cambria Math" panose="02040503050406030204" pitchFamily="18" charset="0"/>
                            </a:rPr>
                            <m:t>𝜏</m:t>
                          </m:r>
                        </m:e>
                        <m:sub>
                          <m:r>
                            <a:rPr lang="vi-VN" sz="1600" i="1" smtClean="0">
                              <a:latin typeface="Cambria Math" panose="02040503050406030204" pitchFamily="18" charset="0"/>
                            </a:rPr>
                            <m:t>𝜌</m:t>
                          </m:r>
                        </m:sub>
                      </m:sSub>
                      <m:r>
                        <a:rPr lang="vi-VN" sz="1600" i="1" smtClean="0">
                          <a:latin typeface="Cambria Math" panose="02040503050406030204" pitchFamily="18" charset="0"/>
                        </a:rPr>
                        <m:t>∩</m:t>
                      </m:r>
                      <m:sSub>
                        <m:sSubPr>
                          <m:ctrlPr>
                            <a:rPr lang="vi-VN" sz="1600" i="1" smtClean="0">
                              <a:latin typeface="Cambria Math" panose="02040503050406030204" pitchFamily="18" charset="0"/>
                            </a:rPr>
                          </m:ctrlPr>
                        </m:sSubPr>
                        <m:e>
                          <m:r>
                            <a:rPr lang="vi-VN" sz="1600" i="1" smtClean="0">
                              <a:latin typeface="Cambria Math" panose="02040503050406030204" pitchFamily="18" charset="0"/>
                            </a:rPr>
                            <m:t>𝛿</m:t>
                          </m:r>
                        </m:e>
                        <m:sub>
                          <m:r>
                            <a:rPr lang="vi-VN" sz="1600" i="1">
                              <a:latin typeface="Cambria Math" panose="02040503050406030204" pitchFamily="18" charset="0"/>
                            </a:rPr>
                            <m:t>𝑣</m:t>
                          </m:r>
                        </m:sub>
                      </m:sSub>
                      <m:r>
                        <a:rPr lang="vi-VN" sz="1600" i="1">
                          <a:latin typeface="Cambria Math" panose="02040503050406030204" pitchFamily="18" charset="0"/>
                        </a:rPr>
                        <m:t> &gt;</m:t>
                      </m:r>
                      <m:sSub>
                        <m:sSubPr>
                          <m:ctrlPr>
                            <a:rPr lang="vi-VN" sz="1600" i="1">
                              <a:latin typeface="Cambria Math" panose="02040503050406030204" pitchFamily="18" charset="0"/>
                            </a:rPr>
                          </m:ctrlPr>
                        </m:sSubPr>
                        <m:e>
                          <m:r>
                            <a:rPr lang="vi-VN" sz="1600" i="1" smtClean="0">
                              <a:latin typeface="Cambria Math" panose="02040503050406030204" pitchFamily="18" charset="0"/>
                            </a:rPr>
                            <m:t>𝜏</m:t>
                          </m:r>
                        </m:e>
                        <m:sub>
                          <m:r>
                            <a:rPr lang="vi-VN" sz="1600" i="1" smtClean="0">
                              <a:latin typeface="Cambria Math" panose="02040503050406030204" pitchFamily="18" charset="0"/>
                            </a:rPr>
                            <m:t>𝛿</m:t>
                          </m:r>
                        </m:sub>
                      </m:sSub>
                      <m:r>
                        <a:rPr lang="vi-VN" sz="1600" i="1">
                          <a:latin typeface="Cambria Math" panose="02040503050406030204" pitchFamily="18" charset="0"/>
                        </a:rPr>
                        <m:t> </m:t>
                      </m:r>
                      <m:r>
                        <a:rPr lang="vi-VN" sz="1600" b="0" i="1" smtClean="0">
                          <a:latin typeface="Cambria Math" panose="02040503050406030204" pitchFamily="18" charset="0"/>
                        </a:rPr>
                        <m:t>}</m:t>
                      </m:r>
                    </m:oMath>
                  </m:oMathPara>
                </a14:m>
                <a:endParaRPr lang="vi-VN" sz="1600" dirty="0"/>
              </a:p>
            </p:txBody>
          </p:sp>
        </mc:Choice>
        <mc:Fallback xmlns="">
          <p:sp>
            <p:nvSpPr>
              <p:cNvPr id="2" name="Content Placeholder 1">
                <a:extLst>
                  <a:ext uri="{FF2B5EF4-FFF2-40B4-BE49-F238E27FC236}">
                    <a16:creationId xmlns:a16="http://schemas.microsoft.com/office/drawing/2014/main" id="{6D682466-525B-FD49-244D-C0D0B7E10EC9}"/>
                  </a:ext>
                </a:extLst>
              </p:cNvPr>
              <p:cNvSpPr>
                <a:spLocks noGrp="1" noRot="1" noChangeAspect="1" noMove="1" noResize="1" noEditPoints="1" noAdjustHandles="1" noChangeArrowheads="1" noChangeShapeType="1" noTextEdit="1"/>
              </p:cNvSpPr>
              <p:nvPr>
                <p:ph idx="1"/>
              </p:nvPr>
            </p:nvSpPr>
            <p:spPr>
              <a:xfrm>
                <a:off x="581192" y="2340864"/>
                <a:ext cx="11029615" cy="4215780"/>
              </a:xfrm>
              <a:blipFill>
                <a:blip r:embed="rId2"/>
                <a:stretch>
                  <a:fillRect l="-663" t="-867"/>
                </a:stretch>
              </a:blipFill>
            </p:spPr>
            <p:txBody>
              <a:bodyPr/>
              <a:lstStyle/>
              <a:p>
                <a:r>
                  <a:rPr lang="vi-VN">
                    <a:noFill/>
                  </a:rPr>
                  <a:t> </a:t>
                </a:r>
              </a:p>
            </p:txBody>
          </p:sp>
        </mc:Fallback>
      </mc:AlternateContent>
    </p:spTree>
    <p:extLst>
      <p:ext uri="{BB962C8B-B14F-4D97-AF65-F5344CB8AC3E}">
        <p14:creationId xmlns:p14="http://schemas.microsoft.com/office/powerpoint/2010/main" val="1820252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93923-F5CA-6465-EDC5-7FCB99AD575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3489CEC-83D9-11A0-DD6E-39FCAEFF5601}"/>
              </a:ext>
            </a:extLst>
          </p:cNvPr>
          <p:cNvSpPr>
            <a:spLocks noGrp="1"/>
          </p:cNvSpPr>
          <p:nvPr>
            <p:ph type="title"/>
          </p:nvPr>
        </p:nvSpPr>
        <p:spPr/>
        <p:txBody>
          <a:bodyPr/>
          <a:lstStyle/>
          <a:p>
            <a:r>
              <a:rPr lang="vi-VN" dirty="0"/>
              <a:t>2. Thuật toán</a:t>
            </a: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5B561442-F5C6-3297-E434-F7C02324FABD}"/>
                  </a:ext>
                </a:extLst>
              </p:cNvPr>
              <p:cNvSpPr>
                <a:spLocks noGrp="1"/>
              </p:cNvSpPr>
              <p:nvPr>
                <p:ph idx="1"/>
              </p:nvPr>
            </p:nvSpPr>
            <p:spPr>
              <a:xfrm>
                <a:off x="581193" y="2340864"/>
                <a:ext cx="8050536" cy="3418824"/>
              </a:xfrm>
            </p:spPr>
            <p:txBody>
              <a:bodyPr anchor="t">
                <a:normAutofit/>
              </a:bodyPr>
              <a:lstStyle/>
              <a:p>
                <a:pPr marL="0" indent="0">
                  <a:buNone/>
                </a:pPr>
                <a:r>
                  <a:rPr lang="vi-VN" sz="1800" b="1" dirty="0"/>
                  <a:t>Bước 3: Phân cụm </a:t>
                </a:r>
                <a:endParaRPr lang="vi-VN" sz="1800" dirty="0"/>
              </a:p>
              <a:p>
                <a:r>
                  <a:rPr lang="vi-VN" sz="1600" dirty="0"/>
                  <a:t>Tìm đường đi ngắn nhất từ nguồn ảo (s) đến mọi điểm trong đồ thị băng qua các Đỉnh mật độ.</a:t>
                </a:r>
              </a:p>
              <a:p>
                <a:r>
                  <a:rPr lang="vi-VN" sz="1600" dirty="0"/>
                  <a:t>Thuật toán được sử dụng: </a:t>
                </a:r>
                <a:r>
                  <a:rPr lang="vi-VN" sz="1600" dirty="0" err="1"/>
                  <a:t>Dijkstra</a:t>
                </a:r>
                <a:r>
                  <a:rPr lang="vi-VN" sz="1600" dirty="0"/>
                  <a:t>.</a:t>
                </a:r>
              </a:p>
              <a:p>
                <a:r>
                  <a:rPr lang="vi-VN" sz="1600" dirty="0"/>
                  <a:t>Quy tắc: </a:t>
                </a:r>
              </a:p>
              <a:p>
                <a:pPr lvl="1">
                  <a:buFont typeface="Arial" panose="020B0604020202020204" pitchFamily="34" charset="0"/>
                  <a:buChar char="•"/>
                </a:pPr>
                <a:r>
                  <a:rPr lang="vi-VN" sz="1600" dirty="0"/>
                  <a:t>Gọi</a:t>
                </a:r>
                <a14:m>
                  <m:oMath xmlns:m="http://schemas.openxmlformats.org/officeDocument/2006/math">
                    <m:r>
                      <a:rPr lang="vi-VN" sz="1600" b="0" i="0" dirty="0" smtClean="0">
                        <a:latin typeface="Cambria Math" panose="02040503050406030204" pitchFamily="18" charset="0"/>
                      </a:rPr>
                      <m:t> </m:t>
                    </m:r>
                    <m:r>
                      <a:rPr lang="vi-VN" sz="1600" i="1" dirty="0" smtClean="0">
                        <a:latin typeface="Cambria Math" panose="02040503050406030204" pitchFamily="18" charset="0"/>
                      </a:rPr>
                      <m:t> </m:t>
                    </m:r>
                    <m:r>
                      <m:rPr>
                        <m:sty m:val="p"/>
                      </m:rPr>
                      <a:rPr lang="vi-VN" sz="1600" i="0" dirty="0" smtClean="0">
                        <a:latin typeface="Cambria Math" panose="02040503050406030204" pitchFamily="18" charset="0"/>
                      </a:rPr>
                      <m:t>Γ</m:t>
                    </m:r>
                    <m:r>
                      <a:rPr lang="vi-VN" sz="1600" i="1" dirty="0" smtClean="0">
                        <a:latin typeface="Cambria Math" panose="02040503050406030204" pitchFamily="18" charset="0"/>
                      </a:rPr>
                      <m:t> </m:t>
                    </m:r>
                  </m:oMath>
                </a14:m>
                <a:r>
                  <a:rPr lang="vi-VN" sz="1600" dirty="0"/>
                  <a:t>là đường đi rẻ nhất từ (s) đến điểm (x) (tính theo hàm </a:t>
                </a:r>
                <a:r>
                  <a:rPr lang="vi-VN" sz="1600" dirty="0" err="1"/>
                  <a:t>Minimax</a:t>
                </a:r>
                <a:r>
                  <a:rPr lang="vi-VN" sz="1600" dirty="0"/>
                  <a:t> ).</a:t>
                </a:r>
              </a:p>
              <a:p>
                <a:pPr lvl="1">
                  <a:buFont typeface="Arial" panose="020B0604020202020204" pitchFamily="34" charset="0"/>
                  <a:buChar char="•"/>
                </a:pPr>
                <a:r>
                  <a:rPr lang="vi-VN" sz="1600" dirty="0"/>
                  <a:t>Đường đi này chắc chắn phải đi qua một đỉnh mật độ (F).</a:t>
                </a:r>
              </a:p>
              <a:p>
                <a:pPr lvl="1">
                  <a:buFont typeface="Wingdings" panose="05000000000000000000" pitchFamily="2" charset="2"/>
                  <a:buChar char="à"/>
                </a:pPr>
                <a:r>
                  <a:rPr lang="vi-VN" sz="1600" dirty="0"/>
                  <a:t>Cuối cùng, nếu điểm (x) có đường đi tối ưu về Đỉnh F thì sẽ thuộc về Cụm F.</a:t>
                </a:r>
              </a:p>
              <a:p>
                <a:pPr lvl="1"/>
                <a:endParaRPr lang="vi-VN" dirty="0"/>
              </a:p>
            </p:txBody>
          </p:sp>
        </mc:Choice>
        <mc:Fallback xmlns="">
          <p:sp>
            <p:nvSpPr>
              <p:cNvPr id="2" name="Content Placeholder 1">
                <a:extLst>
                  <a:ext uri="{FF2B5EF4-FFF2-40B4-BE49-F238E27FC236}">
                    <a16:creationId xmlns:a16="http://schemas.microsoft.com/office/drawing/2014/main" id="{5B561442-F5C6-3297-E434-F7C02324FABD}"/>
                  </a:ext>
                </a:extLst>
              </p:cNvPr>
              <p:cNvSpPr>
                <a:spLocks noGrp="1" noRot="1" noChangeAspect="1" noMove="1" noResize="1" noEditPoints="1" noAdjustHandles="1" noChangeArrowheads="1" noChangeShapeType="1" noTextEdit="1"/>
              </p:cNvSpPr>
              <p:nvPr>
                <p:ph idx="1"/>
              </p:nvPr>
            </p:nvSpPr>
            <p:spPr>
              <a:xfrm>
                <a:off x="581193" y="2340864"/>
                <a:ext cx="8050536" cy="3418824"/>
              </a:xfrm>
              <a:blipFill>
                <a:blip r:embed="rId2"/>
                <a:stretch>
                  <a:fillRect l="-606" t="-713"/>
                </a:stretch>
              </a:blipFill>
            </p:spPr>
            <p:txBody>
              <a:bodyPr/>
              <a:lstStyle/>
              <a:p>
                <a:r>
                  <a:rPr lang="vi-VN">
                    <a:noFill/>
                  </a:rPr>
                  <a:t> </a:t>
                </a:r>
              </a:p>
            </p:txBody>
          </p:sp>
        </mc:Fallback>
      </mc:AlternateContent>
      <p:grpSp>
        <p:nvGrpSpPr>
          <p:cNvPr id="3" name="Group 2">
            <a:extLst>
              <a:ext uri="{FF2B5EF4-FFF2-40B4-BE49-F238E27FC236}">
                <a16:creationId xmlns:a16="http://schemas.microsoft.com/office/drawing/2014/main" id="{966849CC-38F9-05AD-930C-71923EF67626}"/>
              </a:ext>
            </a:extLst>
          </p:cNvPr>
          <p:cNvGrpSpPr/>
          <p:nvPr/>
        </p:nvGrpSpPr>
        <p:grpSpPr>
          <a:xfrm>
            <a:off x="8235340" y="2340864"/>
            <a:ext cx="4504163" cy="3794179"/>
            <a:chOff x="6379647" y="2693359"/>
            <a:chExt cx="4504163" cy="3794179"/>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8AE36C6-6766-1A45-9656-D51AAC5CB5AB}"/>
                    </a:ext>
                  </a:extLst>
                </p:cNvPr>
                <p:cNvSpPr txBox="1"/>
                <p:nvPr/>
              </p:nvSpPr>
              <p:spPr>
                <a:xfrm>
                  <a:off x="8218994" y="4945820"/>
                  <a:ext cx="51845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vi-VN" dirty="0">
                            <a:latin typeface="Cambria Math" panose="02040503050406030204" pitchFamily="18" charset="0"/>
                          </a:rPr>
                          <m:t>Γ</m:t>
                        </m:r>
                      </m:oMath>
                    </m:oMathPara>
                  </a14:m>
                  <a:endParaRPr lang="vi-VN" dirty="0"/>
                </a:p>
              </p:txBody>
            </p:sp>
          </mc:Choice>
          <mc:Fallback xmlns="">
            <p:sp>
              <p:nvSpPr>
                <p:cNvPr id="6" name="TextBox 5">
                  <a:extLst>
                    <a:ext uri="{FF2B5EF4-FFF2-40B4-BE49-F238E27FC236}">
                      <a16:creationId xmlns:a16="http://schemas.microsoft.com/office/drawing/2014/main" id="{6382D2CA-CACC-1787-B6FA-14D4D46FDE70}"/>
                    </a:ext>
                  </a:extLst>
                </p:cNvPr>
                <p:cNvSpPr txBox="1">
                  <a:spLocks noRot="1" noChangeAspect="1" noMove="1" noResize="1" noEditPoints="1" noAdjustHandles="1" noChangeArrowheads="1" noChangeShapeType="1" noTextEdit="1"/>
                </p:cNvSpPr>
                <p:nvPr/>
              </p:nvSpPr>
              <p:spPr>
                <a:xfrm>
                  <a:off x="8218994" y="4945820"/>
                  <a:ext cx="518453" cy="369332"/>
                </a:xfrm>
                <a:prstGeom prst="rect">
                  <a:avLst/>
                </a:prstGeom>
                <a:blipFill>
                  <a:blip r:embed="rId3"/>
                  <a:stretch>
                    <a:fillRect/>
                  </a:stretch>
                </a:blipFill>
              </p:spPr>
              <p:txBody>
                <a:bodyPr/>
                <a:lstStyle/>
                <a:p>
                  <a:r>
                    <a:rPr lang="vi-VN">
                      <a:noFill/>
                    </a:rPr>
                    <a:t> </a:t>
                  </a:r>
                </a:p>
              </p:txBody>
            </p:sp>
          </mc:Fallback>
        </mc:AlternateContent>
        <p:sp>
          <p:nvSpPr>
            <p:cNvPr id="7" name="TextBox 6">
              <a:extLst>
                <a:ext uri="{FF2B5EF4-FFF2-40B4-BE49-F238E27FC236}">
                  <a16:creationId xmlns:a16="http://schemas.microsoft.com/office/drawing/2014/main" id="{256F3ECE-BF91-956A-D108-FE2B7144E9F2}"/>
                </a:ext>
              </a:extLst>
            </p:cNvPr>
            <p:cNvSpPr txBox="1"/>
            <p:nvPr/>
          </p:nvSpPr>
          <p:spPr>
            <a:xfrm>
              <a:off x="7185475" y="2729336"/>
              <a:ext cx="518453" cy="369332"/>
            </a:xfrm>
            <a:prstGeom prst="rect">
              <a:avLst/>
            </a:prstGeom>
            <a:noFill/>
          </p:spPr>
          <p:txBody>
            <a:bodyPr wrap="square" rtlCol="0">
              <a:spAutoFit/>
            </a:bodyPr>
            <a:lstStyle/>
            <a:p>
              <a:r>
                <a:rPr lang="en-US" dirty="0"/>
                <a:t>V</a:t>
              </a:r>
              <a:endParaRPr lang="vi-VN"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CA3385D-E6E6-0AFF-5344-8653C12955A0}"/>
                    </a:ext>
                  </a:extLst>
                </p:cNvPr>
                <p:cNvSpPr txBox="1"/>
                <p:nvPr/>
              </p:nvSpPr>
              <p:spPr>
                <a:xfrm>
                  <a:off x="8023009" y="3194565"/>
                  <a:ext cx="51845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i="1">
                            <a:latin typeface="Cambria Math" panose="02040503050406030204" pitchFamily="18" charset="0"/>
                            <a:ea typeface="Cambria Math" panose="02040503050406030204" pitchFamily="18" charset="0"/>
                          </a:rPr>
                          <m:t>𝜔</m:t>
                        </m:r>
                      </m:oMath>
                    </m:oMathPara>
                  </a14:m>
                  <a:endParaRPr lang="vi-VN" dirty="0"/>
                </a:p>
              </p:txBody>
            </p:sp>
          </mc:Choice>
          <mc:Fallback xmlns="">
            <p:sp>
              <p:nvSpPr>
                <p:cNvPr id="8" name="TextBox 7">
                  <a:extLst>
                    <a:ext uri="{FF2B5EF4-FFF2-40B4-BE49-F238E27FC236}">
                      <a16:creationId xmlns:a16="http://schemas.microsoft.com/office/drawing/2014/main" id="{14539E4B-F6FB-5CCB-52F0-D6FC07329EFB}"/>
                    </a:ext>
                  </a:extLst>
                </p:cNvPr>
                <p:cNvSpPr txBox="1">
                  <a:spLocks noRot="1" noChangeAspect="1" noMove="1" noResize="1" noEditPoints="1" noAdjustHandles="1" noChangeArrowheads="1" noChangeShapeType="1" noTextEdit="1"/>
                </p:cNvSpPr>
                <p:nvPr/>
              </p:nvSpPr>
              <p:spPr>
                <a:xfrm>
                  <a:off x="8023009" y="3194565"/>
                  <a:ext cx="518453" cy="369332"/>
                </a:xfrm>
                <a:prstGeom prst="rect">
                  <a:avLst/>
                </a:prstGeom>
                <a:blipFill>
                  <a:blip r:embed="rId4"/>
                  <a:stretch>
                    <a:fillRect/>
                  </a:stretch>
                </a:blipFill>
              </p:spPr>
              <p:txBody>
                <a:bodyPr/>
                <a:lstStyle/>
                <a:p>
                  <a:r>
                    <a:rPr lang="vi-VN">
                      <a:noFill/>
                    </a:rPr>
                    <a:t> </a:t>
                  </a:r>
                </a:p>
              </p:txBody>
            </p:sp>
          </mc:Fallback>
        </mc:AlternateContent>
        <p:grpSp>
          <p:nvGrpSpPr>
            <p:cNvPr id="9" name="Group 8">
              <a:extLst>
                <a:ext uri="{FF2B5EF4-FFF2-40B4-BE49-F238E27FC236}">
                  <a16:creationId xmlns:a16="http://schemas.microsoft.com/office/drawing/2014/main" id="{6D59205D-9C8E-7DC8-F20A-1899E303ABAD}"/>
                </a:ext>
              </a:extLst>
            </p:cNvPr>
            <p:cNvGrpSpPr/>
            <p:nvPr/>
          </p:nvGrpSpPr>
          <p:grpSpPr>
            <a:xfrm>
              <a:off x="6379647" y="2835670"/>
              <a:ext cx="4504163" cy="3651868"/>
              <a:chOff x="3101788" y="2590800"/>
              <a:chExt cx="4504163" cy="3651868"/>
            </a:xfrm>
          </p:grpSpPr>
          <p:sp>
            <p:nvSpPr>
              <p:cNvPr id="10" name="Oval 9">
                <a:extLst>
                  <a:ext uri="{FF2B5EF4-FFF2-40B4-BE49-F238E27FC236}">
                    <a16:creationId xmlns:a16="http://schemas.microsoft.com/office/drawing/2014/main" id="{38AA13CA-AE2A-F10A-C984-883965BAFA25}"/>
                  </a:ext>
                </a:extLst>
              </p:cNvPr>
              <p:cNvSpPr/>
              <p:nvPr/>
            </p:nvSpPr>
            <p:spPr>
              <a:xfrm>
                <a:off x="3765176" y="292249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endParaRPr lang="vi-VN" dirty="0"/>
              </a:p>
            </p:txBody>
          </p:sp>
          <p:sp>
            <p:nvSpPr>
              <p:cNvPr id="11" name="Oval 10">
                <a:extLst>
                  <a:ext uri="{FF2B5EF4-FFF2-40B4-BE49-F238E27FC236}">
                    <a16:creationId xmlns:a16="http://schemas.microsoft.com/office/drawing/2014/main" id="{6B33C325-1AE2-17EF-4E3A-2D74956FFCE0}"/>
                  </a:ext>
                </a:extLst>
              </p:cNvPr>
              <p:cNvSpPr/>
              <p:nvPr/>
            </p:nvSpPr>
            <p:spPr>
              <a:xfrm>
                <a:off x="3101788" y="436925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endParaRPr lang="vi-VN" dirty="0"/>
              </a:p>
            </p:txBody>
          </p:sp>
          <p:sp>
            <p:nvSpPr>
              <p:cNvPr id="13" name="Oval 12">
                <a:extLst>
                  <a:ext uri="{FF2B5EF4-FFF2-40B4-BE49-F238E27FC236}">
                    <a16:creationId xmlns:a16="http://schemas.microsoft.com/office/drawing/2014/main" id="{3978A74A-915C-01F5-7D09-EB30771FB3BC}"/>
                  </a:ext>
                </a:extLst>
              </p:cNvPr>
              <p:cNvSpPr/>
              <p:nvPr/>
            </p:nvSpPr>
            <p:spPr>
              <a:xfrm>
                <a:off x="5602940" y="2590800"/>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endParaRPr lang="vi-VN" dirty="0"/>
              </a:p>
            </p:txBody>
          </p:sp>
          <p:sp>
            <p:nvSpPr>
              <p:cNvPr id="15" name="Oval 14">
                <a:extLst>
                  <a:ext uri="{FF2B5EF4-FFF2-40B4-BE49-F238E27FC236}">
                    <a16:creationId xmlns:a16="http://schemas.microsoft.com/office/drawing/2014/main" id="{6682E3AF-C57E-15CF-708F-0A88701E28E2}"/>
                  </a:ext>
                </a:extLst>
              </p:cNvPr>
              <p:cNvSpPr/>
              <p:nvPr/>
            </p:nvSpPr>
            <p:spPr>
              <a:xfrm>
                <a:off x="5054635" y="379530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endParaRPr lang="vi-VN" dirty="0"/>
              </a:p>
            </p:txBody>
          </p:sp>
          <p:sp>
            <p:nvSpPr>
              <p:cNvPr id="16" name="Oval 15">
                <a:extLst>
                  <a:ext uri="{FF2B5EF4-FFF2-40B4-BE49-F238E27FC236}">
                    <a16:creationId xmlns:a16="http://schemas.microsoft.com/office/drawing/2014/main" id="{6581F55D-DDFB-8F30-6202-EA9967487616}"/>
                  </a:ext>
                </a:extLst>
              </p:cNvPr>
              <p:cNvSpPr/>
              <p:nvPr/>
            </p:nvSpPr>
            <p:spPr>
              <a:xfrm>
                <a:off x="5941057" y="524758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endParaRPr lang="vi-VN" dirty="0"/>
              </a:p>
            </p:txBody>
          </p:sp>
          <p:sp>
            <p:nvSpPr>
              <p:cNvPr id="19" name="Oval 18">
                <a:extLst>
                  <a:ext uri="{FF2B5EF4-FFF2-40B4-BE49-F238E27FC236}">
                    <a16:creationId xmlns:a16="http://schemas.microsoft.com/office/drawing/2014/main" id="{B10D5CE3-DE34-45D7-AEA5-ED1D56B8DE7C}"/>
                  </a:ext>
                </a:extLst>
              </p:cNvPr>
              <p:cNvSpPr/>
              <p:nvPr/>
            </p:nvSpPr>
            <p:spPr>
              <a:xfrm>
                <a:off x="6942563" y="3595109"/>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endParaRPr lang="vi-VN" dirty="0"/>
              </a:p>
            </p:txBody>
          </p:sp>
          <p:cxnSp>
            <p:nvCxnSpPr>
              <p:cNvPr id="20" name="Straight Connector 19">
                <a:extLst>
                  <a:ext uri="{FF2B5EF4-FFF2-40B4-BE49-F238E27FC236}">
                    <a16:creationId xmlns:a16="http://schemas.microsoft.com/office/drawing/2014/main" id="{EDACCB07-CFC0-559B-3517-473204B4C359}"/>
                  </a:ext>
                </a:extLst>
              </p:cNvPr>
              <p:cNvCxnSpPr>
                <a:stCxn id="10" idx="5"/>
                <a:endCxn id="15" idx="1"/>
              </p:cNvCxnSpPr>
              <p:nvPr/>
            </p:nvCxnSpPr>
            <p:spPr>
              <a:xfrm>
                <a:off x="4331413" y="3488731"/>
                <a:ext cx="820373" cy="403724"/>
              </a:xfrm>
              <a:prstGeom prst="line">
                <a:avLst/>
              </a:prstGeom>
              <a:ln/>
            </p:spPr>
            <p:style>
              <a:lnRef idx="3">
                <a:schemeClr val="dk1"/>
              </a:lnRef>
              <a:fillRef idx="0">
                <a:schemeClr val="dk1"/>
              </a:fillRef>
              <a:effectRef idx="2">
                <a:schemeClr val="dk1"/>
              </a:effectRef>
              <a:fontRef idx="minor">
                <a:schemeClr val="tx1"/>
              </a:fontRef>
            </p:style>
          </p:cxnSp>
          <p:cxnSp>
            <p:nvCxnSpPr>
              <p:cNvPr id="21" name="Straight Connector 20">
                <a:extLst>
                  <a:ext uri="{FF2B5EF4-FFF2-40B4-BE49-F238E27FC236}">
                    <a16:creationId xmlns:a16="http://schemas.microsoft.com/office/drawing/2014/main" id="{7D751FAC-C028-1A48-03E4-4B7832145AA0}"/>
                  </a:ext>
                </a:extLst>
              </p:cNvPr>
              <p:cNvCxnSpPr>
                <a:cxnSpLocks/>
                <a:stCxn id="10" idx="7"/>
                <a:endCxn id="13" idx="2"/>
              </p:cNvCxnSpPr>
              <p:nvPr/>
            </p:nvCxnSpPr>
            <p:spPr>
              <a:xfrm flipV="1">
                <a:off x="4331413" y="2922494"/>
                <a:ext cx="1271527" cy="97151"/>
              </a:xfrm>
              <a:prstGeom prst="line">
                <a:avLst/>
              </a:prstGeom>
            </p:spPr>
            <p:style>
              <a:lnRef idx="3">
                <a:schemeClr val="dk1"/>
              </a:lnRef>
              <a:fillRef idx="0">
                <a:schemeClr val="dk1"/>
              </a:fillRef>
              <a:effectRef idx="2">
                <a:schemeClr val="dk1"/>
              </a:effectRef>
              <a:fontRef idx="minor">
                <a:schemeClr val="tx1"/>
              </a:fontRef>
            </p:style>
          </p:cxnSp>
          <p:cxnSp>
            <p:nvCxnSpPr>
              <p:cNvPr id="29" name="Straight Connector 28">
                <a:extLst>
                  <a:ext uri="{FF2B5EF4-FFF2-40B4-BE49-F238E27FC236}">
                    <a16:creationId xmlns:a16="http://schemas.microsoft.com/office/drawing/2014/main" id="{282EC492-C871-B0B9-0B00-9737DB04433C}"/>
                  </a:ext>
                </a:extLst>
              </p:cNvPr>
              <p:cNvCxnSpPr>
                <a:cxnSpLocks/>
                <a:stCxn id="13" idx="5"/>
                <a:endCxn id="19" idx="1"/>
              </p:cNvCxnSpPr>
              <p:nvPr/>
            </p:nvCxnSpPr>
            <p:spPr>
              <a:xfrm>
                <a:off x="6169177" y="3157037"/>
                <a:ext cx="870537" cy="535223"/>
              </a:xfrm>
              <a:prstGeom prst="line">
                <a:avLst/>
              </a:prstGeom>
            </p:spPr>
            <p:style>
              <a:lnRef idx="3">
                <a:schemeClr val="dk1"/>
              </a:lnRef>
              <a:fillRef idx="0">
                <a:schemeClr val="dk1"/>
              </a:fillRef>
              <a:effectRef idx="2">
                <a:schemeClr val="dk1"/>
              </a:effectRef>
              <a:fontRef idx="minor">
                <a:schemeClr val="tx1"/>
              </a:fontRef>
            </p:style>
          </p:cxnSp>
          <p:cxnSp>
            <p:nvCxnSpPr>
              <p:cNvPr id="36" name="Straight Connector 35">
                <a:extLst>
                  <a:ext uri="{FF2B5EF4-FFF2-40B4-BE49-F238E27FC236}">
                    <a16:creationId xmlns:a16="http://schemas.microsoft.com/office/drawing/2014/main" id="{7978DB49-22DC-DB31-359B-1E73500ED8F7}"/>
                  </a:ext>
                </a:extLst>
              </p:cNvPr>
              <p:cNvCxnSpPr>
                <a:cxnSpLocks/>
                <a:stCxn id="19" idx="4"/>
                <a:endCxn id="16" idx="7"/>
              </p:cNvCxnSpPr>
              <p:nvPr/>
            </p:nvCxnSpPr>
            <p:spPr>
              <a:xfrm flipH="1">
                <a:off x="6507294" y="4258497"/>
                <a:ext cx="766963" cy="1086240"/>
              </a:xfrm>
              <a:prstGeom prst="line">
                <a:avLst/>
              </a:prstGeom>
            </p:spPr>
            <p:style>
              <a:lnRef idx="3">
                <a:schemeClr val="dk1"/>
              </a:lnRef>
              <a:fillRef idx="0">
                <a:schemeClr val="dk1"/>
              </a:fillRef>
              <a:effectRef idx="2">
                <a:schemeClr val="dk1"/>
              </a:effectRef>
              <a:fontRef idx="minor">
                <a:schemeClr val="tx1"/>
              </a:fontRef>
            </p:style>
          </p:cxnSp>
          <p:cxnSp>
            <p:nvCxnSpPr>
              <p:cNvPr id="39" name="Straight Connector 38">
                <a:extLst>
                  <a:ext uri="{FF2B5EF4-FFF2-40B4-BE49-F238E27FC236}">
                    <a16:creationId xmlns:a16="http://schemas.microsoft.com/office/drawing/2014/main" id="{1813B58A-6D78-21C8-4A6A-3843BCDE2BAE}"/>
                  </a:ext>
                </a:extLst>
              </p:cNvPr>
              <p:cNvCxnSpPr>
                <a:cxnSpLocks/>
                <a:stCxn id="11" idx="6"/>
                <a:endCxn id="16" idx="2"/>
              </p:cNvCxnSpPr>
              <p:nvPr/>
            </p:nvCxnSpPr>
            <p:spPr>
              <a:xfrm>
                <a:off x="3765176" y="4700950"/>
                <a:ext cx="2175881" cy="878330"/>
              </a:xfrm>
              <a:prstGeom prst="line">
                <a:avLst/>
              </a:prstGeom>
            </p:spPr>
            <p:style>
              <a:lnRef idx="3">
                <a:schemeClr val="dk1"/>
              </a:lnRef>
              <a:fillRef idx="0">
                <a:schemeClr val="dk1"/>
              </a:fillRef>
              <a:effectRef idx="2">
                <a:schemeClr val="dk1"/>
              </a:effectRef>
              <a:fontRef idx="minor">
                <a:schemeClr val="tx1"/>
              </a:fontRef>
            </p:style>
          </p:cxnSp>
          <p:cxnSp>
            <p:nvCxnSpPr>
              <p:cNvPr id="40" name="Straight Connector 39">
                <a:extLst>
                  <a:ext uri="{FF2B5EF4-FFF2-40B4-BE49-F238E27FC236}">
                    <a16:creationId xmlns:a16="http://schemas.microsoft.com/office/drawing/2014/main" id="{BF412160-C42F-96EA-D6DC-F1EBE0108C7B}"/>
                  </a:ext>
                </a:extLst>
              </p:cNvPr>
              <p:cNvCxnSpPr>
                <a:cxnSpLocks/>
                <a:stCxn id="15" idx="5"/>
                <a:endCxn id="16" idx="1"/>
              </p:cNvCxnSpPr>
              <p:nvPr/>
            </p:nvCxnSpPr>
            <p:spPr>
              <a:xfrm>
                <a:off x="5620872" y="4361541"/>
                <a:ext cx="417336" cy="983196"/>
              </a:xfrm>
              <a:prstGeom prst="line">
                <a:avLst/>
              </a:prstGeom>
            </p:spPr>
            <p:style>
              <a:lnRef idx="3">
                <a:schemeClr val="dk1"/>
              </a:lnRef>
              <a:fillRef idx="0">
                <a:schemeClr val="dk1"/>
              </a:fillRef>
              <a:effectRef idx="2">
                <a:schemeClr val="dk1"/>
              </a:effectRef>
              <a:fontRef idx="minor">
                <a:schemeClr val="tx1"/>
              </a:fontRef>
            </p:style>
          </p:cxnSp>
          <p:cxnSp>
            <p:nvCxnSpPr>
              <p:cNvPr id="41" name="Straight Connector 40">
                <a:extLst>
                  <a:ext uri="{FF2B5EF4-FFF2-40B4-BE49-F238E27FC236}">
                    <a16:creationId xmlns:a16="http://schemas.microsoft.com/office/drawing/2014/main" id="{59EE1811-3E7A-397C-0F9A-E68FE7980420}"/>
                  </a:ext>
                </a:extLst>
              </p:cNvPr>
              <p:cNvCxnSpPr>
                <a:cxnSpLocks/>
                <a:stCxn id="10" idx="3"/>
                <a:endCxn id="11" idx="0"/>
              </p:cNvCxnSpPr>
              <p:nvPr/>
            </p:nvCxnSpPr>
            <p:spPr>
              <a:xfrm flipH="1">
                <a:off x="3433482" y="3488731"/>
                <a:ext cx="428845" cy="880525"/>
              </a:xfrm>
              <a:prstGeom prst="line">
                <a:avLst/>
              </a:prstGeom>
            </p:spPr>
            <p:style>
              <a:lnRef idx="3">
                <a:schemeClr val="dk1"/>
              </a:lnRef>
              <a:fillRef idx="0">
                <a:schemeClr val="dk1"/>
              </a:fillRef>
              <a:effectRef idx="2">
                <a:schemeClr val="dk1"/>
              </a:effectRef>
              <a:fontRef idx="minor">
                <a:schemeClr val="tx1"/>
              </a:fontRef>
            </p:style>
          </p:cxnSp>
          <p:cxnSp>
            <p:nvCxnSpPr>
              <p:cNvPr id="42" name="Straight Connector 41">
                <a:extLst>
                  <a:ext uri="{FF2B5EF4-FFF2-40B4-BE49-F238E27FC236}">
                    <a16:creationId xmlns:a16="http://schemas.microsoft.com/office/drawing/2014/main" id="{3066A19A-4213-0A05-EFF9-A1A447E54603}"/>
                  </a:ext>
                </a:extLst>
              </p:cNvPr>
              <p:cNvCxnSpPr>
                <a:cxnSpLocks/>
                <a:stCxn id="15" idx="2"/>
                <a:endCxn id="11" idx="7"/>
              </p:cNvCxnSpPr>
              <p:nvPr/>
            </p:nvCxnSpPr>
            <p:spPr>
              <a:xfrm flipH="1">
                <a:off x="3668025" y="4126998"/>
                <a:ext cx="1386610" cy="339409"/>
              </a:xfrm>
              <a:prstGeom prst="line">
                <a:avLst/>
              </a:prstGeom>
            </p:spPr>
            <p:style>
              <a:lnRef idx="3">
                <a:schemeClr val="dk1"/>
              </a:lnRef>
              <a:fillRef idx="0">
                <a:schemeClr val="dk1"/>
              </a:fillRef>
              <a:effectRef idx="2">
                <a:schemeClr val="dk1"/>
              </a:effectRef>
              <a:fontRef idx="minor">
                <a:schemeClr val="tx1"/>
              </a:fontRef>
            </p:style>
          </p:cxnSp>
          <p:cxnSp>
            <p:nvCxnSpPr>
              <p:cNvPr id="43" name="Straight Connector 42">
                <a:extLst>
                  <a:ext uri="{FF2B5EF4-FFF2-40B4-BE49-F238E27FC236}">
                    <a16:creationId xmlns:a16="http://schemas.microsoft.com/office/drawing/2014/main" id="{DFC9DD02-47D8-9C5B-2E2A-A0068DA9695E}"/>
                  </a:ext>
                </a:extLst>
              </p:cNvPr>
              <p:cNvCxnSpPr>
                <a:cxnSpLocks/>
                <a:stCxn id="15" idx="6"/>
                <a:endCxn id="19" idx="2"/>
              </p:cNvCxnSpPr>
              <p:nvPr/>
            </p:nvCxnSpPr>
            <p:spPr>
              <a:xfrm flipV="1">
                <a:off x="5718023" y="3926803"/>
                <a:ext cx="1224540" cy="200195"/>
              </a:xfrm>
              <a:prstGeom prst="line">
                <a:avLst/>
              </a:prstGeom>
            </p:spPr>
            <p:style>
              <a:lnRef idx="3">
                <a:schemeClr val="dk1"/>
              </a:lnRef>
              <a:fillRef idx="0">
                <a:schemeClr val="dk1"/>
              </a:fillRef>
              <a:effectRef idx="2">
                <a:schemeClr val="dk1"/>
              </a:effectRef>
              <a:fontRef idx="minor">
                <a:schemeClr val="tx1"/>
              </a:fontRef>
            </p:style>
          </p:cxnSp>
          <p:sp>
            <p:nvSpPr>
              <p:cNvPr id="45" name="Oval 44">
                <a:extLst>
                  <a:ext uri="{FF2B5EF4-FFF2-40B4-BE49-F238E27FC236}">
                    <a16:creationId xmlns:a16="http://schemas.microsoft.com/office/drawing/2014/main" id="{F8D3327A-DF36-CA47-571A-04241AF83F1C}"/>
                  </a:ext>
                </a:extLst>
              </p:cNvPr>
              <p:cNvSpPr/>
              <p:nvPr/>
            </p:nvSpPr>
            <p:spPr>
              <a:xfrm>
                <a:off x="3789859" y="5579280"/>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a:t>
                </a:r>
                <a:endParaRPr lang="vi-VN" dirty="0"/>
              </a:p>
            </p:txBody>
          </p:sp>
        </p:grpSp>
        <p:sp>
          <p:nvSpPr>
            <p:cNvPr id="22" name="TextBox 21">
              <a:extLst>
                <a:ext uri="{FF2B5EF4-FFF2-40B4-BE49-F238E27FC236}">
                  <a16:creationId xmlns:a16="http://schemas.microsoft.com/office/drawing/2014/main" id="{2462BCC2-D549-6895-7017-7D21F2028C05}"/>
                </a:ext>
              </a:extLst>
            </p:cNvPr>
            <p:cNvSpPr txBox="1"/>
            <p:nvPr/>
          </p:nvSpPr>
          <p:spPr>
            <a:xfrm>
              <a:off x="8045775" y="2693359"/>
              <a:ext cx="518453" cy="369332"/>
            </a:xfrm>
            <a:prstGeom prst="rect">
              <a:avLst/>
            </a:prstGeom>
            <a:noFill/>
          </p:spPr>
          <p:txBody>
            <a:bodyPr wrap="square" rtlCol="0">
              <a:spAutoFit/>
            </a:bodyPr>
            <a:lstStyle/>
            <a:p>
              <a:r>
                <a:rPr lang="en-US" dirty="0"/>
                <a:t>E</a:t>
              </a:r>
              <a:endParaRPr lang="vi-VN" dirty="0"/>
            </a:p>
          </p:txBody>
        </p:sp>
      </p:grpSp>
      <p:cxnSp>
        <p:nvCxnSpPr>
          <p:cNvPr id="47" name="Straight Arrow Connector 46">
            <a:extLst>
              <a:ext uri="{FF2B5EF4-FFF2-40B4-BE49-F238E27FC236}">
                <a16:creationId xmlns:a16="http://schemas.microsoft.com/office/drawing/2014/main" id="{E9A04E42-1FD1-7B9E-4CB1-95A94361AB3C}"/>
              </a:ext>
            </a:extLst>
          </p:cNvPr>
          <p:cNvCxnSpPr>
            <a:stCxn id="45" idx="7"/>
            <a:endCxn id="15" idx="3"/>
          </p:cNvCxnSpPr>
          <p:nvPr/>
        </p:nvCxnSpPr>
        <p:spPr>
          <a:xfrm flipV="1">
            <a:off x="9489648" y="4253916"/>
            <a:ext cx="795690" cy="1314890"/>
          </a:xfrm>
          <a:prstGeom prst="straightConnector1">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CCCC04CF-3DA4-0980-0813-71B2B0E685F6}"/>
              </a:ext>
            </a:extLst>
          </p:cNvPr>
          <p:cNvCxnSpPr>
            <a:cxnSpLocks/>
            <a:stCxn id="13" idx="3"/>
            <a:endCxn id="15" idx="0"/>
          </p:cNvCxnSpPr>
          <p:nvPr/>
        </p:nvCxnSpPr>
        <p:spPr>
          <a:xfrm flipH="1">
            <a:off x="10519881" y="3049412"/>
            <a:ext cx="313762" cy="638267"/>
          </a:xfrm>
          <a:prstGeom prst="straightConnector1">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428156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678FADB-6C5E-B314-446F-916E081E62F2}"/>
              </a:ext>
            </a:extLst>
          </p:cNvPr>
          <p:cNvSpPr>
            <a:spLocks noGrp="1"/>
          </p:cNvSpPr>
          <p:nvPr>
            <p:ph type="title"/>
          </p:nvPr>
        </p:nvSpPr>
        <p:spPr/>
        <p:txBody>
          <a:bodyPr/>
          <a:lstStyle/>
          <a:p>
            <a:r>
              <a:rPr lang="vi-VN" dirty="0"/>
              <a:t>2. Thuật toán</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4E8D639F-F6D6-8693-6F29-FFDB59A65EA7}"/>
                  </a:ext>
                </a:extLst>
              </p:cNvPr>
              <p:cNvSpPr>
                <a:spLocks noGrp="1"/>
              </p:cNvSpPr>
              <p:nvPr>
                <p:ph idx="1"/>
              </p:nvPr>
            </p:nvSpPr>
            <p:spPr/>
            <p:txBody>
              <a:bodyPr anchor="t">
                <a:normAutofit/>
              </a:bodyPr>
              <a:lstStyle/>
              <a:p>
                <a:pPr marL="0" indent="0">
                  <a:buNone/>
                </a:pPr>
                <a:r>
                  <a:rPr lang="vi-VN" sz="1600" dirty="0"/>
                  <a:t>Giải thích: </a:t>
                </a:r>
              </a:p>
              <a:p>
                <a:pPr marL="342900" indent="-342900">
                  <a:buFont typeface="+mj-lt"/>
                  <a:buAutoNum type="arabicPeriod"/>
                </a:pPr>
                <a:r>
                  <a:rPr lang="vi-VN" sz="1600" dirty="0"/>
                  <a:t>Khoảng cách </a:t>
                </a:r>
                <a:r>
                  <a:rPr lang="vi-VN" sz="1600" dirty="0" err="1"/>
                  <a:t>Euclidean</a:t>
                </a:r>
                <a:r>
                  <a:rPr lang="vi-VN" sz="1600" dirty="0"/>
                  <a:t>: Đây là khoảng cách giữa hai điểm trong không gian. Nếu ta có hai điểm A</a:t>
                </a:r>
                <a14:m>
                  <m:oMath xmlns:m="http://schemas.openxmlformats.org/officeDocument/2006/math">
                    <m:r>
                      <a:rPr lang="vi-VN" sz="1600" i="1" dirty="0" smtClean="0">
                        <a:latin typeface="Cambria Math" panose="02040503050406030204" pitchFamily="18" charset="0"/>
                      </a:rPr>
                      <m:t>(</m:t>
                    </m:r>
                    <m:sSub>
                      <m:sSubPr>
                        <m:ctrlPr>
                          <a:rPr lang="vi-VN" sz="1600" i="1" dirty="0" smtClean="0">
                            <a:latin typeface="Cambria Math" panose="02040503050406030204" pitchFamily="18" charset="0"/>
                          </a:rPr>
                        </m:ctrlPr>
                      </m:sSubPr>
                      <m:e>
                        <m:r>
                          <a:rPr lang="vi-VN" sz="1600" i="1" dirty="0" smtClean="0">
                            <a:latin typeface="Cambria Math" panose="02040503050406030204" pitchFamily="18" charset="0"/>
                          </a:rPr>
                          <m:t>𝑥</m:t>
                        </m:r>
                      </m:e>
                      <m:sub>
                        <m:r>
                          <a:rPr lang="vi-VN" sz="1600" i="1" dirty="0" smtClean="0">
                            <a:latin typeface="Cambria Math" panose="02040503050406030204" pitchFamily="18" charset="0"/>
                          </a:rPr>
                          <m:t>1</m:t>
                        </m:r>
                      </m:sub>
                    </m:sSub>
                    <m:r>
                      <a:rPr lang="vi-VN" sz="1600" i="1" dirty="0" smtClean="0">
                        <a:latin typeface="Cambria Math" panose="02040503050406030204" pitchFamily="18" charset="0"/>
                      </a:rPr>
                      <m:t>, </m:t>
                    </m:r>
                    <m:sSub>
                      <m:sSubPr>
                        <m:ctrlPr>
                          <a:rPr lang="vi-VN" sz="1600" i="1" dirty="0" smtClean="0">
                            <a:latin typeface="Cambria Math" panose="02040503050406030204" pitchFamily="18" charset="0"/>
                          </a:rPr>
                        </m:ctrlPr>
                      </m:sSubPr>
                      <m:e>
                        <m:r>
                          <a:rPr lang="vi-VN" sz="1600" i="1" dirty="0" smtClean="0">
                            <a:latin typeface="Cambria Math" panose="02040503050406030204" pitchFamily="18" charset="0"/>
                          </a:rPr>
                          <m:t>𝑦</m:t>
                        </m:r>
                      </m:e>
                      <m:sub>
                        <m:r>
                          <a:rPr lang="vi-VN" sz="1600" i="1" dirty="0" smtClean="0">
                            <a:latin typeface="Cambria Math" panose="02040503050406030204" pitchFamily="18" charset="0"/>
                          </a:rPr>
                          <m:t>1</m:t>
                        </m:r>
                      </m:sub>
                    </m:sSub>
                  </m:oMath>
                </a14:m>
                <a:r>
                  <a:rPr lang="vi-VN" sz="1600" dirty="0"/>
                  <a:t>) và B(</a:t>
                </a:r>
                <a14:m>
                  <m:oMath xmlns:m="http://schemas.openxmlformats.org/officeDocument/2006/math">
                    <m:sSub>
                      <m:sSubPr>
                        <m:ctrlPr>
                          <a:rPr lang="vi-VN" sz="1600" i="1" dirty="0" smtClean="0">
                            <a:latin typeface="Cambria Math" panose="02040503050406030204" pitchFamily="18" charset="0"/>
                          </a:rPr>
                        </m:ctrlPr>
                      </m:sSubPr>
                      <m:e>
                        <m:r>
                          <a:rPr lang="vi-VN" sz="1600" i="1" dirty="0" smtClean="0">
                            <a:latin typeface="Cambria Math" panose="02040503050406030204" pitchFamily="18" charset="0"/>
                          </a:rPr>
                          <m:t>𝑥</m:t>
                        </m:r>
                      </m:e>
                      <m:sub>
                        <m:r>
                          <a:rPr lang="vi-VN" sz="1600" i="1" dirty="0" smtClean="0">
                            <a:latin typeface="Cambria Math" panose="02040503050406030204" pitchFamily="18" charset="0"/>
                          </a:rPr>
                          <m:t>2</m:t>
                        </m:r>
                      </m:sub>
                    </m:sSub>
                    <m:r>
                      <a:rPr lang="vi-VN" sz="1600" i="1" dirty="0" smtClean="0">
                        <a:latin typeface="Cambria Math" panose="02040503050406030204" pitchFamily="18" charset="0"/>
                      </a:rPr>
                      <m:t>, </m:t>
                    </m:r>
                    <m:sSub>
                      <m:sSubPr>
                        <m:ctrlPr>
                          <a:rPr lang="vi-VN" sz="1600" i="1" dirty="0" smtClean="0">
                            <a:latin typeface="Cambria Math" panose="02040503050406030204" pitchFamily="18" charset="0"/>
                          </a:rPr>
                        </m:ctrlPr>
                      </m:sSubPr>
                      <m:e>
                        <m:r>
                          <a:rPr lang="vi-VN" sz="1600" i="1" dirty="0" smtClean="0">
                            <a:latin typeface="Cambria Math" panose="02040503050406030204" pitchFamily="18" charset="0"/>
                          </a:rPr>
                          <m:t>𝑦</m:t>
                        </m:r>
                      </m:e>
                      <m:sub>
                        <m:r>
                          <a:rPr lang="vi-VN" sz="1600" i="1" dirty="0" smtClean="0">
                            <a:latin typeface="Cambria Math" panose="02040503050406030204" pitchFamily="18" charset="0"/>
                          </a:rPr>
                          <m:t>2</m:t>
                        </m:r>
                      </m:sub>
                    </m:sSub>
                  </m:oMath>
                </a14:m>
                <a:r>
                  <a:rPr lang="vi-VN" sz="1600" dirty="0"/>
                  <a:t>), khoảng cách này được tính bằng công thức: </a:t>
                </a:r>
                <a14:m>
                  <m:oMath xmlns:m="http://schemas.openxmlformats.org/officeDocument/2006/math">
                    <m:rad>
                      <m:radPr>
                        <m:degHide m:val="on"/>
                        <m:ctrlPr>
                          <a:rPr lang="vi-VN" sz="1600" b="0" i="1" dirty="0" smtClean="0">
                            <a:latin typeface="Cambria Math" panose="02040503050406030204" pitchFamily="18" charset="0"/>
                          </a:rPr>
                        </m:ctrlPr>
                      </m:radPr>
                      <m:deg/>
                      <m:e>
                        <m:sSup>
                          <m:sSupPr>
                            <m:ctrlPr>
                              <a:rPr lang="vi-VN" sz="1600" b="0" i="1" dirty="0" smtClean="0">
                                <a:latin typeface="Cambria Math" panose="02040503050406030204" pitchFamily="18" charset="0"/>
                              </a:rPr>
                            </m:ctrlPr>
                          </m:sSupPr>
                          <m:e>
                            <m:d>
                              <m:dPr>
                                <m:ctrlPr>
                                  <a:rPr lang="vi-VN" sz="1600" b="0" i="1" dirty="0" smtClean="0">
                                    <a:latin typeface="Cambria Math" panose="02040503050406030204" pitchFamily="18" charset="0"/>
                                  </a:rPr>
                                </m:ctrlPr>
                              </m:dPr>
                              <m:e>
                                <m:sSub>
                                  <m:sSubPr>
                                    <m:ctrlPr>
                                      <a:rPr lang="vi-VN" sz="1600" b="0" i="1" dirty="0" smtClean="0">
                                        <a:latin typeface="Cambria Math" panose="02040503050406030204" pitchFamily="18" charset="0"/>
                                      </a:rPr>
                                    </m:ctrlPr>
                                  </m:sSubPr>
                                  <m:e>
                                    <m:r>
                                      <m:rPr>
                                        <m:sty m:val="p"/>
                                      </m:rPr>
                                      <a:rPr lang="vi-VN" sz="1600" i="1" dirty="0">
                                        <a:latin typeface="Cambria Math" panose="02040503050406030204" pitchFamily="18" charset="0"/>
                                      </a:rPr>
                                      <m:t>x</m:t>
                                    </m:r>
                                  </m:e>
                                  <m:sub>
                                    <m:r>
                                      <a:rPr lang="vi-VN" sz="1600" i="1" dirty="0">
                                        <a:latin typeface="Cambria Math" panose="02040503050406030204" pitchFamily="18" charset="0"/>
                                      </a:rPr>
                                      <m:t>2</m:t>
                                    </m:r>
                                  </m:sub>
                                </m:sSub>
                                <m:r>
                                  <a:rPr lang="vi-VN" sz="1600" b="0" i="1" dirty="0" smtClean="0">
                                    <a:latin typeface="Cambria Math" panose="02040503050406030204" pitchFamily="18" charset="0"/>
                                  </a:rPr>
                                  <m:t> − </m:t>
                                </m:r>
                                <m:sSub>
                                  <m:sSubPr>
                                    <m:ctrlPr>
                                      <a:rPr lang="vi-VN" sz="1600" b="0" i="1" dirty="0" smtClean="0">
                                        <a:latin typeface="Cambria Math" panose="02040503050406030204" pitchFamily="18" charset="0"/>
                                      </a:rPr>
                                    </m:ctrlPr>
                                  </m:sSubPr>
                                  <m:e>
                                    <m:r>
                                      <m:rPr>
                                        <m:sty m:val="p"/>
                                      </m:rPr>
                                      <a:rPr lang="vi-VN" sz="1600" i="1" dirty="0">
                                        <a:latin typeface="Cambria Math" panose="02040503050406030204" pitchFamily="18" charset="0"/>
                                      </a:rPr>
                                      <m:t>x</m:t>
                                    </m:r>
                                  </m:e>
                                  <m:sub>
                                    <m:r>
                                      <a:rPr lang="vi-VN" sz="1600" i="1" dirty="0">
                                        <a:latin typeface="Cambria Math" panose="02040503050406030204" pitchFamily="18" charset="0"/>
                                      </a:rPr>
                                      <m:t>1</m:t>
                                    </m:r>
                                  </m:sub>
                                </m:sSub>
                              </m:e>
                            </m:d>
                          </m:e>
                          <m:sup>
                            <m:r>
                              <a:rPr lang="vi-VN" sz="1600" i="1" dirty="0">
                                <a:latin typeface="Cambria Math" panose="02040503050406030204" pitchFamily="18" charset="0"/>
                              </a:rPr>
                              <m:t>2</m:t>
                            </m:r>
                          </m:sup>
                        </m:sSup>
                        <m:r>
                          <a:rPr lang="vi-VN" sz="1600" b="0" i="1" dirty="0" smtClean="0">
                            <a:latin typeface="Cambria Math" panose="02040503050406030204" pitchFamily="18" charset="0"/>
                          </a:rPr>
                          <m:t>+</m:t>
                        </m:r>
                        <m:sSup>
                          <m:sSupPr>
                            <m:ctrlPr>
                              <a:rPr lang="vi-VN" sz="1600" b="0" i="1" dirty="0" smtClean="0">
                                <a:latin typeface="Cambria Math" panose="02040503050406030204" pitchFamily="18" charset="0"/>
                              </a:rPr>
                            </m:ctrlPr>
                          </m:sSupPr>
                          <m:e>
                            <m:d>
                              <m:dPr>
                                <m:ctrlPr>
                                  <a:rPr lang="vi-VN" sz="1600" b="0" i="1" dirty="0" smtClean="0">
                                    <a:latin typeface="Cambria Math" panose="02040503050406030204" pitchFamily="18" charset="0"/>
                                  </a:rPr>
                                </m:ctrlPr>
                              </m:dPr>
                              <m:e>
                                <m:sSub>
                                  <m:sSubPr>
                                    <m:ctrlPr>
                                      <a:rPr lang="vi-VN" sz="1600" b="0" i="1" dirty="0" smtClean="0">
                                        <a:latin typeface="Cambria Math" panose="02040503050406030204" pitchFamily="18" charset="0"/>
                                      </a:rPr>
                                    </m:ctrlPr>
                                  </m:sSubPr>
                                  <m:e>
                                    <m:r>
                                      <m:rPr>
                                        <m:sty m:val="p"/>
                                      </m:rPr>
                                      <a:rPr lang="vi-VN" sz="1600" i="1" dirty="0">
                                        <a:latin typeface="Cambria Math" panose="02040503050406030204" pitchFamily="18" charset="0"/>
                                      </a:rPr>
                                      <m:t>y</m:t>
                                    </m:r>
                                  </m:e>
                                  <m:sub>
                                    <m:r>
                                      <a:rPr lang="vi-VN" sz="1600" i="1" dirty="0">
                                        <a:latin typeface="Cambria Math" panose="02040503050406030204" pitchFamily="18" charset="0"/>
                                      </a:rPr>
                                      <m:t>2</m:t>
                                    </m:r>
                                  </m:sub>
                                </m:sSub>
                                <m:r>
                                  <a:rPr lang="vi-VN" sz="1600" b="0" i="1" dirty="0" smtClean="0">
                                    <a:latin typeface="Cambria Math" panose="02040503050406030204" pitchFamily="18" charset="0"/>
                                  </a:rPr>
                                  <m:t>  − </m:t>
                                </m:r>
                                <m:sSub>
                                  <m:sSubPr>
                                    <m:ctrlPr>
                                      <a:rPr lang="vi-VN" sz="1600" b="0" i="1" dirty="0" smtClean="0">
                                        <a:latin typeface="Cambria Math" panose="02040503050406030204" pitchFamily="18" charset="0"/>
                                      </a:rPr>
                                    </m:ctrlPr>
                                  </m:sSubPr>
                                  <m:e>
                                    <m:r>
                                      <m:rPr>
                                        <m:sty m:val="p"/>
                                      </m:rPr>
                                      <a:rPr lang="vi-VN" sz="1600" i="1" dirty="0">
                                        <a:latin typeface="Cambria Math" panose="02040503050406030204" pitchFamily="18" charset="0"/>
                                      </a:rPr>
                                      <m:t>y</m:t>
                                    </m:r>
                                  </m:e>
                                  <m:sub>
                                    <m:r>
                                      <a:rPr lang="vi-VN" sz="1600" i="1" dirty="0">
                                        <a:latin typeface="Cambria Math" panose="02040503050406030204" pitchFamily="18" charset="0"/>
                                      </a:rPr>
                                      <m:t>1</m:t>
                                    </m:r>
                                  </m:sub>
                                </m:sSub>
                              </m:e>
                            </m:d>
                          </m:e>
                          <m:sup>
                            <m:r>
                              <a:rPr lang="vi-VN" sz="1600" i="1" dirty="0">
                                <a:latin typeface="Cambria Math" panose="02040503050406030204" pitchFamily="18" charset="0"/>
                              </a:rPr>
                              <m:t>2</m:t>
                            </m:r>
                          </m:sup>
                        </m:sSup>
                      </m:e>
                    </m:rad>
                  </m:oMath>
                </a14:m>
                <a:r>
                  <a:rPr lang="vi-VN" sz="1600" dirty="0"/>
                  <a:t>.</a:t>
                </a:r>
              </a:p>
              <a:p>
                <a:pPr marL="342900" indent="-342900">
                  <a:buFont typeface="+mj-lt"/>
                  <a:buAutoNum type="arabicPeriod"/>
                </a:pPr>
                <a:r>
                  <a:rPr lang="vi-VN" sz="1600" dirty="0"/>
                  <a:t>Hàm chi phí </a:t>
                </a:r>
                <a:r>
                  <a:rPr lang="vi-VN" sz="1600" dirty="0" err="1"/>
                  <a:t>Minimax</a:t>
                </a:r>
                <a:r>
                  <a:rPr lang="vi-VN" sz="1600" dirty="0"/>
                  <a:t>: Bài báo định nghĩa chi phí của một đường đi </a:t>
                </a:r>
                <a14:m>
                  <m:oMath xmlns:m="http://schemas.openxmlformats.org/officeDocument/2006/math">
                    <m:r>
                      <m:rPr>
                        <m:sty m:val="p"/>
                      </m:rPr>
                      <a:rPr lang="vi-VN" sz="1600" i="0" dirty="0" smtClean="0">
                        <a:latin typeface="Cambria Math" panose="02040503050406030204" pitchFamily="18" charset="0"/>
                      </a:rPr>
                      <m:t>Λ</m:t>
                    </m:r>
                    <m:r>
                      <a:rPr lang="vi-VN" sz="1600" i="1" dirty="0" smtClean="0">
                        <a:latin typeface="Cambria Math" panose="02040503050406030204" pitchFamily="18" charset="0"/>
                      </a:rPr>
                      <m:t> </m:t>
                    </m:r>
                  </m:oMath>
                </a14:m>
                <a:r>
                  <a:rPr lang="vi-VN" sz="1600" dirty="0"/>
                  <a:t>là trọng số lớn nhất của cạnh nằm trên đường đi đó. Công thức: </a:t>
                </a:r>
                <a14:m>
                  <m:oMath xmlns:m="http://schemas.openxmlformats.org/officeDocument/2006/math">
                    <m:sSub>
                      <m:sSubPr>
                        <m:ctrlPr>
                          <a:rPr lang="vi-VN" sz="1600" i="1" dirty="0" smtClean="0">
                            <a:latin typeface="Cambria Math" panose="02040503050406030204" pitchFamily="18" charset="0"/>
                          </a:rPr>
                        </m:ctrlPr>
                      </m:sSubPr>
                      <m:e>
                        <m:r>
                          <a:rPr lang="vi-VN" sz="1600" i="1" dirty="0" smtClean="0">
                            <a:latin typeface="Cambria Math" panose="02040503050406030204" pitchFamily="18" charset="0"/>
                          </a:rPr>
                          <m:t>𝜉</m:t>
                        </m:r>
                      </m:e>
                      <m:sub>
                        <m:r>
                          <m:rPr>
                            <m:sty m:val="p"/>
                          </m:rPr>
                          <a:rPr lang="vi-VN" sz="1600" i="1" dirty="0">
                            <a:latin typeface="Cambria Math" panose="02040503050406030204" pitchFamily="18" charset="0"/>
                          </a:rPr>
                          <m:t>inf</m:t>
                        </m:r>
                      </m:sub>
                    </m:sSub>
                    <m:d>
                      <m:dPr>
                        <m:ctrlPr>
                          <a:rPr lang="vi-VN" sz="1600" i="1" dirty="0" smtClean="0">
                            <a:latin typeface="Cambria Math" panose="02040503050406030204" pitchFamily="18" charset="0"/>
                          </a:rPr>
                        </m:ctrlPr>
                      </m:dPr>
                      <m:e>
                        <m:r>
                          <m:rPr>
                            <m:sty m:val="p"/>
                          </m:rPr>
                          <a:rPr lang="vi-VN" sz="1600" i="0" dirty="0" smtClean="0">
                            <a:latin typeface="Cambria Math" panose="02040503050406030204" pitchFamily="18" charset="0"/>
                          </a:rPr>
                          <m:t>Λ</m:t>
                        </m:r>
                      </m:e>
                    </m:d>
                    <m:r>
                      <a:rPr lang="vi-VN" sz="1600" i="1" dirty="0">
                        <a:latin typeface="Cambria Math" panose="02040503050406030204" pitchFamily="18" charset="0"/>
                      </a:rPr>
                      <m:t>= </m:t>
                    </m:r>
                    <m:r>
                      <m:rPr>
                        <m:sty m:val="p"/>
                      </m:rPr>
                      <a:rPr lang="vi-VN" sz="1600" i="1" dirty="0" err="1">
                        <a:latin typeface="Cambria Math" panose="02040503050406030204" pitchFamily="18" charset="0"/>
                      </a:rPr>
                      <m:t>max</m:t>
                    </m:r>
                    <m:d>
                      <m:dPr>
                        <m:ctrlPr>
                          <a:rPr lang="vi-VN" sz="1600" i="1" dirty="0">
                            <a:latin typeface="Cambria Math" panose="02040503050406030204" pitchFamily="18" charset="0"/>
                          </a:rPr>
                        </m:ctrlPr>
                      </m:dPr>
                      <m:e>
                        <m:sSub>
                          <m:sSubPr>
                            <m:ctrlPr>
                              <a:rPr lang="vi-VN" sz="1600" i="1" dirty="0">
                                <a:latin typeface="Cambria Math" panose="02040503050406030204" pitchFamily="18" charset="0"/>
                              </a:rPr>
                            </m:ctrlPr>
                          </m:sSubPr>
                          <m:e>
                            <m:r>
                              <a:rPr lang="vi-VN" sz="1600" i="1">
                                <a:latin typeface="Cambria Math" panose="02040503050406030204" pitchFamily="18" charset="0"/>
                                <a:ea typeface="Cambria Math" panose="02040503050406030204" pitchFamily="18" charset="0"/>
                              </a:rPr>
                              <m:t>𝜔</m:t>
                            </m:r>
                            <m:r>
                              <m:rPr>
                                <m:nor/>
                              </m:rPr>
                              <a:rPr lang="vi-VN" sz="1600" dirty="0"/>
                              <m:t> </m:t>
                            </m:r>
                          </m:e>
                          <m:sub>
                            <m:r>
                              <m:rPr>
                                <m:sty m:val="p"/>
                              </m:rPr>
                              <a:rPr lang="vi-VN" sz="1600" i="1" dirty="0" smtClean="0">
                                <a:latin typeface="Cambria Math" panose="02040503050406030204" pitchFamily="18" charset="0"/>
                              </a:rPr>
                              <m:t>i</m:t>
                            </m:r>
                            <m:r>
                              <a:rPr lang="vi-VN" sz="1600" b="0" i="1" dirty="0" smtClean="0">
                                <a:latin typeface="Cambria Math" panose="02040503050406030204" pitchFamily="18" charset="0"/>
                              </a:rPr>
                              <m:t>, </m:t>
                            </m:r>
                            <m:r>
                              <m:rPr>
                                <m:sty m:val="p"/>
                              </m:rPr>
                              <a:rPr lang="vi-VN" sz="1600" i="1" dirty="0">
                                <a:latin typeface="Cambria Math" panose="02040503050406030204" pitchFamily="18" charset="0"/>
                              </a:rPr>
                              <m:t>i</m:t>
                            </m:r>
                            <m:r>
                              <a:rPr lang="vi-VN" sz="1600" b="0" i="1" dirty="0" smtClean="0">
                                <a:latin typeface="Cambria Math" panose="02040503050406030204" pitchFamily="18" charset="0"/>
                              </a:rPr>
                              <m:t>+</m:t>
                            </m:r>
                            <m:r>
                              <a:rPr lang="vi-VN" sz="1600" i="1" dirty="0">
                                <a:latin typeface="Cambria Math" panose="02040503050406030204" pitchFamily="18" charset="0"/>
                              </a:rPr>
                              <m:t>1</m:t>
                            </m:r>
                          </m:sub>
                        </m:sSub>
                      </m:e>
                    </m:d>
                  </m:oMath>
                </a14:m>
                <a:r>
                  <a:rPr lang="vi-VN" sz="1600" dirty="0"/>
                  <a:t> với </a:t>
                </a:r>
                <a14:m>
                  <m:oMath xmlns:m="http://schemas.openxmlformats.org/officeDocument/2006/math">
                    <m:r>
                      <a:rPr lang="vi-VN" sz="1600" i="1">
                        <a:latin typeface="Cambria Math" panose="02040503050406030204" pitchFamily="18" charset="0"/>
                        <a:ea typeface="Cambria Math" panose="02040503050406030204" pitchFamily="18" charset="0"/>
                      </a:rPr>
                      <m:t>𝜔</m:t>
                    </m:r>
                  </m:oMath>
                </a14:m>
                <a:r>
                  <a:rPr lang="vi-VN" sz="1600" dirty="0"/>
                  <a:t> là trọng số cạnh.</a:t>
                </a:r>
              </a:p>
              <a:p>
                <a:pPr lvl="1" algn="just"/>
                <a:r>
                  <a:rPr lang="vi-VN" sz="1600" dirty="0"/>
                  <a:t>Thuật toán sẽ ưu tiên chọn con đường đi qua các điểm liên tiếp nhau với các bước nhảy nhỏ (</a:t>
                </a:r>
                <a:r>
                  <a:rPr lang="vi-VN" sz="1600" dirty="0" err="1"/>
                  <a:t>small</a:t>
                </a:r>
                <a:r>
                  <a:rPr lang="vi-VN" sz="1600" dirty="0"/>
                  <a:t> </a:t>
                </a:r>
                <a:r>
                  <a:rPr lang="vi-VN" sz="1600" dirty="0" err="1"/>
                  <a:t>gaps</a:t>
                </a:r>
                <a:r>
                  <a:rPr lang="vi-VN" sz="1600" dirty="0"/>
                  <a:t>), tránh các con đường có dù chỉ một "bước nhảy lớn" (</a:t>
                </a:r>
                <a:r>
                  <a:rPr lang="vi-VN" sz="1600" dirty="0" err="1"/>
                  <a:t>large</a:t>
                </a:r>
                <a:r>
                  <a:rPr lang="vi-VN" sz="1600" dirty="0"/>
                  <a:t> </a:t>
                </a:r>
                <a:r>
                  <a:rPr lang="vi-VN" sz="1600" dirty="0" err="1"/>
                  <a:t>gap</a:t>
                </a:r>
                <a:r>
                  <a:rPr lang="vi-VN" sz="1600" dirty="0"/>
                  <a:t>) băng qua vùng rỗng. Điều này giúp thuật toán nhận diện được các cụm có hình dạng phức tạp (như hình trăng khuyết, hình xoắn ốc) mà không bị cắt đứt.</a:t>
                </a:r>
              </a:p>
            </p:txBody>
          </p:sp>
        </mc:Choice>
        <mc:Fallback xmlns="">
          <p:sp>
            <p:nvSpPr>
              <p:cNvPr id="6" name="Content Placeholder 5">
                <a:extLst>
                  <a:ext uri="{FF2B5EF4-FFF2-40B4-BE49-F238E27FC236}">
                    <a16:creationId xmlns:a16="http://schemas.microsoft.com/office/drawing/2014/main" id="{4E8D639F-F6D6-8693-6F29-FFDB59A65EA7}"/>
                  </a:ext>
                </a:extLst>
              </p:cNvPr>
              <p:cNvSpPr>
                <a:spLocks noGrp="1" noRot="1" noChangeAspect="1" noMove="1" noResize="1" noEditPoints="1" noAdjustHandles="1" noChangeArrowheads="1" noChangeShapeType="1" noTextEdit="1"/>
              </p:cNvSpPr>
              <p:nvPr>
                <p:ph idx="1"/>
              </p:nvPr>
            </p:nvSpPr>
            <p:spPr>
              <a:blipFill>
                <a:blip r:embed="rId2"/>
                <a:stretch>
                  <a:fillRect l="-331" t="-503" r="-276"/>
                </a:stretch>
              </a:blipFill>
            </p:spPr>
            <p:txBody>
              <a:bodyPr/>
              <a:lstStyle/>
              <a:p>
                <a:r>
                  <a:rPr lang="vi-VN">
                    <a:noFill/>
                  </a:rPr>
                  <a:t> </a:t>
                </a:r>
              </a:p>
            </p:txBody>
          </p:sp>
        </mc:Fallback>
      </mc:AlternateContent>
    </p:spTree>
    <p:extLst>
      <p:ext uri="{BB962C8B-B14F-4D97-AF65-F5344CB8AC3E}">
        <p14:creationId xmlns:p14="http://schemas.microsoft.com/office/powerpoint/2010/main" val="4275011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54F8035-B64F-3BA5-7EEF-88ADA6A403EE}"/>
              </a:ext>
            </a:extLst>
          </p:cNvPr>
          <p:cNvSpPr>
            <a:spLocks noGrp="1"/>
          </p:cNvSpPr>
          <p:nvPr>
            <p:ph type="title"/>
          </p:nvPr>
        </p:nvSpPr>
        <p:spPr/>
        <p:txBody>
          <a:bodyPr/>
          <a:lstStyle/>
          <a:p>
            <a:r>
              <a:rPr lang="vi-VN" dirty="0"/>
              <a:t>2. Thuật toán</a:t>
            </a:r>
          </a:p>
        </p:txBody>
      </p:sp>
      <p:sp>
        <p:nvSpPr>
          <p:cNvPr id="6" name="Text Placeholder 5">
            <a:extLst>
              <a:ext uri="{FF2B5EF4-FFF2-40B4-BE49-F238E27FC236}">
                <a16:creationId xmlns:a16="http://schemas.microsoft.com/office/drawing/2014/main" id="{14DD4D78-AC02-7914-3162-3F815B373A69}"/>
              </a:ext>
            </a:extLst>
          </p:cNvPr>
          <p:cNvSpPr>
            <a:spLocks noGrp="1"/>
          </p:cNvSpPr>
          <p:nvPr>
            <p:ph type="body" idx="1"/>
          </p:nvPr>
        </p:nvSpPr>
        <p:spPr/>
        <p:txBody>
          <a:bodyPr/>
          <a:lstStyle/>
          <a:p>
            <a:pPr algn="ctr"/>
            <a:r>
              <a:rPr lang="vi-VN" dirty="0" err="1"/>
              <a:t>Clustering</a:t>
            </a:r>
            <a:r>
              <a:rPr lang="vi-VN" dirty="0"/>
              <a:t> </a:t>
            </a:r>
            <a:r>
              <a:rPr lang="vi-VN" dirty="0" err="1"/>
              <a:t>by</a:t>
            </a:r>
            <a:r>
              <a:rPr lang="vi-VN" dirty="0"/>
              <a:t> </a:t>
            </a:r>
            <a:r>
              <a:rPr lang="vi-VN" dirty="0" err="1"/>
              <a:t>Density</a:t>
            </a:r>
            <a:r>
              <a:rPr lang="vi-VN" dirty="0"/>
              <a:t> </a:t>
            </a:r>
            <a:r>
              <a:rPr lang="vi-VN" dirty="0" err="1"/>
              <a:t>Peaks</a:t>
            </a:r>
            <a:r>
              <a:rPr lang="vi-VN" dirty="0"/>
              <a:t> (CDP)</a:t>
            </a:r>
          </a:p>
        </p:txBody>
      </p:sp>
      <p:sp>
        <p:nvSpPr>
          <p:cNvPr id="8" name="Text Placeholder 7">
            <a:extLst>
              <a:ext uri="{FF2B5EF4-FFF2-40B4-BE49-F238E27FC236}">
                <a16:creationId xmlns:a16="http://schemas.microsoft.com/office/drawing/2014/main" id="{2DA0508E-501E-2DF9-A757-A912DB3FED41}"/>
              </a:ext>
            </a:extLst>
          </p:cNvPr>
          <p:cNvSpPr>
            <a:spLocks noGrp="1"/>
          </p:cNvSpPr>
          <p:nvPr>
            <p:ph type="body" sz="quarter" idx="3"/>
          </p:nvPr>
        </p:nvSpPr>
        <p:spPr/>
        <p:txBody>
          <a:bodyPr/>
          <a:lstStyle/>
          <a:p>
            <a:pPr algn="ctr"/>
            <a:r>
              <a:rPr lang="vi-VN" dirty="0" err="1"/>
              <a:t>Ours</a:t>
            </a:r>
            <a:endParaRPr lang="vi-VN" dirty="0"/>
          </a:p>
        </p:txBody>
      </p:sp>
      <p:pic>
        <p:nvPicPr>
          <p:cNvPr id="10" name="Content Placeholder 2" descr="A screen shot of a cell phone&#10;&#10;AI-generated content may be incorrect.">
            <a:extLst>
              <a:ext uri="{FF2B5EF4-FFF2-40B4-BE49-F238E27FC236}">
                <a16:creationId xmlns:a16="http://schemas.microsoft.com/office/drawing/2014/main" id="{EFDA4002-4856-1B9A-1DAC-4EA80D50B9A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915796" y="2925763"/>
            <a:ext cx="2524757" cy="2935287"/>
          </a:xfrm>
        </p:spPr>
      </p:pic>
      <p:pic>
        <p:nvPicPr>
          <p:cNvPr id="11" name="Content Placeholder 7" descr="A screen shot of a cell phone&#10;&#10;AI-generated content may be incorrect.">
            <a:extLst>
              <a:ext uri="{FF2B5EF4-FFF2-40B4-BE49-F238E27FC236}">
                <a16:creationId xmlns:a16="http://schemas.microsoft.com/office/drawing/2014/main" id="{2DED7423-D00E-E18E-F059-CAB4A17F7B03}"/>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7748025" y="2925763"/>
            <a:ext cx="2531599" cy="2935287"/>
          </a:xfrm>
        </p:spPr>
      </p:pic>
    </p:spTree>
    <p:extLst>
      <p:ext uri="{BB962C8B-B14F-4D97-AF65-F5344CB8AC3E}">
        <p14:creationId xmlns:p14="http://schemas.microsoft.com/office/powerpoint/2010/main" val="1006432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CA8AA-23CE-7891-615E-96A34B091AB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F010615-1D17-030E-487F-E4E91106B405}"/>
              </a:ext>
            </a:extLst>
          </p:cNvPr>
          <p:cNvSpPr>
            <a:spLocks noGrp="1"/>
          </p:cNvSpPr>
          <p:nvPr>
            <p:ph type="title"/>
          </p:nvPr>
        </p:nvSpPr>
        <p:spPr/>
        <p:txBody>
          <a:bodyPr/>
          <a:lstStyle/>
          <a:p>
            <a:r>
              <a:rPr lang="vi-VN" dirty="0"/>
              <a:t>3. Minh họa</a:t>
            </a:r>
          </a:p>
        </p:txBody>
      </p:sp>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D59AA677-FC3B-633E-D623-B5A7A912CCEF}"/>
                  </a:ext>
                </a:extLst>
              </p:cNvPr>
              <p:cNvSpPr>
                <a:spLocks noGrp="1"/>
              </p:cNvSpPr>
              <p:nvPr>
                <p:ph idx="1"/>
              </p:nvPr>
            </p:nvSpPr>
            <p:spPr>
              <a:xfrm>
                <a:off x="581193" y="2340864"/>
                <a:ext cx="5514808" cy="3634486"/>
              </a:xfrm>
            </p:spPr>
            <p:txBody>
              <a:bodyPr anchor="t"/>
              <a:lstStyle/>
              <a:p>
                <a:r>
                  <a:rPr lang="vi-VN" dirty="0"/>
                  <a:t>Cho các điểm dữ liệu.</a:t>
                </a:r>
              </a:p>
              <a:p>
                <a:pPr marL="0" indent="0">
                  <a:buNone/>
                </a:pPr>
                <a:r>
                  <a:rPr lang="vi-VN" b="1" dirty="0"/>
                  <a:t>Bước 1: Mô hình hóa dữ liệu G(V, E, </a:t>
                </a:r>
                <a14:m>
                  <m:oMath xmlns:m="http://schemas.openxmlformats.org/officeDocument/2006/math">
                    <m:r>
                      <a:rPr lang="vi-VN" b="1" i="1">
                        <a:latin typeface="Cambria Math" panose="02040503050406030204" pitchFamily="18" charset="0"/>
                        <a:ea typeface="Cambria Math" panose="02040503050406030204" pitchFamily="18" charset="0"/>
                      </a:rPr>
                      <m:t>𝝎</m:t>
                    </m:r>
                  </m:oMath>
                </a14:m>
                <a:r>
                  <a:rPr lang="vi-VN" b="1" dirty="0"/>
                  <a:t>)</a:t>
                </a:r>
                <a:r>
                  <a:rPr lang="vi-VN" dirty="0"/>
                  <a:t>.</a:t>
                </a:r>
                <a:endParaRPr lang="vi-VN" b="1" dirty="0"/>
              </a:p>
              <a:p>
                <a:pPr marL="0" indent="0">
                  <a:buNone/>
                </a:pPr>
                <a:endParaRPr lang="vi-VN" dirty="0"/>
              </a:p>
            </p:txBody>
          </p:sp>
        </mc:Choice>
        <mc:Fallback xmlns="">
          <p:sp>
            <p:nvSpPr>
              <p:cNvPr id="12" name="Content Placeholder 11">
                <a:extLst>
                  <a:ext uri="{FF2B5EF4-FFF2-40B4-BE49-F238E27FC236}">
                    <a16:creationId xmlns:a16="http://schemas.microsoft.com/office/drawing/2014/main" id="{D59AA677-FC3B-633E-D623-B5A7A912CCEF}"/>
                  </a:ext>
                </a:extLst>
              </p:cNvPr>
              <p:cNvSpPr>
                <a:spLocks noGrp="1" noRot="1" noChangeAspect="1" noMove="1" noResize="1" noEditPoints="1" noAdjustHandles="1" noChangeArrowheads="1" noChangeShapeType="1" noTextEdit="1"/>
              </p:cNvSpPr>
              <p:nvPr>
                <p:ph idx="1"/>
              </p:nvPr>
            </p:nvSpPr>
            <p:spPr>
              <a:xfrm>
                <a:off x="581193" y="2340864"/>
                <a:ext cx="5514808" cy="3634486"/>
              </a:xfrm>
              <a:blipFill>
                <a:blip r:embed="rId2"/>
                <a:stretch>
                  <a:fillRect l="-663" t="-336"/>
                </a:stretch>
              </a:blipFill>
            </p:spPr>
            <p:txBody>
              <a:bodyPr/>
              <a:lstStyle/>
              <a:p>
                <a:r>
                  <a:rPr lang="vi-VN">
                    <a:noFill/>
                  </a:rPr>
                  <a:t> </a:t>
                </a:r>
              </a:p>
            </p:txBody>
          </p:sp>
        </mc:Fallback>
      </mc:AlternateContent>
      <p:grpSp>
        <p:nvGrpSpPr>
          <p:cNvPr id="87" name="Group 86">
            <a:extLst>
              <a:ext uri="{FF2B5EF4-FFF2-40B4-BE49-F238E27FC236}">
                <a16:creationId xmlns:a16="http://schemas.microsoft.com/office/drawing/2014/main" id="{30FFB5D8-182B-9F3C-8947-5356C9E3768A}"/>
              </a:ext>
            </a:extLst>
          </p:cNvPr>
          <p:cNvGrpSpPr/>
          <p:nvPr/>
        </p:nvGrpSpPr>
        <p:grpSpPr>
          <a:xfrm>
            <a:off x="6776268" y="2517070"/>
            <a:ext cx="4504163" cy="3320174"/>
            <a:chOff x="3101788" y="2590800"/>
            <a:chExt cx="4504163" cy="3320174"/>
          </a:xfrm>
        </p:grpSpPr>
        <p:sp>
          <p:nvSpPr>
            <p:cNvPr id="88" name="Oval 87">
              <a:extLst>
                <a:ext uri="{FF2B5EF4-FFF2-40B4-BE49-F238E27FC236}">
                  <a16:creationId xmlns:a16="http://schemas.microsoft.com/office/drawing/2014/main" id="{4E927349-F900-B9E9-A37A-F959631E3396}"/>
                </a:ext>
              </a:extLst>
            </p:cNvPr>
            <p:cNvSpPr/>
            <p:nvPr/>
          </p:nvSpPr>
          <p:spPr>
            <a:xfrm>
              <a:off x="3765176" y="292249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endParaRPr lang="vi-VN" dirty="0"/>
            </a:p>
          </p:txBody>
        </p:sp>
        <p:sp>
          <p:nvSpPr>
            <p:cNvPr id="89" name="Oval 88">
              <a:extLst>
                <a:ext uri="{FF2B5EF4-FFF2-40B4-BE49-F238E27FC236}">
                  <a16:creationId xmlns:a16="http://schemas.microsoft.com/office/drawing/2014/main" id="{B7432B73-23A0-C544-EE0C-C188DF1D0C3A}"/>
                </a:ext>
              </a:extLst>
            </p:cNvPr>
            <p:cNvSpPr/>
            <p:nvPr/>
          </p:nvSpPr>
          <p:spPr>
            <a:xfrm>
              <a:off x="3101788" y="436925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endParaRPr lang="vi-VN" dirty="0"/>
            </a:p>
          </p:txBody>
        </p:sp>
        <p:sp>
          <p:nvSpPr>
            <p:cNvPr id="90" name="Oval 89">
              <a:extLst>
                <a:ext uri="{FF2B5EF4-FFF2-40B4-BE49-F238E27FC236}">
                  <a16:creationId xmlns:a16="http://schemas.microsoft.com/office/drawing/2014/main" id="{59833622-1247-F41D-2B6E-9AFF91FA679C}"/>
                </a:ext>
              </a:extLst>
            </p:cNvPr>
            <p:cNvSpPr/>
            <p:nvPr/>
          </p:nvSpPr>
          <p:spPr>
            <a:xfrm>
              <a:off x="5602940" y="2590800"/>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endParaRPr lang="vi-VN" dirty="0"/>
            </a:p>
          </p:txBody>
        </p:sp>
        <p:sp>
          <p:nvSpPr>
            <p:cNvPr id="91" name="Oval 90">
              <a:extLst>
                <a:ext uri="{FF2B5EF4-FFF2-40B4-BE49-F238E27FC236}">
                  <a16:creationId xmlns:a16="http://schemas.microsoft.com/office/drawing/2014/main" id="{47BF46AF-4712-03B6-745E-B1AC6145B7CA}"/>
                </a:ext>
              </a:extLst>
            </p:cNvPr>
            <p:cNvSpPr/>
            <p:nvPr/>
          </p:nvSpPr>
          <p:spPr>
            <a:xfrm>
              <a:off x="5054635" y="379530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endParaRPr lang="vi-VN" dirty="0"/>
            </a:p>
          </p:txBody>
        </p:sp>
        <p:sp>
          <p:nvSpPr>
            <p:cNvPr id="92" name="Oval 91">
              <a:extLst>
                <a:ext uri="{FF2B5EF4-FFF2-40B4-BE49-F238E27FC236}">
                  <a16:creationId xmlns:a16="http://schemas.microsoft.com/office/drawing/2014/main" id="{A7EA76EA-BDD5-9E27-2A8F-2ADD7EF0B0F8}"/>
                </a:ext>
              </a:extLst>
            </p:cNvPr>
            <p:cNvSpPr/>
            <p:nvPr/>
          </p:nvSpPr>
          <p:spPr>
            <a:xfrm>
              <a:off x="5941057" y="524758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endParaRPr lang="vi-VN" dirty="0"/>
            </a:p>
          </p:txBody>
        </p:sp>
        <p:sp>
          <p:nvSpPr>
            <p:cNvPr id="93" name="Oval 92">
              <a:extLst>
                <a:ext uri="{FF2B5EF4-FFF2-40B4-BE49-F238E27FC236}">
                  <a16:creationId xmlns:a16="http://schemas.microsoft.com/office/drawing/2014/main" id="{79180112-F1A3-112E-2EAC-B64F4013C450}"/>
                </a:ext>
              </a:extLst>
            </p:cNvPr>
            <p:cNvSpPr/>
            <p:nvPr/>
          </p:nvSpPr>
          <p:spPr>
            <a:xfrm>
              <a:off x="6942563" y="3595109"/>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endParaRPr lang="vi-VN" dirty="0"/>
            </a:p>
          </p:txBody>
        </p:sp>
      </p:grpSp>
    </p:spTree>
    <p:extLst>
      <p:ext uri="{BB962C8B-B14F-4D97-AF65-F5344CB8AC3E}">
        <p14:creationId xmlns:p14="http://schemas.microsoft.com/office/powerpoint/2010/main" val="1751317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695BAE7-F004-5AD0-9BFC-0A7AE7049D11}"/>
              </a:ext>
            </a:extLst>
          </p:cNvPr>
          <p:cNvSpPr>
            <a:spLocks noGrp="1"/>
          </p:cNvSpPr>
          <p:nvPr>
            <p:ph type="title"/>
          </p:nvPr>
        </p:nvSpPr>
        <p:spPr/>
        <p:txBody>
          <a:bodyPr/>
          <a:lstStyle/>
          <a:p>
            <a:r>
              <a:rPr lang="vi-VN" dirty="0"/>
              <a:t>3. Minh họa</a:t>
            </a:r>
          </a:p>
        </p:txBody>
      </p:sp>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B130AE4F-D69F-14D1-0322-756042D78480}"/>
                  </a:ext>
                </a:extLst>
              </p:cNvPr>
              <p:cNvSpPr>
                <a:spLocks noGrp="1"/>
              </p:cNvSpPr>
              <p:nvPr>
                <p:ph idx="1"/>
              </p:nvPr>
            </p:nvSpPr>
            <p:spPr>
              <a:xfrm>
                <a:off x="581193" y="2340864"/>
                <a:ext cx="5514808" cy="3634486"/>
              </a:xfrm>
            </p:spPr>
            <p:txBody>
              <a:bodyPr anchor="t"/>
              <a:lstStyle/>
              <a:p>
                <a:r>
                  <a:rPr lang="vi-VN" dirty="0"/>
                  <a:t>Cho các điểm dữ liệu.</a:t>
                </a:r>
              </a:p>
              <a:p>
                <a:pPr marL="0" indent="0">
                  <a:buNone/>
                </a:pPr>
                <a:r>
                  <a:rPr lang="vi-VN" b="1" dirty="0"/>
                  <a:t>Bước 1: Mô hình hóa dữ liệu G(V, E, </a:t>
                </a:r>
                <a14:m>
                  <m:oMath xmlns:m="http://schemas.openxmlformats.org/officeDocument/2006/math">
                    <m:r>
                      <a:rPr lang="vi-VN" b="1" i="1">
                        <a:latin typeface="Cambria Math" panose="02040503050406030204" pitchFamily="18" charset="0"/>
                        <a:ea typeface="Cambria Math" panose="02040503050406030204" pitchFamily="18" charset="0"/>
                      </a:rPr>
                      <m:t>𝝎</m:t>
                    </m:r>
                  </m:oMath>
                </a14:m>
                <a:r>
                  <a:rPr lang="vi-VN" b="1" dirty="0"/>
                  <a:t>)</a:t>
                </a:r>
                <a:r>
                  <a:rPr lang="vi-VN" dirty="0"/>
                  <a:t>.</a:t>
                </a:r>
                <a:endParaRPr lang="vi-VN" b="1" dirty="0"/>
              </a:p>
              <a:p>
                <a:pPr marL="0" indent="0">
                  <a:buNone/>
                </a:pPr>
                <a:endParaRPr lang="vi-VN" dirty="0"/>
              </a:p>
            </p:txBody>
          </p:sp>
        </mc:Choice>
        <mc:Fallback xmlns="">
          <p:sp>
            <p:nvSpPr>
              <p:cNvPr id="12" name="Content Placeholder 11">
                <a:extLst>
                  <a:ext uri="{FF2B5EF4-FFF2-40B4-BE49-F238E27FC236}">
                    <a16:creationId xmlns:a16="http://schemas.microsoft.com/office/drawing/2014/main" id="{B130AE4F-D69F-14D1-0322-756042D78480}"/>
                  </a:ext>
                </a:extLst>
              </p:cNvPr>
              <p:cNvSpPr>
                <a:spLocks noGrp="1" noRot="1" noChangeAspect="1" noMove="1" noResize="1" noEditPoints="1" noAdjustHandles="1" noChangeArrowheads="1" noChangeShapeType="1" noTextEdit="1"/>
              </p:cNvSpPr>
              <p:nvPr>
                <p:ph idx="1"/>
              </p:nvPr>
            </p:nvSpPr>
            <p:spPr>
              <a:xfrm>
                <a:off x="581193" y="2340864"/>
                <a:ext cx="5514808" cy="3634486"/>
              </a:xfrm>
              <a:blipFill>
                <a:blip r:embed="rId2"/>
                <a:stretch>
                  <a:fillRect l="-663" t="-336"/>
                </a:stretch>
              </a:blipFill>
            </p:spPr>
            <p:txBody>
              <a:bodyPr/>
              <a:lstStyle/>
              <a:p>
                <a:r>
                  <a:rPr lang="vi-VN">
                    <a:noFill/>
                  </a:rPr>
                  <a:t> </a:t>
                </a:r>
              </a:p>
            </p:txBody>
          </p:sp>
        </mc:Fallback>
      </mc:AlternateContent>
      <p:grpSp>
        <p:nvGrpSpPr>
          <p:cNvPr id="96" name="Group 95">
            <a:extLst>
              <a:ext uri="{FF2B5EF4-FFF2-40B4-BE49-F238E27FC236}">
                <a16:creationId xmlns:a16="http://schemas.microsoft.com/office/drawing/2014/main" id="{A2D154D9-87C3-2E6B-35C5-B8908CBDB5E4}"/>
              </a:ext>
            </a:extLst>
          </p:cNvPr>
          <p:cNvGrpSpPr/>
          <p:nvPr/>
        </p:nvGrpSpPr>
        <p:grpSpPr>
          <a:xfrm>
            <a:off x="6776268" y="2426864"/>
            <a:ext cx="4504163" cy="3462485"/>
            <a:chOff x="6379647" y="2693359"/>
            <a:chExt cx="4504163" cy="3462485"/>
          </a:xfrm>
        </p:grpSpPr>
        <p:sp>
          <p:nvSpPr>
            <p:cNvPr id="97" name="TextBox 96">
              <a:extLst>
                <a:ext uri="{FF2B5EF4-FFF2-40B4-BE49-F238E27FC236}">
                  <a16:creationId xmlns:a16="http://schemas.microsoft.com/office/drawing/2014/main" id="{69139F93-3537-6450-48F1-003DDD044E9D}"/>
                </a:ext>
              </a:extLst>
            </p:cNvPr>
            <p:cNvSpPr txBox="1"/>
            <p:nvPr/>
          </p:nvSpPr>
          <p:spPr>
            <a:xfrm>
              <a:off x="7185475" y="2729336"/>
              <a:ext cx="518453" cy="369332"/>
            </a:xfrm>
            <a:prstGeom prst="rect">
              <a:avLst/>
            </a:prstGeom>
            <a:noFill/>
          </p:spPr>
          <p:txBody>
            <a:bodyPr wrap="square" rtlCol="0">
              <a:spAutoFit/>
            </a:bodyPr>
            <a:lstStyle/>
            <a:p>
              <a:r>
                <a:rPr lang="en-US" dirty="0"/>
                <a:t>V</a:t>
              </a:r>
              <a:endParaRPr lang="vi-VN" dirty="0"/>
            </a:p>
          </p:txBody>
        </p:sp>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C76A39E1-49DF-CF0F-5052-52BCB52C5B72}"/>
                    </a:ext>
                  </a:extLst>
                </p:cNvPr>
                <p:cNvSpPr txBox="1"/>
                <p:nvPr/>
              </p:nvSpPr>
              <p:spPr>
                <a:xfrm>
                  <a:off x="8023009" y="3194565"/>
                  <a:ext cx="51845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i="1">
                            <a:latin typeface="Cambria Math" panose="02040503050406030204" pitchFamily="18" charset="0"/>
                            <a:ea typeface="Cambria Math" panose="02040503050406030204" pitchFamily="18" charset="0"/>
                          </a:rPr>
                          <m:t>𝜔</m:t>
                        </m:r>
                      </m:oMath>
                    </m:oMathPara>
                  </a14:m>
                  <a:endParaRPr lang="vi-VN" dirty="0"/>
                </a:p>
              </p:txBody>
            </p:sp>
          </mc:Choice>
          <mc:Fallback xmlns="">
            <p:sp>
              <p:nvSpPr>
                <p:cNvPr id="98" name="TextBox 97">
                  <a:extLst>
                    <a:ext uri="{FF2B5EF4-FFF2-40B4-BE49-F238E27FC236}">
                      <a16:creationId xmlns:a16="http://schemas.microsoft.com/office/drawing/2014/main" id="{C76A39E1-49DF-CF0F-5052-52BCB52C5B72}"/>
                    </a:ext>
                  </a:extLst>
                </p:cNvPr>
                <p:cNvSpPr txBox="1">
                  <a:spLocks noRot="1" noChangeAspect="1" noMove="1" noResize="1" noEditPoints="1" noAdjustHandles="1" noChangeArrowheads="1" noChangeShapeType="1" noTextEdit="1"/>
                </p:cNvSpPr>
                <p:nvPr/>
              </p:nvSpPr>
              <p:spPr>
                <a:xfrm>
                  <a:off x="8023009" y="3194565"/>
                  <a:ext cx="518453" cy="369332"/>
                </a:xfrm>
                <a:prstGeom prst="rect">
                  <a:avLst/>
                </a:prstGeom>
                <a:blipFill>
                  <a:blip r:embed="rId3"/>
                  <a:stretch>
                    <a:fillRect/>
                  </a:stretch>
                </a:blipFill>
              </p:spPr>
              <p:txBody>
                <a:bodyPr/>
                <a:lstStyle/>
                <a:p>
                  <a:r>
                    <a:rPr lang="vi-VN">
                      <a:noFill/>
                    </a:rPr>
                    <a:t> </a:t>
                  </a:r>
                </a:p>
              </p:txBody>
            </p:sp>
          </mc:Fallback>
        </mc:AlternateContent>
        <p:grpSp>
          <p:nvGrpSpPr>
            <p:cNvPr id="99" name="Group 98">
              <a:extLst>
                <a:ext uri="{FF2B5EF4-FFF2-40B4-BE49-F238E27FC236}">
                  <a16:creationId xmlns:a16="http://schemas.microsoft.com/office/drawing/2014/main" id="{247822A2-22A6-9972-337F-30EA0564433C}"/>
                </a:ext>
              </a:extLst>
            </p:cNvPr>
            <p:cNvGrpSpPr/>
            <p:nvPr/>
          </p:nvGrpSpPr>
          <p:grpSpPr>
            <a:xfrm>
              <a:off x="6379647" y="2835670"/>
              <a:ext cx="4504163" cy="3320174"/>
              <a:chOff x="3101788" y="2590800"/>
              <a:chExt cx="4504163" cy="3320174"/>
            </a:xfrm>
          </p:grpSpPr>
          <p:sp>
            <p:nvSpPr>
              <p:cNvPr id="101" name="Oval 100">
                <a:extLst>
                  <a:ext uri="{FF2B5EF4-FFF2-40B4-BE49-F238E27FC236}">
                    <a16:creationId xmlns:a16="http://schemas.microsoft.com/office/drawing/2014/main" id="{74B5D2D5-4911-00BD-4BDD-1B9B517A0870}"/>
                  </a:ext>
                </a:extLst>
              </p:cNvPr>
              <p:cNvSpPr/>
              <p:nvPr/>
            </p:nvSpPr>
            <p:spPr>
              <a:xfrm>
                <a:off x="3765176" y="292249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endParaRPr lang="vi-VN" dirty="0"/>
              </a:p>
            </p:txBody>
          </p:sp>
          <p:sp>
            <p:nvSpPr>
              <p:cNvPr id="102" name="Oval 101">
                <a:extLst>
                  <a:ext uri="{FF2B5EF4-FFF2-40B4-BE49-F238E27FC236}">
                    <a16:creationId xmlns:a16="http://schemas.microsoft.com/office/drawing/2014/main" id="{925D9C2D-3B40-F9FA-7740-4C554A4A07E7}"/>
                  </a:ext>
                </a:extLst>
              </p:cNvPr>
              <p:cNvSpPr/>
              <p:nvPr/>
            </p:nvSpPr>
            <p:spPr>
              <a:xfrm>
                <a:off x="3101788" y="436925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endParaRPr lang="vi-VN" dirty="0"/>
              </a:p>
            </p:txBody>
          </p:sp>
          <p:sp>
            <p:nvSpPr>
              <p:cNvPr id="103" name="Oval 102">
                <a:extLst>
                  <a:ext uri="{FF2B5EF4-FFF2-40B4-BE49-F238E27FC236}">
                    <a16:creationId xmlns:a16="http://schemas.microsoft.com/office/drawing/2014/main" id="{EA59EB21-952F-AE02-B9D9-0263B201416C}"/>
                  </a:ext>
                </a:extLst>
              </p:cNvPr>
              <p:cNvSpPr/>
              <p:nvPr/>
            </p:nvSpPr>
            <p:spPr>
              <a:xfrm>
                <a:off x="5602940" y="2590800"/>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endParaRPr lang="vi-VN" dirty="0"/>
              </a:p>
            </p:txBody>
          </p:sp>
          <p:sp>
            <p:nvSpPr>
              <p:cNvPr id="104" name="Oval 103">
                <a:extLst>
                  <a:ext uri="{FF2B5EF4-FFF2-40B4-BE49-F238E27FC236}">
                    <a16:creationId xmlns:a16="http://schemas.microsoft.com/office/drawing/2014/main" id="{64649D58-588E-0974-202B-83882E6872EB}"/>
                  </a:ext>
                </a:extLst>
              </p:cNvPr>
              <p:cNvSpPr/>
              <p:nvPr/>
            </p:nvSpPr>
            <p:spPr>
              <a:xfrm>
                <a:off x="5054635" y="379530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endParaRPr lang="vi-VN" dirty="0"/>
              </a:p>
            </p:txBody>
          </p:sp>
          <p:sp>
            <p:nvSpPr>
              <p:cNvPr id="105" name="Oval 104">
                <a:extLst>
                  <a:ext uri="{FF2B5EF4-FFF2-40B4-BE49-F238E27FC236}">
                    <a16:creationId xmlns:a16="http://schemas.microsoft.com/office/drawing/2014/main" id="{15E750DC-BA4A-C23B-3E5A-818B33ECFBD3}"/>
                  </a:ext>
                </a:extLst>
              </p:cNvPr>
              <p:cNvSpPr/>
              <p:nvPr/>
            </p:nvSpPr>
            <p:spPr>
              <a:xfrm>
                <a:off x="5941057" y="524758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endParaRPr lang="vi-VN" dirty="0"/>
              </a:p>
            </p:txBody>
          </p:sp>
          <p:sp>
            <p:nvSpPr>
              <p:cNvPr id="106" name="Oval 105">
                <a:extLst>
                  <a:ext uri="{FF2B5EF4-FFF2-40B4-BE49-F238E27FC236}">
                    <a16:creationId xmlns:a16="http://schemas.microsoft.com/office/drawing/2014/main" id="{E91BD268-D5A6-94DD-94AF-B368D9772E2F}"/>
                  </a:ext>
                </a:extLst>
              </p:cNvPr>
              <p:cNvSpPr/>
              <p:nvPr/>
            </p:nvSpPr>
            <p:spPr>
              <a:xfrm>
                <a:off x="6942563" y="3595109"/>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endParaRPr lang="vi-VN" dirty="0"/>
              </a:p>
            </p:txBody>
          </p:sp>
          <p:cxnSp>
            <p:nvCxnSpPr>
              <p:cNvPr id="107" name="Straight Connector 106">
                <a:extLst>
                  <a:ext uri="{FF2B5EF4-FFF2-40B4-BE49-F238E27FC236}">
                    <a16:creationId xmlns:a16="http://schemas.microsoft.com/office/drawing/2014/main" id="{559C587C-2A0C-EE2C-B9C9-7111185D3046}"/>
                  </a:ext>
                </a:extLst>
              </p:cNvPr>
              <p:cNvCxnSpPr>
                <a:stCxn id="101" idx="5"/>
                <a:endCxn id="104" idx="1"/>
              </p:cNvCxnSpPr>
              <p:nvPr/>
            </p:nvCxnSpPr>
            <p:spPr>
              <a:xfrm>
                <a:off x="4331413" y="3488731"/>
                <a:ext cx="820373" cy="403724"/>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8" name="Straight Connector 107">
                <a:extLst>
                  <a:ext uri="{FF2B5EF4-FFF2-40B4-BE49-F238E27FC236}">
                    <a16:creationId xmlns:a16="http://schemas.microsoft.com/office/drawing/2014/main" id="{C6D9B68F-FA02-4C7F-1E08-A89497038E1A}"/>
                  </a:ext>
                </a:extLst>
              </p:cNvPr>
              <p:cNvCxnSpPr>
                <a:cxnSpLocks/>
                <a:stCxn id="101" idx="7"/>
                <a:endCxn id="103" idx="2"/>
              </p:cNvCxnSpPr>
              <p:nvPr/>
            </p:nvCxnSpPr>
            <p:spPr>
              <a:xfrm flipV="1">
                <a:off x="4331413" y="2922494"/>
                <a:ext cx="1271527" cy="9715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9" name="Straight Connector 108">
                <a:extLst>
                  <a:ext uri="{FF2B5EF4-FFF2-40B4-BE49-F238E27FC236}">
                    <a16:creationId xmlns:a16="http://schemas.microsoft.com/office/drawing/2014/main" id="{1F594C9F-F425-CA2D-6016-A6193AA52D81}"/>
                  </a:ext>
                </a:extLst>
              </p:cNvPr>
              <p:cNvCxnSpPr>
                <a:cxnSpLocks/>
                <a:stCxn id="103" idx="5"/>
                <a:endCxn id="106" idx="1"/>
              </p:cNvCxnSpPr>
              <p:nvPr/>
            </p:nvCxnSpPr>
            <p:spPr>
              <a:xfrm>
                <a:off x="6169177" y="3157037"/>
                <a:ext cx="870537" cy="53522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0" name="Straight Connector 109">
                <a:extLst>
                  <a:ext uri="{FF2B5EF4-FFF2-40B4-BE49-F238E27FC236}">
                    <a16:creationId xmlns:a16="http://schemas.microsoft.com/office/drawing/2014/main" id="{2DED8DE4-0AC5-E531-CB3A-C97784BC05FB}"/>
                  </a:ext>
                </a:extLst>
              </p:cNvPr>
              <p:cNvCxnSpPr>
                <a:cxnSpLocks/>
                <a:stCxn id="106" idx="4"/>
                <a:endCxn id="105" idx="7"/>
              </p:cNvCxnSpPr>
              <p:nvPr/>
            </p:nvCxnSpPr>
            <p:spPr>
              <a:xfrm flipH="1">
                <a:off x="6507294" y="4258497"/>
                <a:ext cx="766963" cy="108624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1" name="Straight Connector 110">
                <a:extLst>
                  <a:ext uri="{FF2B5EF4-FFF2-40B4-BE49-F238E27FC236}">
                    <a16:creationId xmlns:a16="http://schemas.microsoft.com/office/drawing/2014/main" id="{CC1393C9-DFF6-3AA5-6791-F9864225A42F}"/>
                  </a:ext>
                </a:extLst>
              </p:cNvPr>
              <p:cNvCxnSpPr>
                <a:cxnSpLocks/>
                <a:stCxn id="102" idx="6"/>
                <a:endCxn id="105" idx="2"/>
              </p:cNvCxnSpPr>
              <p:nvPr/>
            </p:nvCxnSpPr>
            <p:spPr>
              <a:xfrm>
                <a:off x="3765176" y="4700950"/>
                <a:ext cx="2175881" cy="87833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2" name="Straight Connector 111">
                <a:extLst>
                  <a:ext uri="{FF2B5EF4-FFF2-40B4-BE49-F238E27FC236}">
                    <a16:creationId xmlns:a16="http://schemas.microsoft.com/office/drawing/2014/main" id="{3AF89657-CC14-B981-8054-D2DA86D4B038}"/>
                  </a:ext>
                </a:extLst>
              </p:cNvPr>
              <p:cNvCxnSpPr>
                <a:cxnSpLocks/>
                <a:stCxn id="104" idx="5"/>
                <a:endCxn id="105" idx="1"/>
              </p:cNvCxnSpPr>
              <p:nvPr/>
            </p:nvCxnSpPr>
            <p:spPr>
              <a:xfrm>
                <a:off x="5620872" y="4361541"/>
                <a:ext cx="417336" cy="983196"/>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3" name="Straight Connector 112">
                <a:extLst>
                  <a:ext uri="{FF2B5EF4-FFF2-40B4-BE49-F238E27FC236}">
                    <a16:creationId xmlns:a16="http://schemas.microsoft.com/office/drawing/2014/main" id="{905D52D4-FF1E-D7F9-ABF8-E5740F96E28A}"/>
                  </a:ext>
                </a:extLst>
              </p:cNvPr>
              <p:cNvCxnSpPr>
                <a:cxnSpLocks/>
                <a:stCxn id="101" idx="3"/>
                <a:endCxn id="102" idx="0"/>
              </p:cNvCxnSpPr>
              <p:nvPr/>
            </p:nvCxnSpPr>
            <p:spPr>
              <a:xfrm flipH="1">
                <a:off x="3433482" y="3488731"/>
                <a:ext cx="428845" cy="88052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4" name="Straight Connector 113">
                <a:extLst>
                  <a:ext uri="{FF2B5EF4-FFF2-40B4-BE49-F238E27FC236}">
                    <a16:creationId xmlns:a16="http://schemas.microsoft.com/office/drawing/2014/main" id="{595219D3-062D-E692-3551-1D349E5C0ECB}"/>
                  </a:ext>
                </a:extLst>
              </p:cNvPr>
              <p:cNvCxnSpPr>
                <a:cxnSpLocks/>
                <a:stCxn id="104" idx="2"/>
                <a:endCxn id="102" idx="7"/>
              </p:cNvCxnSpPr>
              <p:nvPr/>
            </p:nvCxnSpPr>
            <p:spPr>
              <a:xfrm flipH="1">
                <a:off x="3668025" y="4126998"/>
                <a:ext cx="1386610" cy="339409"/>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5" name="Straight Connector 114">
                <a:extLst>
                  <a:ext uri="{FF2B5EF4-FFF2-40B4-BE49-F238E27FC236}">
                    <a16:creationId xmlns:a16="http://schemas.microsoft.com/office/drawing/2014/main" id="{DB33B752-7BAD-5E6C-FAD5-BD9C5B2CECAF}"/>
                  </a:ext>
                </a:extLst>
              </p:cNvPr>
              <p:cNvCxnSpPr>
                <a:cxnSpLocks/>
                <a:stCxn id="104" idx="6"/>
                <a:endCxn id="106" idx="2"/>
              </p:cNvCxnSpPr>
              <p:nvPr/>
            </p:nvCxnSpPr>
            <p:spPr>
              <a:xfrm flipV="1">
                <a:off x="5718023" y="3926803"/>
                <a:ext cx="1224540" cy="20019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100" name="TextBox 99">
              <a:extLst>
                <a:ext uri="{FF2B5EF4-FFF2-40B4-BE49-F238E27FC236}">
                  <a16:creationId xmlns:a16="http://schemas.microsoft.com/office/drawing/2014/main" id="{D390F73B-2CB5-3F24-CC93-9E13B3815324}"/>
                </a:ext>
              </a:extLst>
            </p:cNvPr>
            <p:cNvSpPr txBox="1"/>
            <p:nvPr/>
          </p:nvSpPr>
          <p:spPr>
            <a:xfrm>
              <a:off x="8045775" y="2693359"/>
              <a:ext cx="518453" cy="369332"/>
            </a:xfrm>
            <a:prstGeom prst="rect">
              <a:avLst/>
            </a:prstGeom>
            <a:noFill/>
          </p:spPr>
          <p:txBody>
            <a:bodyPr wrap="square" rtlCol="0">
              <a:spAutoFit/>
            </a:bodyPr>
            <a:lstStyle/>
            <a:p>
              <a:r>
                <a:rPr lang="en-US" dirty="0"/>
                <a:t>E</a:t>
              </a:r>
              <a:endParaRPr lang="vi-VN" dirty="0"/>
            </a:p>
          </p:txBody>
        </p:sp>
      </p:grpSp>
    </p:spTree>
    <p:extLst>
      <p:ext uri="{BB962C8B-B14F-4D97-AF65-F5344CB8AC3E}">
        <p14:creationId xmlns:p14="http://schemas.microsoft.com/office/powerpoint/2010/main" val="2168490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A0E39-0B59-E34E-DA63-15007FD75BC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89D3D4A-3824-52B0-F892-72E50BD00DCF}"/>
              </a:ext>
            </a:extLst>
          </p:cNvPr>
          <p:cNvSpPr>
            <a:spLocks noGrp="1"/>
          </p:cNvSpPr>
          <p:nvPr>
            <p:ph type="title"/>
          </p:nvPr>
        </p:nvSpPr>
        <p:spPr/>
        <p:txBody>
          <a:bodyPr/>
          <a:lstStyle/>
          <a:p>
            <a:r>
              <a:rPr lang="vi-VN" dirty="0"/>
              <a:t>3. Minh họa</a:t>
            </a:r>
          </a:p>
        </p:txBody>
      </p:sp>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7ABEBEBA-9DE2-DE8B-49B8-E0FCD9067D8A}"/>
                  </a:ext>
                </a:extLst>
              </p:cNvPr>
              <p:cNvSpPr>
                <a:spLocks noGrp="1"/>
              </p:cNvSpPr>
              <p:nvPr>
                <p:ph idx="1"/>
              </p:nvPr>
            </p:nvSpPr>
            <p:spPr>
              <a:xfrm>
                <a:off x="581193" y="2340864"/>
                <a:ext cx="5514808" cy="4517136"/>
              </a:xfrm>
            </p:spPr>
            <p:txBody>
              <a:bodyPr anchor="t"/>
              <a:lstStyle/>
              <a:p>
                <a:pPr marL="0" indent="0">
                  <a:buNone/>
                </a:pPr>
                <a:r>
                  <a:rPr lang="vi-VN" b="1" dirty="0"/>
                  <a:t>Bước 2: </a:t>
                </a:r>
                <a:r>
                  <a:rPr lang="vi-VN" sz="1800" b="1" dirty="0"/>
                  <a:t>Xác định các đỉnh mật độ.</a:t>
                </a:r>
                <a:endParaRPr lang="vi-VN" b="1" dirty="0"/>
              </a:p>
              <a:p>
                <a:pPr marL="0" indent="0">
                  <a:buNone/>
                </a:pPr>
                <a:r>
                  <a:rPr lang="vi-VN" sz="1600" dirty="0"/>
                  <a:t>	1. Tính mật độ (</a:t>
                </a:r>
                <a14:m>
                  <m:oMath xmlns:m="http://schemas.openxmlformats.org/officeDocument/2006/math">
                    <m:sSub>
                      <m:sSubPr>
                        <m:ctrlPr>
                          <a:rPr lang="vi-VN" sz="1600" i="1" smtClean="0">
                            <a:latin typeface="Cambria Math" panose="02040503050406030204" pitchFamily="18" charset="0"/>
                          </a:rPr>
                        </m:ctrlPr>
                      </m:sSubPr>
                      <m:e>
                        <m:r>
                          <a:rPr lang="vi-VN" sz="1600" i="1" smtClean="0">
                            <a:latin typeface="Cambria Math" panose="02040503050406030204" pitchFamily="18" charset="0"/>
                          </a:rPr>
                          <m:t>𝜌</m:t>
                        </m:r>
                      </m:e>
                      <m:sub>
                        <m:r>
                          <a:rPr lang="vi-VN" sz="1600" i="1">
                            <a:latin typeface="Cambria Math" panose="02040503050406030204" pitchFamily="18" charset="0"/>
                          </a:rPr>
                          <m:t>𝑣</m:t>
                        </m:r>
                      </m:sub>
                    </m:sSub>
                  </m:oMath>
                </a14:m>
                <a:r>
                  <a:rPr lang="vi-VN" sz="1600" dirty="0"/>
                  <a:t>):</a:t>
                </a:r>
              </a:p>
              <a:p>
                <a:pPr lvl="1"/>
                <a:r>
                  <a:rPr lang="vi-VN" sz="1600" dirty="0"/>
                  <a:t>Tính ma trận khoảng cách giữa các điểm.</a:t>
                </a:r>
                <a:br>
                  <a:rPr lang="vi-VN" sz="1600" dirty="0"/>
                </a:br>
                <a:r>
                  <a:rPr lang="vi-VN" sz="1600" dirty="0">
                    <a:sym typeface="Wingdings" panose="05000000000000000000" pitchFamily="2" charset="2"/>
                  </a:rPr>
                  <a:t> D</a:t>
                </a:r>
                <a:r>
                  <a:rPr lang="vi-VN" sz="1600" dirty="0"/>
                  <a:t>anh sách các cặp điểm được sắp xếp bé đến lớn.</a:t>
                </a:r>
              </a:p>
              <a:p>
                <a:pPr lvl="1"/>
                <a:r>
                  <a:rPr lang="vi-VN" sz="1600" dirty="0"/>
                  <a:t>Chọn </a:t>
                </a:r>
                <a14:m>
                  <m:oMath xmlns:m="http://schemas.openxmlformats.org/officeDocument/2006/math">
                    <m:sSub>
                      <m:sSubPr>
                        <m:ctrlPr>
                          <a:rPr lang="vi-VN" sz="1600" i="1" dirty="0" err="1" smtClean="0">
                            <a:latin typeface="Cambria Math" panose="02040503050406030204" pitchFamily="18" charset="0"/>
                          </a:rPr>
                        </m:ctrlPr>
                      </m:sSubPr>
                      <m:e>
                        <m:r>
                          <a:rPr lang="vi-VN" sz="1600" i="1" dirty="0" smtClean="0">
                            <a:latin typeface="Cambria Math" panose="02040503050406030204" pitchFamily="18" charset="0"/>
                          </a:rPr>
                          <m:t>𝑑</m:t>
                        </m:r>
                      </m:e>
                      <m:sub>
                        <m:r>
                          <a:rPr lang="vi-VN" sz="1600" i="1" dirty="0" err="1" smtClean="0">
                            <a:latin typeface="Cambria Math" panose="02040503050406030204" pitchFamily="18" charset="0"/>
                          </a:rPr>
                          <m:t>𝑐</m:t>
                        </m:r>
                      </m:sub>
                    </m:sSub>
                  </m:oMath>
                </a14:m>
                <a:r>
                  <a:rPr lang="vi-VN" sz="1600" dirty="0"/>
                  <a:t> (</a:t>
                </a:r>
                <a:r>
                  <a:rPr lang="vi-VN" sz="1600" dirty="0" err="1"/>
                  <a:t>Cutoff</a:t>
                </a:r>
                <a:r>
                  <a:rPr lang="vi-VN" sz="1600" dirty="0"/>
                  <a:t>  </a:t>
                </a:r>
                <a:r>
                  <a:rPr lang="vi-VN" sz="1600" dirty="0" err="1"/>
                  <a:t>Distance</a:t>
                </a:r>
                <a:r>
                  <a:rPr lang="vi-VN" sz="1600" dirty="0"/>
                  <a:t>) chọn vị trí 2% trong danh sách.</a:t>
                </a:r>
              </a:p>
              <a:p>
                <a:pPr marL="324000" lvl="1" indent="0">
                  <a:buNone/>
                </a:pPr>
                <a:r>
                  <a:rPr lang="vi-VN" sz="1600" dirty="0"/>
                  <a:t>Ví dụ: Ta có 6 điểm </a:t>
                </a:r>
                <a:r>
                  <a:rPr lang="vi-VN" sz="1600" dirty="0">
                    <a:sym typeface="Wingdings" panose="05000000000000000000" pitchFamily="2" charset="2"/>
                  </a:rPr>
                  <a:t> ta được danh sách </a:t>
                </a:r>
                <a14:m>
                  <m:oMath xmlns:m="http://schemas.openxmlformats.org/officeDocument/2006/math">
                    <m:f>
                      <m:fPr>
                        <m:ctrlPr>
                          <a:rPr lang="vi-VN" sz="1600" i="1" dirty="0" smtClean="0">
                            <a:latin typeface="Cambria Math" panose="02040503050406030204" pitchFamily="18" charset="0"/>
                            <a:sym typeface="Wingdings" panose="05000000000000000000" pitchFamily="2" charset="2"/>
                          </a:rPr>
                        </m:ctrlPr>
                      </m:fPr>
                      <m:num>
                        <m:r>
                          <a:rPr lang="vi-VN" sz="1600" i="1" dirty="0" smtClean="0">
                            <a:latin typeface="Cambria Math" panose="02040503050406030204" pitchFamily="18" charset="0"/>
                            <a:sym typeface="Wingdings" panose="05000000000000000000" pitchFamily="2" charset="2"/>
                          </a:rPr>
                          <m:t>6</m:t>
                        </m:r>
                        <m:d>
                          <m:dPr>
                            <m:ctrlPr>
                              <a:rPr lang="vi-VN" sz="1600" i="1" dirty="0" smtClean="0">
                                <a:latin typeface="Cambria Math" panose="02040503050406030204" pitchFamily="18" charset="0"/>
                                <a:sym typeface="Wingdings" panose="05000000000000000000" pitchFamily="2" charset="2"/>
                              </a:rPr>
                            </m:ctrlPr>
                          </m:dPr>
                          <m:e>
                            <m:r>
                              <a:rPr lang="vi-VN" sz="1600" i="1" dirty="0" smtClean="0">
                                <a:latin typeface="Cambria Math" panose="02040503050406030204" pitchFamily="18" charset="0"/>
                                <a:sym typeface="Wingdings" panose="05000000000000000000" pitchFamily="2" charset="2"/>
                              </a:rPr>
                              <m:t>6−1</m:t>
                            </m:r>
                          </m:e>
                        </m:d>
                      </m:num>
                      <m:den>
                        <m:r>
                          <a:rPr lang="vi-VN" sz="1600" i="1" dirty="0" smtClean="0">
                            <a:latin typeface="Cambria Math" panose="02040503050406030204" pitchFamily="18" charset="0"/>
                            <a:sym typeface="Wingdings" panose="05000000000000000000" pitchFamily="2" charset="2"/>
                          </a:rPr>
                          <m:t>2</m:t>
                        </m:r>
                      </m:den>
                    </m:f>
                    <m:r>
                      <a:rPr lang="vi-VN" sz="1600" i="1" dirty="0" smtClean="0">
                        <a:latin typeface="Cambria Math" panose="02040503050406030204" pitchFamily="18" charset="0"/>
                        <a:sym typeface="Wingdings" panose="05000000000000000000" pitchFamily="2" charset="2"/>
                      </a:rPr>
                      <m:t> </m:t>
                    </m:r>
                  </m:oMath>
                </a14:m>
                <a:r>
                  <a:rPr lang="vi-VN" sz="1600" dirty="0">
                    <a:sym typeface="Wingdings" panose="05000000000000000000" pitchFamily="2" charset="2"/>
                  </a:rPr>
                  <a:t>= 15 </a:t>
                </a:r>
                <a:endParaRPr lang="vi-VN" sz="1600" dirty="0"/>
              </a:p>
              <a:p>
                <a:pPr marL="324000" lvl="1" indent="0">
                  <a:buNone/>
                </a:pPr>
                <a:r>
                  <a:rPr lang="vi-VN" sz="1600" dirty="0"/>
                  <a:t>Vậy chọn </a:t>
                </a:r>
                <a14:m>
                  <m:oMath xmlns:m="http://schemas.openxmlformats.org/officeDocument/2006/math">
                    <m:sSub>
                      <m:sSubPr>
                        <m:ctrlPr>
                          <a:rPr lang="vi-VN" sz="1600" i="1" dirty="0">
                            <a:latin typeface="Cambria Math" panose="02040503050406030204" pitchFamily="18" charset="0"/>
                          </a:rPr>
                        </m:ctrlPr>
                      </m:sSubPr>
                      <m:e>
                        <m:r>
                          <a:rPr lang="vi-VN" sz="1600" i="1" dirty="0">
                            <a:latin typeface="Cambria Math" panose="02040503050406030204" pitchFamily="18" charset="0"/>
                          </a:rPr>
                          <m:t>𝑑</m:t>
                        </m:r>
                      </m:e>
                      <m:sub>
                        <m:r>
                          <a:rPr lang="vi-VN" sz="1600" i="1" dirty="0" err="1">
                            <a:latin typeface="Cambria Math" panose="02040503050406030204" pitchFamily="18" charset="0"/>
                          </a:rPr>
                          <m:t>𝑐</m:t>
                        </m:r>
                      </m:sub>
                    </m:sSub>
                  </m:oMath>
                </a14:m>
                <a:r>
                  <a:rPr lang="vi-VN" sz="1600" dirty="0"/>
                  <a:t> ở vị trí 2% x 15 = 3.</a:t>
                </a:r>
              </a:p>
            </p:txBody>
          </p:sp>
        </mc:Choice>
        <mc:Fallback xmlns="">
          <p:sp>
            <p:nvSpPr>
              <p:cNvPr id="12" name="Content Placeholder 11">
                <a:extLst>
                  <a:ext uri="{FF2B5EF4-FFF2-40B4-BE49-F238E27FC236}">
                    <a16:creationId xmlns:a16="http://schemas.microsoft.com/office/drawing/2014/main" id="{7ABEBEBA-9DE2-DE8B-49B8-E0FCD9067D8A}"/>
                  </a:ext>
                </a:extLst>
              </p:cNvPr>
              <p:cNvSpPr>
                <a:spLocks noGrp="1" noRot="1" noChangeAspect="1" noMove="1" noResize="1" noEditPoints="1" noAdjustHandles="1" noChangeArrowheads="1" noChangeShapeType="1" noTextEdit="1"/>
              </p:cNvSpPr>
              <p:nvPr>
                <p:ph idx="1"/>
              </p:nvPr>
            </p:nvSpPr>
            <p:spPr>
              <a:xfrm>
                <a:off x="581193" y="2340864"/>
                <a:ext cx="5514808" cy="4517136"/>
              </a:xfrm>
              <a:blipFill>
                <a:blip r:embed="rId2"/>
                <a:stretch>
                  <a:fillRect l="-663" t="-540" r="-884"/>
                </a:stretch>
              </a:blipFill>
            </p:spPr>
            <p:txBody>
              <a:bodyPr/>
              <a:lstStyle/>
              <a:p>
                <a:r>
                  <a:rPr lang="vi-VN">
                    <a:noFill/>
                  </a:rPr>
                  <a:t> </a:t>
                </a:r>
              </a:p>
            </p:txBody>
          </p:sp>
        </mc:Fallback>
      </mc:AlternateContent>
      <p:grpSp>
        <p:nvGrpSpPr>
          <p:cNvPr id="61" name="Group 60">
            <a:extLst>
              <a:ext uri="{FF2B5EF4-FFF2-40B4-BE49-F238E27FC236}">
                <a16:creationId xmlns:a16="http://schemas.microsoft.com/office/drawing/2014/main" id="{BC14AE1A-2B45-B6B5-C736-9CFBAAA45903}"/>
              </a:ext>
            </a:extLst>
          </p:cNvPr>
          <p:cNvGrpSpPr/>
          <p:nvPr/>
        </p:nvGrpSpPr>
        <p:grpSpPr>
          <a:xfrm>
            <a:off x="6776268" y="2426864"/>
            <a:ext cx="4504163" cy="3462485"/>
            <a:chOff x="6379647" y="2693359"/>
            <a:chExt cx="4504163" cy="3462485"/>
          </a:xfrm>
        </p:grpSpPr>
        <p:sp>
          <p:nvSpPr>
            <p:cNvPr id="63" name="TextBox 62">
              <a:extLst>
                <a:ext uri="{FF2B5EF4-FFF2-40B4-BE49-F238E27FC236}">
                  <a16:creationId xmlns:a16="http://schemas.microsoft.com/office/drawing/2014/main" id="{88254F8A-60B8-EC1B-0635-178BC7DC0F88}"/>
                </a:ext>
              </a:extLst>
            </p:cNvPr>
            <p:cNvSpPr txBox="1"/>
            <p:nvPr/>
          </p:nvSpPr>
          <p:spPr>
            <a:xfrm>
              <a:off x="7185475" y="2729336"/>
              <a:ext cx="518453" cy="369332"/>
            </a:xfrm>
            <a:prstGeom prst="rect">
              <a:avLst/>
            </a:prstGeom>
            <a:noFill/>
          </p:spPr>
          <p:txBody>
            <a:bodyPr wrap="square" rtlCol="0">
              <a:spAutoFit/>
            </a:bodyPr>
            <a:lstStyle/>
            <a:p>
              <a:r>
                <a:rPr lang="en-US" dirty="0"/>
                <a:t>V</a:t>
              </a:r>
              <a:endParaRPr lang="vi-VN" dirty="0"/>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03D4E3C7-3670-CFED-7600-8F88DF64B4B8}"/>
                    </a:ext>
                  </a:extLst>
                </p:cNvPr>
                <p:cNvSpPr txBox="1"/>
                <p:nvPr/>
              </p:nvSpPr>
              <p:spPr>
                <a:xfrm>
                  <a:off x="8023009" y="3194565"/>
                  <a:ext cx="51845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i="1">
                            <a:latin typeface="Cambria Math" panose="02040503050406030204" pitchFamily="18" charset="0"/>
                            <a:ea typeface="Cambria Math" panose="02040503050406030204" pitchFamily="18" charset="0"/>
                          </a:rPr>
                          <m:t>𝜔</m:t>
                        </m:r>
                      </m:oMath>
                    </m:oMathPara>
                  </a14:m>
                  <a:endParaRPr lang="vi-VN" dirty="0"/>
                </a:p>
              </p:txBody>
            </p:sp>
          </mc:Choice>
          <mc:Fallback xmlns="">
            <p:sp>
              <p:nvSpPr>
                <p:cNvPr id="64" name="TextBox 63">
                  <a:extLst>
                    <a:ext uri="{FF2B5EF4-FFF2-40B4-BE49-F238E27FC236}">
                      <a16:creationId xmlns:a16="http://schemas.microsoft.com/office/drawing/2014/main" id="{03D4E3C7-3670-CFED-7600-8F88DF64B4B8}"/>
                    </a:ext>
                  </a:extLst>
                </p:cNvPr>
                <p:cNvSpPr txBox="1">
                  <a:spLocks noRot="1" noChangeAspect="1" noMove="1" noResize="1" noEditPoints="1" noAdjustHandles="1" noChangeArrowheads="1" noChangeShapeType="1" noTextEdit="1"/>
                </p:cNvSpPr>
                <p:nvPr/>
              </p:nvSpPr>
              <p:spPr>
                <a:xfrm>
                  <a:off x="8023009" y="3194565"/>
                  <a:ext cx="518453" cy="369332"/>
                </a:xfrm>
                <a:prstGeom prst="rect">
                  <a:avLst/>
                </a:prstGeom>
                <a:blipFill>
                  <a:blip r:embed="rId3"/>
                  <a:stretch>
                    <a:fillRect/>
                  </a:stretch>
                </a:blipFill>
              </p:spPr>
              <p:txBody>
                <a:bodyPr/>
                <a:lstStyle/>
                <a:p>
                  <a:r>
                    <a:rPr lang="vi-VN">
                      <a:noFill/>
                    </a:rPr>
                    <a:t> </a:t>
                  </a:r>
                </a:p>
              </p:txBody>
            </p:sp>
          </mc:Fallback>
        </mc:AlternateContent>
        <p:grpSp>
          <p:nvGrpSpPr>
            <p:cNvPr id="65" name="Group 64">
              <a:extLst>
                <a:ext uri="{FF2B5EF4-FFF2-40B4-BE49-F238E27FC236}">
                  <a16:creationId xmlns:a16="http://schemas.microsoft.com/office/drawing/2014/main" id="{69898345-3886-772C-0467-99A05DD1E086}"/>
                </a:ext>
              </a:extLst>
            </p:cNvPr>
            <p:cNvGrpSpPr/>
            <p:nvPr/>
          </p:nvGrpSpPr>
          <p:grpSpPr>
            <a:xfrm>
              <a:off x="6379647" y="2835670"/>
              <a:ext cx="4504163" cy="3320174"/>
              <a:chOff x="3101788" y="2590800"/>
              <a:chExt cx="4504163" cy="3320174"/>
            </a:xfrm>
          </p:grpSpPr>
          <p:sp>
            <p:nvSpPr>
              <p:cNvPr id="67" name="Oval 66">
                <a:extLst>
                  <a:ext uri="{FF2B5EF4-FFF2-40B4-BE49-F238E27FC236}">
                    <a16:creationId xmlns:a16="http://schemas.microsoft.com/office/drawing/2014/main" id="{1F9FBBEB-C399-99FE-B2C4-F920F93AC6D2}"/>
                  </a:ext>
                </a:extLst>
              </p:cNvPr>
              <p:cNvSpPr/>
              <p:nvPr/>
            </p:nvSpPr>
            <p:spPr>
              <a:xfrm>
                <a:off x="3765176" y="292249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endParaRPr lang="vi-VN" dirty="0"/>
              </a:p>
            </p:txBody>
          </p:sp>
          <p:sp>
            <p:nvSpPr>
              <p:cNvPr id="68" name="Oval 67">
                <a:extLst>
                  <a:ext uri="{FF2B5EF4-FFF2-40B4-BE49-F238E27FC236}">
                    <a16:creationId xmlns:a16="http://schemas.microsoft.com/office/drawing/2014/main" id="{4C7311E5-2A56-E53F-B3BF-3E6724522795}"/>
                  </a:ext>
                </a:extLst>
              </p:cNvPr>
              <p:cNvSpPr/>
              <p:nvPr/>
            </p:nvSpPr>
            <p:spPr>
              <a:xfrm>
                <a:off x="3101788" y="436925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endParaRPr lang="vi-VN" dirty="0"/>
              </a:p>
            </p:txBody>
          </p:sp>
          <p:sp>
            <p:nvSpPr>
              <p:cNvPr id="69" name="Oval 68">
                <a:extLst>
                  <a:ext uri="{FF2B5EF4-FFF2-40B4-BE49-F238E27FC236}">
                    <a16:creationId xmlns:a16="http://schemas.microsoft.com/office/drawing/2014/main" id="{BF48B8E1-9220-6E80-B7CD-768F0586F945}"/>
                  </a:ext>
                </a:extLst>
              </p:cNvPr>
              <p:cNvSpPr/>
              <p:nvPr/>
            </p:nvSpPr>
            <p:spPr>
              <a:xfrm>
                <a:off x="5602940" y="2590800"/>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endParaRPr lang="vi-VN" dirty="0"/>
              </a:p>
            </p:txBody>
          </p:sp>
          <p:sp>
            <p:nvSpPr>
              <p:cNvPr id="70" name="Oval 69">
                <a:extLst>
                  <a:ext uri="{FF2B5EF4-FFF2-40B4-BE49-F238E27FC236}">
                    <a16:creationId xmlns:a16="http://schemas.microsoft.com/office/drawing/2014/main" id="{8D199554-D10D-6799-7635-51F928770C70}"/>
                  </a:ext>
                </a:extLst>
              </p:cNvPr>
              <p:cNvSpPr/>
              <p:nvPr/>
            </p:nvSpPr>
            <p:spPr>
              <a:xfrm>
                <a:off x="5054635" y="379530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endParaRPr lang="vi-VN" dirty="0"/>
              </a:p>
            </p:txBody>
          </p:sp>
          <p:sp>
            <p:nvSpPr>
              <p:cNvPr id="71" name="Oval 70">
                <a:extLst>
                  <a:ext uri="{FF2B5EF4-FFF2-40B4-BE49-F238E27FC236}">
                    <a16:creationId xmlns:a16="http://schemas.microsoft.com/office/drawing/2014/main" id="{BD29950C-5C9C-CDDF-940C-7F5C2CE70A86}"/>
                  </a:ext>
                </a:extLst>
              </p:cNvPr>
              <p:cNvSpPr/>
              <p:nvPr/>
            </p:nvSpPr>
            <p:spPr>
              <a:xfrm>
                <a:off x="5941057" y="524758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endParaRPr lang="vi-VN" dirty="0"/>
              </a:p>
            </p:txBody>
          </p:sp>
          <p:sp>
            <p:nvSpPr>
              <p:cNvPr id="72" name="Oval 71">
                <a:extLst>
                  <a:ext uri="{FF2B5EF4-FFF2-40B4-BE49-F238E27FC236}">
                    <a16:creationId xmlns:a16="http://schemas.microsoft.com/office/drawing/2014/main" id="{DBADDD12-DF85-57FE-C4B3-9EF021BAE63F}"/>
                  </a:ext>
                </a:extLst>
              </p:cNvPr>
              <p:cNvSpPr/>
              <p:nvPr/>
            </p:nvSpPr>
            <p:spPr>
              <a:xfrm>
                <a:off x="6942563" y="3595109"/>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endParaRPr lang="vi-VN" dirty="0"/>
              </a:p>
            </p:txBody>
          </p:sp>
          <p:cxnSp>
            <p:nvCxnSpPr>
              <p:cNvPr id="73" name="Straight Connector 72">
                <a:extLst>
                  <a:ext uri="{FF2B5EF4-FFF2-40B4-BE49-F238E27FC236}">
                    <a16:creationId xmlns:a16="http://schemas.microsoft.com/office/drawing/2014/main" id="{D0560545-3E70-994B-F48D-C56F15DCA968}"/>
                  </a:ext>
                </a:extLst>
              </p:cNvPr>
              <p:cNvCxnSpPr>
                <a:stCxn id="67" idx="5"/>
                <a:endCxn id="70" idx="1"/>
              </p:cNvCxnSpPr>
              <p:nvPr/>
            </p:nvCxnSpPr>
            <p:spPr>
              <a:xfrm>
                <a:off x="4331413" y="3488731"/>
                <a:ext cx="820373" cy="403724"/>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4" name="Straight Connector 73">
                <a:extLst>
                  <a:ext uri="{FF2B5EF4-FFF2-40B4-BE49-F238E27FC236}">
                    <a16:creationId xmlns:a16="http://schemas.microsoft.com/office/drawing/2014/main" id="{D38D6820-6ACC-FD2C-3A4F-029DEBB39BCC}"/>
                  </a:ext>
                </a:extLst>
              </p:cNvPr>
              <p:cNvCxnSpPr>
                <a:cxnSpLocks/>
                <a:stCxn id="67" idx="7"/>
                <a:endCxn id="69" idx="2"/>
              </p:cNvCxnSpPr>
              <p:nvPr/>
            </p:nvCxnSpPr>
            <p:spPr>
              <a:xfrm flipV="1">
                <a:off x="4331413" y="2922494"/>
                <a:ext cx="1271527" cy="9715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5" name="Straight Connector 74">
                <a:extLst>
                  <a:ext uri="{FF2B5EF4-FFF2-40B4-BE49-F238E27FC236}">
                    <a16:creationId xmlns:a16="http://schemas.microsoft.com/office/drawing/2014/main" id="{2D723190-0662-43A6-672E-3913EAF4B947}"/>
                  </a:ext>
                </a:extLst>
              </p:cNvPr>
              <p:cNvCxnSpPr>
                <a:cxnSpLocks/>
                <a:stCxn id="69" idx="5"/>
                <a:endCxn id="72" idx="1"/>
              </p:cNvCxnSpPr>
              <p:nvPr/>
            </p:nvCxnSpPr>
            <p:spPr>
              <a:xfrm>
                <a:off x="6169177" y="3157037"/>
                <a:ext cx="870537" cy="53522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6" name="Straight Connector 75">
                <a:extLst>
                  <a:ext uri="{FF2B5EF4-FFF2-40B4-BE49-F238E27FC236}">
                    <a16:creationId xmlns:a16="http://schemas.microsoft.com/office/drawing/2014/main" id="{E2344F6D-1180-36A4-E682-540CC41B28ED}"/>
                  </a:ext>
                </a:extLst>
              </p:cNvPr>
              <p:cNvCxnSpPr>
                <a:cxnSpLocks/>
                <a:stCxn id="72" idx="4"/>
                <a:endCxn id="71" idx="7"/>
              </p:cNvCxnSpPr>
              <p:nvPr/>
            </p:nvCxnSpPr>
            <p:spPr>
              <a:xfrm flipH="1">
                <a:off x="6507294" y="4258497"/>
                <a:ext cx="766963" cy="108624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7" name="Straight Connector 76">
                <a:extLst>
                  <a:ext uri="{FF2B5EF4-FFF2-40B4-BE49-F238E27FC236}">
                    <a16:creationId xmlns:a16="http://schemas.microsoft.com/office/drawing/2014/main" id="{786F0B26-ECD0-2876-2C12-0090AF76CD15}"/>
                  </a:ext>
                </a:extLst>
              </p:cNvPr>
              <p:cNvCxnSpPr>
                <a:cxnSpLocks/>
                <a:stCxn id="68" idx="6"/>
                <a:endCxn id="71" idx="2"/>
              </p:cNvCxnSpPr>
              <p:nvPr/>
            </p:nvCxnSpPr>
            <p:spPr>
              <a:xfrm>
                <a:off x="3765176" y="4700950"/>
                <a:ext cx="2175881" cy="87833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8" name="Straight Connector 77">
                <a:extLst>
                  <a:ext uri="{FF2B5EF4-FFF2-40B4-BE49-F238E27FC236}">
                    <a16:creationId xmlns:a16="http://schemas.microsoft.com/office/drawing/2014/main" id="{162F6202-31C0-D8A6-B4FA-7316C586CD63}"/>
                  </a:ext>
                </a:extLst>
              </p:cNvPr>
              <p:cNvCxnSpPr>
                <a:cxnSpLocks/>
                <a:stCxn id="70" idx="5"/>
                <a:endCxn id="71" idx="1"/>
              </p:cNvCxnSpPr>
              <p:nvPr/>
            </p:nvCxnSpPr>
            <p:spPr>
              <a:xfrm>
                <a:off x="5620872" y="4361541"/>
                <a:ext cx="417336" cy="983196"/>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9" name="Straight Connector 78">
                <a:extLst>
                  <a:ext uri="{FF2B5EF4-FFF2-40B4-BE49-F238E27FC236}">
                    <a16:creationId xmlns:a16="http://schemas.microsoft.com/office/drawing/2014/main" id="{969195B4-44A1-8106-BF06-21F14057AE6F}"/>
                  </a:ext>
                </a:extLst>
              </p:cNvPr>
              <p:cNvCxnSpPr>
                <a:cxnSpLocks/>
                <a:stCxn id="67" idx="3"/>
                <a:endCxn id="68" idx="0"/>
              </p:cNvCxnSpPr>
              <p:nvPr/>
            </p:nvCxnSpPr>
            <p:spPr>
              <a:xfrm flipH="1">
                <a:off x="3433482" y="3488731"/>
                <a:ext cx="428845" cy="88052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0" name="Straight Connector 79">
                <a:extLst>
                  <a:ext uri="{FF2B5EF4-FFF2-40B4-BE49-F238E27FC236}">
                    <a16:creationId xmlns:a16="http://schemas.microsoft.com/office/drawing/2014/main" id="{D5DF613D-8899-4176-FCF0-1232BE17CAE3}"/>
                  </a:ext>
                </a:extLst>
              </p:cNvPr>
              <p:cNvCxnSpPr>
                <a:cxnSpLocks/>
                <a:stCxn id="70" idx="2"/>
                <a:endCxn id="68" idx="7"/>
              </p:cNvCxnSpPr>
              <p:nvPr/>
            </p:nvCxnSpPr>
            <p:spPr>
              <a:xfrm flipH="1">
                <a:off x="3668025" y="4126998"/>
                <a:ext cx="1386610" cy="339409"/>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1" name="Straight Connector 80">
                <a:extLst>
                  <a:ext uri="{FF2B5EF4-FFF2-40B4-BE49-F238E27FC236}">
                    <a16:creationId xmlns:a16="http://schemas.microsoft.com/office/drawing/2014/main" id="{E0080EEF-DD00-E4E5-2569-EBDAC765BED9}"/>
                  </a:ext>
                </a:extLst>
              </p:cNvPr>
              <p:cNvCxnSpPr>
                <a:cxnSpLocks/>
                <a:stCxn id="70" idx="6"/>
                <a:endCxn id="72" idx="2"/>
              </p:cNvCxnSpPr>
              <p:nvPr/>
            </p:nvCxnSpPr>
            <p:spPr>
              <a:xfrm flipV="1">
                <a:off x="5718023" y="3926803"/>
                <a:ext cx="1224540" cy="20019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66" name="TextBox 65">
              <a:extLst>
                <a:ext uri="{FF2B5EF4-FFF2-40B4-BE49-F238E27FC236}">
                  <a16:creationId xmlns:a16="http://schemas.microsoft.com/office/drawing/2014/main" id="{6D4BC029-068F-F78B-3A9C-1BDDB7B9BB8A}"/>
                </a:ext>
              </a:extLst>
            </p:cNvPr>
            <p:cNvSpPr txBox="1"/>
            <p:nvPr/>
          </p:nvSpPr>
          <p:spPr>
            <a:xfrm>
              <a:off x="8045775" y="2693359"/>
              <a:ext cx="518453" cy="369332"/>
            </a:xfrm>
            <a:prstGeom prst="rect">
              <a:avLst/>
            </a:prstGeom>
            <a:noFill/>
          </p:spPr>
          <p:txBody>
            <a:bodyPr wrap="square" rtlCol="0">
              <a:spAutoFit/>
            </a:bodyPr>
            <a:lstStyle/>
            <a:p>
              <a:r>
                <a:rPr lang="en-US" dirty="0"/>
                <a:t>E</a:t>
              </a:r>
              <a:endParaRPr lang="vi-VN" dirty="0"/>
            </a:p>
          </p:txBody>
        </p:sp>
      </p:grpSp>
    </p:spTree>
    <p:extLst>
      <p:ext uri="{BB962C8B-B14F-4D97-AF65-F5344CB8AC3E}">
        <p14:creationId xmlns:p14="http://schemas.microsoft.com/office/powerpoint/2010/main" val="3937136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975EF-CFAD-58B0-8339-01D84887087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5143FE6-0F9F-B566-B846-08D3584C5FC9}"/>
              </a:ext>
            </a:extLst>
          </p:cNvPr>
          <p:cNvSpPr>
            <a:spLocks noGrp="1"/>
          </p:cNvSpPr>
          <p:nvPr>
            <p:ph type="title"/>
          </p:nvPr>
        </p:nvSpPr>
        <p:spPr/>
        <p:txBody>
          <a:bodyPr/>
          <a:lstStyle/>
          <a:p>
            <a:r>
              <a:rPr lang="vi-VN" dirty="0"/>
              <a:t>3. Minh họa</a:t>
            </a:r>
          </a:p>
        </p:txBody>
      </p:sp>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0AEC64E3-DC0C-848D-CA56-5557CD9A59EE}"/>
                  </a:ext>
                </a:extLst>
              </p:cNvPr>
              <p:cNvSpPr>
                <a:spLocks noGrp="1"/>
              </p:cNvSpPr>
              <p:nvPr>
                <p:ph idx="1"/>
              </p:nvPr>
            </p:nvSpPr>
            <p:spPr>
              <a:xfrm>
                <a:off x="581193" y="2340864"/>
                <a:ext cx="5514808" cy="4517136"/>
              </a:xfrm>
            </p:spPr>
            <p:txBody>
              <a:bodyPr anchor="t"/>
              <a:lstStyle/>
              <a:p>
                <a:pPr marL="0" indent="0">
                  <a:buNone/>
                </a:pPr>
                <a:r>
                  <a:rPr lang="vi-VN" b="1" dirty="0"/>
                  <a:t>Bước 2: </a:t>
                </a:r>
                <a:r>
                  <a:rPr lang="vi-VN" sz="1800" b="1" dirty="0"/>
                  <a:t>Xác định các đỉnh mật độ.</a:t>
                </a:r>
                <a:br>
                  <a:rPr lang="vi-VN" dirty="0"/>
                </a:br>
                <a:r>
                  <a:rPr lang="vi-VN" dirty="0"/>
                  <a:t>	</a:t>
                </a:r>
                <a:r>
                  <a:rPr lang="vi-VN" sz="1600" dirty="0"/>
                  <a:t>1. Tính mật độ (</a:t>
                </a:r>
                <a14:m>
                  <m:oMath xmlns:m="http://schemas.openxmlformats.org/officeDocument/2006/math">
                    <m:sSub>
                      <m:sSubPr>
                        <m:ctrlPr>
                          <a:rPr lang="vi-VN" sz="1600" i="1">
                            <a:latin typeface="Cambria Math" panose="02040503050406030204" pitchFamily="18" charset="0"/>
                          </a:rPr>
                        </m:ctrlPr>
                      </m:sSubPr>
                      <m:e>
                        <m:r>
                          <a:rPr lang="vi-VN" sz="1600" i="1">
                            <a:latin typeface="Cambria Math" panose="02040503050406030204" pitchFamily="18" charset="0"/>
                          </a:rPr>
                          <m:t>𝜌</m:t>
                        </m:r>
                      </m:e>
                      <m:sub>
                        <m:r>
                          <a:rPr lang="vi-VN" sz="1600" i="1">
                            <a:latin typeface="Cambria Math" panose="02040503050406030204" pitchFamily="18" charset="0"/>
                          </a:rPr>
                          <m:t>𝑣</m:t>
                        </m:r>
                      </m:sub>
                    </m:sSub>
                  </m:oMath>
                </a14:m>
                <a:r>
                  <a:rPr lang="vi-VN" sz="1600" dirty="0"/>
                  <a:t>):</a:t>
                </a:r>
              </a:p>
              <a:p>
                <a:pPr lvl="1"/>
                <a:r>
                  <a:rPr lang="vi-VN" sz="1600" dirty="0"/>
                  <a:t>Tính ma trận khoảng cách giữa các điểm.</a:t>
                </a:r>
              </a:p>
              <a:p>
                <a:pPr lvl="1"/>
                <a:r>
                  <a:rPr lang="vi-VN" sz="1600" dirty="0"/>
                  <a:t>Chọn </a:t>
                </a:r>
                <a14:m>
                  <m:oMath xmlns:m="http://schemas.openxmlformats.org/officeDocument/2006/math">
                    <m:sSub>
                      <m:sSubPr>
                        <m:ctrlPr>
                          <a:rPr lang="vi-VN" sz="1600" i="1" dirty="0" err="1">
                            <a:latin typeface="Cambria Math" panose="02040503050406030204" pitchFamily="18" charset="0"/>
                          </a:rPr>
                        </m:ctrlPr>
                      </m:sSubPr>
                      <m:e>
                        <m:r>
                          <a:rPr lang="vi-VN" sz="1600" i="1" dirty="0">
                            <a:latin typeface="Cambria Math" panose="02040503050406030204" pitchFamily="18" charset="0"/>
                          </a:rPr>
                          <m:t>𝑑</m:t>
                        </m:r>
                      </m:e>
                      <m:sub>
                        <m:r>
                          <a:rPr lang="vi-VN" sz="1600" i="1" dirty="0" err="1">
                            <a:latin typeface="Cambria Math" panose="02040503050406030204" pitchFamily="18" charset="0"/>
                          </a:rPr>
                          <m:t>𝑐</m:t>
                        </m:r>
                      </m:sub>
                    </m:sSub>
                  </m:oMath>
                </a14:m>
                <a:r>
                  <a:rPr lang="vi-VN" sz="1600" dirty="0"/>
                  <a:t> (Cutoff  Distance).</a:t>
                </a:r>
              </a:p>
              <a:p>
                <a:pPr lvl="1"/>
                <a:r>
                  <a:rPr lang="vi-VN" sz="1600" dirty="0"/>
                  <a:t>Tính mật độ </a:t>
                </a:r>
                <a14:m>
                  <m:oMath xmlns:m="http://schemas.openxmlformats.org/officeDocument/2006/math">
                    <m:sSub>
                      <m:sSubPr>
                        <m:ctrlPr>
                          <a:rPr lang="vi-VN" sz="1600" i="1">
                            <a:latin typeface="Cambria Math" panose="02040503050406030204" pitchFamily="18" charset="0"/>
                          </a:rPr>
                        </m:ctrlPr>
                      </m:sSubPr>
                      <m:e>
                        <m:r>
                          <a:rPr lang="vi-VN" sz="1600" i="1">
                            <a:latin typeface="Cambria Math" panose="02040503050406030204" pitchFamily="18" charset="0"/>
                          </a:rPr>
                          <m:t>𝜌</m:t>
                        </m:r>
                      </m:e>
                      <m:sub>
                        <m:r>
                          <a:rPr lang="vi-VN" sz="1600" i="1">
                            <a:latin typeface="Cambria Math" panose="02040503050406030204" pitchFamily="18" charset="0"/>
                          </a:rPr>
                          <m:t>𝑣</m:t>
                        </m:r>
                      </m:sub>
                    </m:sSub>
                  </m:oMath>
                </a14:m>
                <a:r>
                  <a:rPr lang="vi-VN" sz="1600" dirty="0"/>
                  <a:t>.</a:t>
                </a:r>
              </a:p>
              <a:p>
                <a:pPr marL="324000" lvl="1" indent="0">
                  <a:buNone/>
                </a:pPr>
                <a:r>
                  <a:rPr lang="vi-VN" sz="1600" dirty="0"/>
                  <a:t>Ví dụ:</a:t>
                </a:r>
              </a:p>
              <a:p>
                <a:pPr lvl="1">
                  <a:buFont typeface="Arial" panose="020B0604020202020204" pitchFamily="34" charset="0"/>
                  <a:buChar char="•"/>
                </a:pPr>
                <a:r>
                  <a:rPr lang="vi-VN" sz="1600" i="0" dirty="0">
                    <a:latin typeface="+mj-lt"/>
                  </a:rPr>
                  <a:t>F</a:t>
                </a:r>
                <a:r>
                  <a:rPr lang="vi-VN" sz="1600" dirty="0">
                    <a:latin typeface="+mj-lt"/>
                  </a:rPr>
                  <a:t> – </a:t>
                </a:r>
                <a:r>
                  <a:rPr lang="vi-VN" sz="1600" i="0" dirty="0">
                    <a:latin typeface="+mj-lt"/>
                  </a:rPr>
                  <a:t>C</a:t>
                </a:r>
                <a:r>
                  <a:rPr lang="vi-VN" sz="1600" dirty="0">
                    <a:latin typeface="+mj-lt"/>
                  </a:rPr>
                  <a:t> (</a:t>
                </a:r>
                <a14:m>
                  <m:oMath xmlns:m="http://schemas.openxmlformats.org/officeDocument/2006/math">
                    <m:sSub>
                      <m:sSubPr>
                        <m:ctrlPr>
                          <a:rPr lang="vi-VN" sz="1600" i="1" dirty="0" smtClean="0">
                            <a:latin typeface="Cambria Math" panose="02040503050406030204" pitchFamily="18" charset="0"/>
                          </a:rPr>
                        </m:ctrlPr>
                      </m:sSubPr>
                      <m:e>
                        <m:r>
                          <a:rPr lang="vi-VN" sz="1600" i="1" dirty="0" smtClean="0">
                            <a:latin typeface="Cambria Math" panose="02040503050406030204" pitchFamily="18" charset="0"/>
                          </a:rPr>
                          <m:t>𝑑</m:t>
                        </m:r>
                      </m:e>
                      <m:sub>
                        <m:r>
                          <a:rPr lang="vi-VN" sz="1600" i="1" dirty="0" smtClean="0">
                            <a:latin typeface="Cambria Math" panose="02040503050406030204" pitchFamily="18" charset="0"/>
                          </a:rPr>
                          <m:t>𝐹𝐶</m:t>
                        </m:r>
                      </m:sub>
                    </m:sSub>
                    <m:r>
                      <a:rPr lang="vi-VN" sz="1600" b="0" i="1" dirty="0" smtClean="0">
                        <a:latin typeface="Cambria Math" panose="02040503050406030204" pitchFamily="18" charset="0"/>
                      </a:rPr>
                      <m:t>&lt;</m:t>
                    </m:r>
                    <m:sSub>
                      <m:sSubPr>
                        <m:ctrlPr>
                          <a:rPr lang="vi-VN" sz="1600" i="1" dirty="0" smtClean="0">
                            <a:latin typeface="Cambria Math" panose="02040503050406030204" pitchFamily="18" charset="0"/>
                          </a:rPr>
                        </m:ctrlPr>
                      </m:sSubPr>
                      <m:e>
                        <m:r>
                          <a:rPr lang="vi-VN" sz="1600" i="1" dirty="0" err="1" smtClean="0">
                            <a:latin typeface="Cambria Math" panose="02040503050406030204" pitchFamily="18" charset="0"/>
                          </a:rPr>
                          <m:t>𝑑</m:t>
                        </m:r>
                      </m:e>
                      <m:sub>
                        <m:r>
                          <a:rPr lang="vi-VN" sz="1600" i="1" dirty="0" err="1" smtClean="0">
                            <a:latin typeface="Cambria Math" panose="02040503050406030204" pitchFamily="18" charset="0"/>
                          </a:rPr>
                          <m:t>𝑐</m:t>
                        </m:r>
                      </m:sub>
                    </m:sSub>
                  </m:oMath>
                </a14:m>
                <a:r>
                  <a:rPr lang="vi-VN" sz="1600" dirty="0"/>
                  <a:t>), đóng góp vào </a:t>
                </a:r>
                <a14:m>
                  <m:oMath xmlns:m="http://schemas.openxmlformats.org/officeDocument/2006/math">
                    <m:sSup>
                      <m:sSupPr>
                        <m:ctrlPr>
                          <a:rPr lang="vi-VN" sz="1600" i="1" dirty="0">
                            <a:latin typeface="Cambria Math" panose="02040503050406030204" pitchFamily="18" charset="0"/>
                          </a:rPr>
                        </m:ctrlPr>
                      </m:sSupPr>
                      <m:e>
                        <m:r>
                          <a:rPr lang="vi-VN" sz="1600" i="1" dirty="0">
                            <a:latin typeface="Cambria Math" panose="02040503050406030204" pitchFamily="18" charset="0"/>
                          </a:rPr>
                          <m:t>𝑒</m:t>
                        </m:r>
                      </m:e>
                      <m:sup>
                        <m:r>
                          <a:rPr lang="vi-VN" sz="1600" i="1" dirty="0">
                            <a:latin typeface="Cambria Math" panose="02040503050406030204" pitchFamily="18" charset="0"/>
                          </a:rPr>
                          <m:t>−</m:t>
                        </m:r>
                        <m:sSup>
                          <m:sSupPr>
                            <m:ctrlPr>
                              <a:rPr lang="vi-VN" sz="1600" i="1" dirty="0">
                                <a:latin typeface="Cambria Math" panose="02040503050406030204" pitchFamily="18" charset="0"/>
                              </a:rPr>
                            </m:ctrlPr>
                          </m:sSupPr>
                          <m:e>
                            <m:d>
                              <m:dPr>
                                <m:ctrlPr>
                                  <a:rPr lang="vi-VN" sz="1600" i="1" dirty="0">
                                    <a:latin typeface="Cambria Math" panose="02040503050406030204" pitchFamily="18" charset="0"/>
                                  </a:rPr>
                                </m:ctrlPr>
                              </m:dPr>
                              <m:e>
                                <m:f>
                                  <m:fPr>
                                    <m:ctrlPr>
                                      <a:rPr lang="vi-VN" sz="1600" i="1" dirty="0">
                                        <a:latin typeface="Cambria Math" panose="02040503050406030204" pitchFamily="18" charset="0"/>
                                      </a:rPr>
                                    </m:ctrlPr>
                                  </m:fPr>
                                  <m:num>
                                    <m:sSub>
                                      <m:sSubPr>
                                        <m:ctrlPr>
                                          <a:rPr lang="vi-VN" sz="1600" b="0" i="1" dirty="0" smtClean="0">
                                            <a:latin typeface="Cambria Math" panose="02040503050406030204" pitchFamily="18" charset="0"/>
                                          </a:rPr>
                                        </m:ctrlPr>
                                      </m:sSubPr>
                                      <m:e>
                                        <m:r>
                                          <a:rPr lang="vi-VN" sz="1600" i="1" dirty="0">
                                            <a:latin typeface="Cambria Math" panose="02040503050406030204" pitchFamily="18" charset="0"/>
                                          </a:rPr>
                                          <m:t>𝑑</m:t>
                                        </m:r>
                                      </m:e>
                                      <m:sub>
                                        <m:r>
                                          <m:rPr>
                                            <m:sty m:val="p"/>
                                          </m:rPr>
                                          <a:rPr lang="vi-VN" sz="1600" i="1" dirty="0">
                                            <a:latin typeface="Cambria Math" panose="02040503050406030204" pitchFamily="18" charset="0"/>
                                          </a:rPr>
                                          <m:t>FC</m:t>
                                        </m:r>
                                      </m:sub>
                                    </m:sSub>
                                  </m:num>
                                  <m:den>
                                    <m:sSub>
                                      <m:sSubPr>
                                        <m:ctrlPr>
                                          <a:rPr lang="vi-VN" sz="1600" i="1" dirty="0" err="1">
                                            <a:latin typeface="Cambria Math" panose="02040503050406030204" pitchFamily="18" charset="0"/>
                                          </a:rPr>
                                        </m:ctrlPr>
                                      </m:sSubPr>
                                      <m:e>
                                        <m:r>
                                          <a:rPr lang="vi-VN" sz="1600" i="1" dirty="0" err="1">
                                            <a:latin typeface="Cambria Math" panose="02040503050406030204" pitchFamily="18" charset="0"/>
                                          </a:rPr>
                                          <m:t>𝑑</m:t>
                                        </m:r>
                                      </m:e>
                                      <m:sub>
                                        <m:r>
                                          <a:rPr lang="vi-VN" sz="1600" i="1" dirty="0" err="1">
                                            <a:latin typeface="Cambria Math" panose="02040503050406030204" pitchFamily="18" charset="0"/>
                                          </a:rPr>
                                          <m:t>𝑐</m:t>
                                        </m:r>
                                      </m:sub>
                                    </m:sSub>
                                  </m:den>
                                </m:f>
                              </m:e>
                            </m:d>
                          </m:e>
                          <m:sup>
                            <m:r>
                              <a:rPr lang="vi-VN" sz="1600" i="1" dirty="0">
                                <a:latin typeface="Cambria Math" panose="02040503050406030204" pitchFamily="18" charset="0"/>
                              </a:rPr>
                              <m:t>2</m:t>
                            </m:r>
                          </m:sup>
                        </m:sSup>
                      </m:sup>
                    </m:sSup>
                  </m:oMath>
                </a14:m>
                <a:r>
                  <a:rPr lang="vi-VN" sz="1600" dirty="0"/>
                  <a:t> điểm mật độ </a:t>
                </a:r>
                <a14:m>
                  <m:oMath xmlns:m="http://schemas.openxmlformats.org/officeDocument/2006/math">
                    <m:sSub>
                      <m:sSubPr>
                        <m:ctrlPr>
                          <a:rPr lang="vi-VN" sz="1600" i="1">
                            <a:latin typeface="Cambria Math" panose="02040503050406030204" pitchFamily="18" charset="0"/>
                          </a:rPr>
                        </m:ctrlPr>
                      </m:sSubPr>
                      <m:e>
                        <m:r>
                          <a:rPr lang="vi-VN" sz="1600" i="1">
                            <a:latin typeface="Cambria Math" panose="02040503050406030204" pitchFamily="18" charset="0"/>
                          </a:rPr>
                          <m:t>𝜌</m:t>
                        </m:r>
                      </m:e>
                      <m:sub>
                        <m:r>
                          <m:rPr>
                            <m:sty m:val="p"/>
                          </m:rPr>
                          <a:rPr lang="vi-VN" sz="1600" i="1">
                            <a:latin typeface="Cambria Math" panose="02040503050406030204" pitchFamily="18" charset="0"/>
                          </a:rPr>
                          <m:t>F</m:t>
                        </m:r>
                      </m:sub>
                    </m:sSub>
                    <m:r>
                      <a:rPr lang="vi-VN" sz="1600" b="0" i="0" smtClean="0">
                        <a:latin typeface="Cambria Math" panose="02040503050406030204" pitchFamily="18" charset="0"/>
                      </a:rPr>
                      <m:t>.</m:t>
                    </m:r>
                  </m:oMath>
                </a14:m>
                <a:endParaRPr lang="vi-VN" sz="1600" b="0" dirty="0"/>
              </a:p>
              <a:p>
                <a:pPr lvl="1">
                  <a:buFont typeface="Arial" panose="020B0604020202020204" pitchFamily="34" charset="0"/>
                  <a:buChar char="•"/>
                </a:pPr>
                <a:r>
                  <a:rPr lang="vi-VN" sz="1600" dirty="0"/>
                  <a:t>Các điểm A,D,E nằm ngoài khoảng </a:t>
                </a:r>
                <a14:m>
                  <m:oMath xmlns:m="http://schemas.openxmlformats.org/officeDocument/2006/math">
                    <m:sSub>
                      <m:sSubPr>
                        <m:ctrlPr>
                          <a:rPr lang="vi-VN" sz="1600" i="1" dirty="0">
                            <a:latin typeface="Cambria Math" panose="02040503050406030204" pitchFamily="18" charset="0"/>
                          </a:rPr>
                        </m:ctrlPr>
                      </m:sSubPr>
                      <m:e>
                        <m:r>
                          <a:rPr lang="vi-VN" sz="1600" i="1" dirty="0" err="1">
                            <a:latin typeface="Cambria Math" panose="02040503050406030204" pitchFamily="18" charset="0"/>
                          </a:rPr>
                          <m:t>𝑑</m:t>
                        </m:r>
                      </m:e>
                      <m:sub>
                        <m:r>
                          <a:rPr lang="vi-VN" sz="1600" i="1" dirty="0" err="1">
                            <a:latin typeface="Cambria Math" panose="02040503050406030204" pitchFamily="18" charset="0"/>
                          </a:rPr>
                          <m:t>𝑐</m:t>
                        </m:r>
                      </m:sub>
                    </m:sSub>
                  </m:oMath>
                </a14:m>
                <a:r>
                  <a:rPr lang="vi-VN" sz="1600" dirty="0"/>
                  <a:t> nên không đóng góp vào điểm mật độ </a:t>
                </a:r>
                <a14:m>
                  <m:oMath xmlns:m="http://schemas.openxmlformats.org/officeDocument/2006/math">
                    <m:sSub>
                      <m:sSubPr>
                        <m:ctrlPr>
                          <a:rPr lang="vi-VN" sz="1600" i="1">
                            <a:latin typeface="Cambria Math" panose="02040503050406030204" pitchFamily="18" charset="0"/>
                          </a:rPr>
                        </m:ctrlPr>
                      </m:sSubPr>
                      <m:e>
                        <m:r>
                          <a:rPr lang="vi-VN" sz="1600" i="1">
                            <a:latin typeface="Cambria Math" panose="02040503050406030204" pitchFamily="18" charset="0"/>
                          </a:rPr>
                          <m:t>𝜌</m:t>
                        </m:r>
                      </m:e>
                      <m:sub>
                        <m:r>
                          <m:rPr>
                            <m:sty m:val="p"/>
                          </m:rPr>
                          <a:rPr lang="vi-VN" sz="1600" i="1">
                            <a:latin typeface="Cambria Math" panose="02040503050406030204" pitchFamily="18" charset="0"/>
                          </a:rPr>
                          <m:t>F</m:t>
                        </m:r>
                      </m:sub>
                    </m:sSub>
                  </m:oMath>
                </a14:m>
                <a:r>
                  <a:rPr lang="vi-VN" sz="1600" dirty="0"/>
                  <a:t>.</a:t>
                </a:r>
              </a:p>
            </p:txBody>
          </p:sp>
        </mc:Choice>
        <mc:Fallback xmlns="">
          <p:sp>
            <p:nvSpPr>
              <p:cNvPr id="12" name="Content Placeholder 11">
                <a:extLst>
                  <a:ext uri="{FF2B5EF4-FFF2-40B4-BE49-F238E27FC236}">
                    <a16:creationId xmlns:a16="http://schemas.microsoft.com/office/drawing/2014/main" id="{0AEC64E3-DC0C-848D-CA56-5557CD9A59EE}"/>
                  </a:ext>
                </a:extLst>
              </p:cNvPr>
              <p:cNvSpPr>
                <a:spLocks noGrp="1" noRot="1" noChangeAspect="1" noMove="1" noResize="1" noEditPoints="1" noAdjustHandles="1" noChangeArrowheads="1" noChangeShapeType="1" noTextEdit="1"/>
              </p:cNvSpPr>
              <p:nvPr>
                <p:ph idx="1"/>
              </p:nvPr>
            </p:nvSpPr>
            <p:spPr>
              <a:xfrm>
                <a:off x="581193" y="2340864"/>
                <a:ext cx="5514808" cy="4517136"/>
              </a:xfrm>
              <a:blipFill>
                <a:blip r:embed="rId2"/>
                <a:stretch>
                  <a:fillRect l="-663" t="-540"/>
                </a:stretch>
              </a:blipFill>
            </p:spPr>
            <p:txBody>
              <a:bodyPr/>
              <a:lstStyle/>
              <a:p>
                <a:r>
                  <a:rPr lang="vi-VN">
                    <a:noFill/>
                  </a:rPr>
                  <a:t> </a:t>
                </a:r>
              </a:p>
            </p:txBody>
          </p:sp>
        </mc:Fallback>
      </mc:AlternateContent>
      <p:grpSp>
        <p:nvGrpSpPr>
          <p:cNvPr id="4" name="Group 3">
            <a:extLst>
              <a:ext uri="{FF2B5EF4-FFF2-40B4-BE49-F238E27FC236}">
                <a16:creationId xmlns:a16="http://schemas.microsoft.com/office/drawing/2014/main" id="{FDAF3AE1-CA55-6A32-BC8B-A2054312CA90}"/>
              </a:ext>
            </a:extLst>
          </p:cNvPr>
          <p:cNvGrpSpPr/>
          <p:nvPr/>
        </p:nvGrpSpPr>
        <p:grpSpPr>
          <a:xfrm>
            <a:off x="6886600" y="2539949"/>
            <a:ext cx="4504163" cy="3284201"/>
            <a:chOff x="6886600" y="2539949"/>
            <a:chExt cx="4504163" cy="3284201"/>
          </a:xfrm>
        </p:grpSpPr>
        <p:grpSp>
          <p:nvGrpSpPr>
            <p:cNvPr id="34" name="Group 33">
              <a:extLst>
                <a:ext uri="{FF2B5EF4-FFF2-40B4-BE49-F238E27FC236}">
                  <a16:creationId xmlns:a16="http://schemas.microsoft.com/office/drawing/2014/main" id="{567B9CDE-D542-4886-4CA6-94897D5829BB}"/>
                </a:ext>
              </a:extLst>
            </p:cNvPr>
            <p:cNvGrpSpPr/>
            <p:nvPr/>
          </p:nvGrpSpPr>
          <p:grpSpPr>
            <a:xfrm>
              <a:off x="6886600" y="2539949"/>
              <a:ext cx="4504163" cy="3284201"/>
              <a:chOff x="3101788" y="2626773"/>
              <a:chExt cx="4504163" cy="3284201"/>
            </a:xfrm>
          </p:grpSpPr>
          <p:sp>
            <p:nvSpPr>
              <p:cNvPr id="36" name="Oval 35">
                <a:extLst>
                  <a:ext uri="{FF2B5EF4-FFF2-40B4-BE49-F238E27FC236}">
                    <a16:creationId xmlns:a16="http://schemas.microsoft.com/office/drawing/2014/main" id="{C589C9D2-8241-1DCD-0F19-4AFA66DD3A48}"/>
                  </a:ext>
                </a:extLst>
              </p:cNvPr>
              <p:cNvSpPr/>
              <p:nvPr/>
            </p:nvSpPr>
            <p:spPr>
              <a:xfrm>
                <a:off x="3765176" y="292249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endParaRPr lang="vi-VN" dirty="0"/>
              </a:p>
            </p:txBody>
          </p:sp>
          <p:sp>
            <p:nvSpPr>
              <p:cNvPr id="37" name="Oval 36">
                <a:extLst>
                  <a:ext uri="{FF2B5EF4-FFF2-40B4-BE49-F238E27FC236}">
                    <a16:creationId xmlns:a16="http://schemas.microsoft.com/office/drawing/2014/main" id="{5F82926A-9FFE-EF31-4D53-E0DFCB6E57E9}"/>
                  </a:ext>
                </a:extLst>
              </p:cNvPr>
              <p:cNvSpPr/>
              <p:nvPr/>
            </p:nvSpPr>
            <p:spPr>
              <a:xfrm>
                <a:off x="3101788" y="436925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endParaRPr lang="vi-VN" dirty="0"/>
              </a:p>
            </p:txBody>
          </p:sp>
          <p:sp>
            <p:nvSpPr>
              <p:cNvPr id="38" name="Oval 37">
                <a:extLst>
                  <a:ext uri="{FF2B5EF4-FFF2-40B4-BE49-F238E27FC236}">
                    <a16:creationId xmlns:a16="http://schemas.microsoft.com/office/drawing/2014/main" id="{4A899A24-EB75-D0C2-ABB6-CA515FDE5B76}"/>
                  </a:ext>
                </a:extLst>
              </p:cNvPr>
              <p:cNvSpPr/>
              <p:nvPr/>
            </p:nvSpPr>
            <p:spPr>
              <a:xfrm>
                <a:off x="5602939" y="2626773"/>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endParaRPr lang="vi-VN" dirty="0"/>
              </a:p>
            </p:txBody>
          </p:sp>
          <p:sp>
            <p:nvSpPr>
              <p:cNvPr id="39" name="Oval 38">
                <a:extLst>
                  <a:ext uri="{FF2B5EF4-FFF2-40B4-BE49-F238E27FC236}">
                    <a16:creationId xmlns:a16="http://schemas.microsoft.com/office/drawing/2014/main" id="{652B506F-4BCA-27AB-7289-9DA14EB5DB38}"/>
                  </a:ext>
                </a:extLst>
              </p:cNvPr>
              <p:cNvSpPr/>
              <p:nvPr/>
            </p:nvSpPr>
            <p:spPr>
              <a:xfrm>
                <a:off x="5054635" y="379530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endParaRPr lang="vi-VN" dirty="0"/>
              </a:p>
            </p:txBody>
          </p:sp>
          <p:sp>
            <p:nvSpPr>
              <p:cNvPr id="40" name="Oval 39">
                <a:extLst>
                  <a:ext uri="{FF2B5EF4-FFF2-40B4-BE49-F238E27FC236}">
                    <a16:creationId xmlns:a16="http://schemas.microsoft.com/office/drawing/2014/main" id="{49705E87-C6C6-8005-FA5B-B6B1FB6CBA69}"/>
                  </a:ext>
                </a:extLst>
              </p:cNvPr>
              <p:cNvSpPr/>
              <p:nvPr/>
            </p:nvSpPr>
            <p:spPr>
              <a:xfrm>
                <a:off x="5941057" y="524758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endParaRPr lang="vi-VN" dirty="0"/>
              </a:p>
            </p:txBody>
          </p:sp>
          <p:sp>
            <p:nvSpPr>
              <p:cNvPr id="41" name="Oval 40">
                <a:extLst>
                  <a:ext uri="{FF2B5EF4-FFF2-40B4-BE49-F238E27FC236}">
                    <a16:creationId xmlns:a16="http://schemas.microsoft.com/office/drawing/2014/main" id="{6F96398A-D109-2208-F99E-02CADC8C87A4}"/>
                  </a:ext>
                </a:extLst>
              </p:cNvPr>
              <p:cNvSpPr/>
              <p:nvPr/>
            </p:nvSpPr>
            <p:spPr>
              <a:xfrm>
                <a:off x="6942563" y="3595109"/>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endParaRPr lang="vi-VN" dirty="0"/>
              </a:p>
            </p:txBody>
          </p:sp>
        </p:grpSp>
        <p:sp>
          <p:nvSpPr>
            <p:cNvPr id="3" name="Oval 2">
              <a:extLst>
                <a:ext uri="{FF2B5EF4-FFF2-40B4-BE49-F238E27FC236}">
                  <a16:creationId xmlns:a16="http://schemas.microsoft.com/office/drawing/2014/main" id="{9BEBB1AB-CC3C-457A-CCAD-D0CB0B4C1A35}"/>
                </a:ext>
              </a:extLst>
            </p:cNvPr>
            <p:cNvSpPr/>
            <p:nvPr/>
          </p:nvSpPr>
          <p:spPr>
            <a:xfrm>
              <a:off x="7864065" y="2746831"/>
              <a:ext cx="2586685" cy="2586685"/>
            </a:xfrm>
            <a:prstGeom prst="ellipse">
              <a:avLst/>
            </a:prstGeom>
            <a:noFill/>
            <a:ln>
              <a:solidFill>
                <a:schemeClr val="tx1"/>
              </a:solidFill>
              <a:prstDash val="dash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vi-VN">
                <a:ln>
                  <a:solidFill>
                    <a:sysClr val="windowText" lastClr="000000"/>
                  </a:solidFill>
                </a:ln>
              </a:endParaRPr>
            </a:p>
          </p:txBody>
        </p:sp>
      </p:grpSp>
    </p:spTree>
    <p:extLst>
      <p:ext uri="{BB962C8B-B14F-4D97-AF65-F5344CB8AC3E}">
        <p14:creationId xmlns:p14="http://schemas.microsoft.com/office/powerpoint/2010/main" val="1592435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9BB82-3973-AFA1-04BA-128A48274BF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2D2B7F8-4365-A8CC-F2DF-44ED346888B8}"/>
              </a:ext>
            </a:extLst>
          </p:cNvPr>
          <p:cNvSpPr>
            <a:spLocks noGrp="1"/>
          </p:cNvSpPr>
          <p:nvPr>
            <p:ph type="title"/>
          </p:nvPr>
        </p:nvSpPr>
        <p:spPr/>
        <p:txBody>
          <a:bodyPr/>
          <a:lstStyle/>
          <a:p>
            <a:r>
              <a:rPr lang="vi-VN" dirty="0"/>
              <a:t>3. Minh họa</a:t>
            </a:r>
          </a:p>
        </p:txBody>
      </p:sp>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AEB0DB48-1F50-7788-E761-63E279467D49}"/>
                  </a:ext>
                </a:extLst>
              </p:cNvPr>
              <p:cNvSpPr>
                <a:spLocks noGrp="1"/>
              </p:cNvSpPr>
              <p:nvPr>
                <p:ph idx="1"/>
              </p:nvPr>
            </p:nvSpPr>
            <p:spPr>
              <a:xfrm>
                <a:off x="581193" y="2340864"/>
                <a:ext cx="5514808" cy="4517136"/>
              </a:xfrm>
            </p:spPr>
            <p:txBody>
              <a:bodyPr anchor="t"/>
              <a:lstStyle/>
              <a:p>
                <a:pPr marL="0" indent="0">
                  <a:buNone/>
                </a:pPr>
                <a:r>
                  <a:rPr lang="vi-VN" b="1" dirty="0"/>
                  <a:t>Bước 2: </a:t>
                </a:r>
                <a:r>
                  <a:rPr lang="vi-VN" sz="1600" b="1" dirty="0"/>
                  <a:t>Xác định các đỉnh mật độ.</a:t>
                </a:r>
                <a:endParaRPr lang="vi-VN" dirty="0"/>
              </a:p>
              <a:p>
                <a:pPr marL="0" indent="0">
                  <a:buNone/>
                </a:pPr>
                <a:r>
                  <a:rPr lang="vi-VN" dirty="0"/>
                  <a:t>	1</a:t>
                </a:r>
                <a:r>
                  <a:rPr lang="vi-VN" sz="1600" dirty="0"/>
                  <a:t>. Tính mật độ (</a:t>
                </a:r>
                <a14:m>
                  <m:oMath xmlns:m="http://schemas.openxmlformats.org/officeDocument/2006/math">
                    <m:sSub>
                      <m:sSubPr>
                        <m:ctrlPr>
                          <a:rPr lang="vi-VN" sz="1600" i="1">
                            <a:latin typeface="Cambria Math" panose="02040503050406030204" pitchFamily="18" charset="0"/>
                          </a:rPr>
                        </m:ctrlPr>
                      </m:sSubPr>
                      <m:e>
                        <m:r>
                          <a:rPr lang="vi-VN" sz="1600" i="1">
                            <a:latin typeface="Cambria Math" panose="02040503050406030204" pitchFamily="18" charset="0"/>
                          </a:rPr>
                          <m:t>𝜌</m:t>
                        </m:r>
                      </m:e>
                      <m:sub>
                        <m:r>
                          <a:rPr lang="vi-VN" sz="1600" i="1">
                            <a:latin typeface="Cambria Math" panose="02040503050406030204" pitchFamily="18" charset="0"/>
                          </a:rPr>
                          <m:t>𝑣</m:t>
                        </m:r>
                      </m:sub>
                    </m:sSub>
                  </m:oMath>
                </a14:m>
                <a:r>
                  <a:rPr lang="vi-VN" sz="1600" dirty="0"/>
                  <a:t>):</a:t>
                </a:r>
              </a:p>
              <a:p>
                <a:pPr marL="0" indent="0">
                  <a:buNone/>
                </a:pPr>
                <a:endParaRPr lang="vi-VN" sz="1600" dirty="0"/>
              </a:p>
              <a:p>
                <a:pPr marL="0" indent="0">
                  <a:buNone/>
                </a:pPr>
                <a:endParaRPr lang="vi-VN" sz="1600" dirty="0"/>
              </a:p>
              <a:p>
                <a:pPr marL="0" indent="0">
                  <a:buNone/>
                </a:pPr>
                <a:r>
                  <a:rPr lang="vi-VN" sz="1600" dirty="0"/>
                  <a:t>	2. Tính khoảng cách (</a:t>
                </a:r>
                <a14:m>
                  <m:oMath xmlns:m="http://schemas.openxmlformats.org/officeDocument/2006/math">
                    <m:sSub>
                      <m:sSubPr>
                        <m:ctrlPr>
                          <a:rPr lang="vi-VN" sz="1600" i="1" dirty="0">
                            <a:latin typeface="Cambria Math" panose="02040503050406030204" pitchFamily="18" charset="0"/>
                          </a:rPr>
                        </m:ctrlPr>
                      </m:sSubPr>
                      <m:e>
                        <m:r>
                          <a:rPr lang="vi-VN" sz="1600" i="1">
                            <a:latin typeface="Cambria Math" panose="02040503050406030204" pitchFamily="18" charset="0"/>
                            <a:ea typeface="Cambria Math" panose="02040503050406030204" pitchFamily="18" charset="0"/>
                          </a:rPr>
                          <m:t>𝛿</m:t>
                        </m:r>
                      </m:e>
                      <m:sub>
                        <m:r>
                          <a:rPr lang="vi-VN" sz="1600" i="1" dirty="0">
                            <a:latin typeface="Cambria Math" panose="02040503050406030204" pitchFamily="18" charset="0"/>
                          </a:rPr>
                          <m:t>𝑣</m:t>
                        </m:r>
                      </m:sub>
                    </m:sSub>
                  </m:oMath>
                </a14:m>
                <a:r>
                  <a:rPr lang="vi-VN" sz="1600" dirty="0"/>
                  <a:t>):</a:t>
                </a:r>
              </a:p>
              <a:p>
                <a:pPr>
                  <a:buFont typeface="Arial" panose="020B0604020202020204" pitchFamily="34" charset="0"/>
                  <a:buChar char="•"/>
                </a:pPr>
                <a:r>
                  <a:rPr lang="vi-VN" sz="1600" dirty="0"/>
                  <a:t>Với điểm A: </a:t>
                </a:r>
                <a14:m>
                  <m:oMath xmlns:m="http://schemas.openxmlformats.org/officeDocument/2006/math">
                    <m:sSub>
                      <m:sSubPr>
                        <m:ctrlPr>
                          <a:rPr lang="vi-VN" sz="1600" i="1" dirty="0">
                            <a:latin typeface="Cambria Math" panose="02040503050406030204" pitchFamily="18" charset="0"/>
                          </a:rPr>
                        </m:ctrlPr>
                      </m:sSubPr>
                      <m:e>
                        <m:r>
                          <a:rPr lang="vi-VN" sz="1600" i="1">
                            <a:latin typeface="Cambria Math" panose="02040503050406030204" pitchFamily="18" charset="0"/>
                            <a:ea typeface="Cambria Math" panose="02040503050406030204" pitchFamily="18" charset="0"/>
                          </a:rPr>
                          <m:t>𝛿</m:t>
                        </m:r>
                      </m:e>
                      <m:sub>
                        <m:r>
                          <m:rPr>
                            <m:sty m:val="p"/>
                          </m:rPr>
                          <a:rPr lang="vi-VN" sz="1600" i="1">
                            <a:latin typeface="Cambria Math" panose="02040503050406030204" pitchFamily="18" charset="0"/>
                            <a:ea typeface="Cambria Math" panose="02040503050406030204" pitchFamily="18" charset="0"/>
                          </a:rPr>
                          <m:t>A</m:t>
                        </m:r>
                      </m:sub>
                    </m:sSub>
                    <m:r>
                      <a:rPr lang="vi-VN" sz="1600" b="0" i="1" dirty="0" smtClean="0">
                        <a:latin typeface="Cambria Math" panose="02040503050406030204" pitchFamily="18" charset="0"/>
                      </a:rPr>
                      <m:t>= </m:t>
                    </m:r>
                    <m:sSub>
                      <m:sSubPr>
                        <m:ctrlPr>
                          <a:rPr lang="vi-VN" sz="1600" i="1" dirty="0" smtClean="0">
                            <a:latin typeface="Cambria Math" panose="02040503050406030204" pitchFamily="18" charset="0"/>
                          </a:rPr>
                        </m:ctrlPr>
                      </m:sSubPr>
                      <m:e>
                        <m:r>
                          <a:rPr lang="vi-VN" sz="1600" i="1" dirty="0" smtClean="0">
                            <a:latin typeface="Cambria Math" panose="02040503050406030204" pitchFamily="18" charset="0"/>
                          </a:rPr>
                          <m:t>𝑑</m:t>
                        </m:r>
                      </m:e>
                      <m:sub>
                        <m:r>
                          <a:rPr lang="vi-VN" sz="1600" i="1" dirty="0" smtClean="0">
                            <a:latin typeface="Cambria Math" panose="02040503050406030204" pitchFamily="18" charset="0"/>
                          </a:rPr>
                          <m:t>𝐴𝐹</m:t>
                        </m:r>
                      </m:sub>
                    </m:sSub>
                  </m:oMath>
                </a14:m>
                <a:r>
                  <a:rPr lang="vi-VN" sz="1600" dirty="0"/>
                  <a:t> vì F là điểm gần nhất có mật độ cao hơn A.</a:t>
                </a:r>
              </a:p>
              <a:p>
                <a:pPr>
                  <a:buFont typeface="Arial" panose="020B0604020202020204" pitchFamily="34" charset="0"/>
                  <a:buChar char="•"/>
                </a:pPr>
                <a:r>
                  <a:rPr lang="vi-VN" sz="1600" dirty="0"/>
                  <a:t>Với điểm F: vì xung quanh không có điểm nào có mật độ cao hơn mật độ điểm F nên </a:t>
                </a:r>
                <a14:m>
                  <m:oMath xmlns:m="http://schemas.openxmlformats.org/officeDocument/2006/math">
                    <m:sSub>
                      <m:sSubPr>
                        <m:ctrlPr>
                          <a:rPr lang="vi-VN" sz="1600" i="1" dirty="0">
                            <a:latin typeface="Cambria Math" panose="02040503050406030204" pitchFamily="18" charset="0"/>
                          </a:rPr>
                        </m:ctrlPr>
                      </m:sSubPr>
                      <m:e>
                        <m:r>
                          <a:rPr lang="vi-VN" sz="1600" i="1">
                            <a:latin typeface="Cambria Math" panose="02040503050406030204" pitchFamily="18" charset="0"/>
                            <a:ea typeface="Cambria Math" panose="02040503050406030204" pitchFamily="18" charset="0"/>
                          </a:rPr>
                          <m:t>𝛿</m:t>
                        </m:r>
                      </m:e>
                      <m:sub>
                        <m:r>
                          <m:rPr>
                            <m:sty m:val="p"/>
                          </m:rPr>
                          <a:rPr lang="vi-VN" sz="1600" i="1">
                            <a:latin typeface="Cambria Math" panose="02040503050406030204" pitchFamily="18" charset="0"/>
                            <a:ea typeface="Cambria Math" panose="02040503050406030204" pitchFamily="18" charset="0"/>
                          </a:rPr>
                          <m:t>F</m:t>
                        </m:r>
                        <m:r>
                          <a:rPr lang="vi-VN" sz="1600" b="0" i="1" smtClean="0">
                            <a:latin typeface="Cambria Math" panose="02040503050406030204" pitchFamily="18" charset="0"/>
                            <a:ea typeface="Cambria Math" panose="02040503050406030204" pitchFamily="18" charset="0"/>
                          </a:rPr>
                          <m:t> </m:t>
                        </m:r>
                      </m:sub>
                    </m:sSub>
                    <m:r>
                      <a:rPr lang="vi-VN" sz="1600" i="1" smtClean="0">
                        <a:latin typeface="Cambria Math" panose="02040503050406030204" pitchFamily="18" charset="0"/>
                        <a:ea typeface="Cambria Math" panose="02040503050406030204" pitchFamily="18" charset="0"/>
                      </a:rPr>
                      <m:t>=</m:t>
                    </m:r>
                    <m:r>
                      <m:rPr>
                        <m:sty m:val="p"/>
                      </m:rPr>
                      <a:rPr lang="vi-VN" sz="1600" i="1">
                        <a:latin typeface="Cambria Math" panose="02040503050406030204" pitchFamily="18" charset="0"/>
                        <a:ea typeface="Cambria Math" panose="02040503050406030204" pitchFamily="18" charset="0"/>
                      </a:rPr>
                      <m:t>max</m:t>
                    </m:r>
                    <m:r>
                      <a:rPr lang="vi-VN" sz="1600" b="0" i="0" smtClean="0">
                        <a:latin typeface="Cambria Math" panose="02040503050406030204" pitchFamily="18" charset="0"/>
                        <a:ea typeface="Cambria Math" panose="02040503050406030204" pitchFamily="18" charset="0"/>
                      </a:rPr>
                      <m:t>[</m:t>
                    </m:r>
                    <m:sSub>
                      <m:sSubPr>
                        <m:ctrlPr>
                          <a:rPr lang="vi-VN" sz="1600" i="1">
                            <a:latin typeface="Cambria Math" panose="02040503050406030204" pitchFamily="18" charset="0"/>
                            <a:ea typeface="Cambria Math" panose="02040503050406030204" pitchFamily="18" charset="0"/>
                          </a:rPr>
                        </m:ctrlPr>
                      </m:sSubPr>
                      <m:e>
                        <m:r>
                          <a:rPr lang="vi-VN" sz="1600" i="1">
                            <a:latin typeface="Cambria Math" panose="02040503050406030204" pitchFamily="18" charset="0"/>
                            <a:ea typeface="Cambria Math" panose="02040503050406030204" pitchFamily="18" charset="0"/>
                          </a:rPr>
                          <m:t>𝑑</m:t>
                        </m:r>
                      </m:e>
                      <m:sub>
                        <m:r>
                          <a:rPr lang="vi-VN" sz="1600" i="1">
                            <a:latin typeface="Cambria Math" panose="02040503050406030204" pitchFamily="18" charset="0"/>
                            <a:ea typeface="Cambria Math" panose="02040503050406030204" pitchFamily="18" charset="0"/>
                          </a:rPr>
                          <m:t>𝑖</m:t>
                        </m:r>
                        <m:r>
                          <m:rPr>
                            <m:sty m:val="p"/>
                          </m:rPr>
                          <a:rPr lang="vi-VN" sz="1600" i="1">
                            <a:latin typeface="Cambria Math" panose="02040503050406030204" pitchFamily="18" charset="0"/>
                            <a:ea typeface="Cambria Math" panose="02040503050406030204" pitchFamily="18" charset="0"/>
                          </a:rPr>
                          <m:t>j</m:t>
                        </m:r>
                      </m:sub>
                    </m:sSub>
                    <m:r>
                      <a:rPr lang="vi-VN" sz="1600" b="0" i="0" smtClean="0">
                        <a:latin typeface="Cambria Math" panose="02040503050406030204" pitchFamily="18" charset="0"/>
                        <a:ea typeface="Cambria Math" panose="02040503050406030204" pitchFamily="18" charset="0"/>
                      </a:rPr>
                      <m:t>]</m:t>
                    </m:r>
                  </m:oMath>
                </a14:m>
                <a:r>
                  <a:rPr lang="vi-VN" sz="1600" dirty="0"/>
                  <a:t>, trong trường hợp có nhiều điểm có mật độ cao như F thì khoảng cách </a:t>
                </a:r>
                <a:r>
                  <a:rPr lang="vi-VN" sz="1600" dirty="0" err="1"/>
                  <a:t>Delta</a:t>
                </a:r>
                <a:r>
                  <a:rPr lang="vi-VN" sz="1600" dirty="0"/>
                  <a:t> thường rất lớn.</a:t>
                </a:r>
              </a:p>
              <a:p>
                <a:pPr marL="324000" lvl="1" indent="0">
                  <a:buNone/>
                </a:pPr>
                <a:endParaRPr lang="vi-VN" sz="1600" dirty="0"/>
              </a:p>
              <a:p>
                <a:pPr marL="324000" lvl="1" indent="0">
                  <a:buNone/>
                </a:pPr>
                <a:endParaRPr lang="vi-VN" sz="1600" dirty="0"/>
              </a:p>
            </p:txBody>
          </p:sp>
        </mc:Choice>
        <mc:Fallback xmlns="">
          <p:sp>
            <p:nvSpPr>
              <p:cNvPr id="12" name="Content Placeholder 11">
                <a:extLst>
                  <a:ext uri="{FF2B5EF4-FFF2-40B4-BE49-F238E27FC236}">
                    <a16:creationId xmlns:a16="http://schemas.microsoft.com/office/drawing/2014/main" id="{AEB0DB48-1F50-7788-E761-63E279467D49}"/>
                  </a:ext>
                </a:extLst>
              </p:cNvPr>
              <p:cNvSpPr>
                <a:spLocks noGrp="1" noRot="1" noChangeAspect="1" noMove="1" noResize="1" noEditPoints="1" noAdjustHandles="1" noChangeArrowheads="1" noChangeShapeType="1" noTextEdit="1"/>
              </p:cNvSpPr>
              <p:nvPr>
                <p:ph idx="1"/>
              </p:nvPr>
            </p:nvSpPr>
            <p:spPr>
              <a:xfrm>
                <a:off x="581193" y="2340864"/>
                <a:ext cx="5514808" cy="4517136"/>
              </a:xfrm>
              <a:blipFill>
                <a:blip r:embed="rId2"/>
                <a:stretch>
                  <a:fillRect l="-663" t="-270"/>
                </a:stretch>
              </a:blipFill>
            </p:spPr>
            <p:txBody>
              <a:bodyPr/>
              <a:lstStyle/>
              <a:p>
                <a:r>
                  <a:rPr lang="vi-VN">
                    <a:noFill/>
                  </a:rPr>
                  <a:t> </a:t>
                </a:r>
              </a:p>
            </p:txBody>
          </p:sp>
        </mc:Fallback>
      </mc:AlternateContent>
      <p:grpSp>
        <p:nvGrpSpPr>
          <p:cNvPr id="3" name="Group 2">
            <a:extLst>
              <a:ext uri="{FF2B5EF4-FFF2-40B4-BE49-F238E27FC236}">
                <a16:creationId xmlns:a16="http://schemas.microsoft.com/office/drawing/2014/main" id="{62E28F52-B01E-C776-F018-F77940F296A8}"/>
              </a:ext>
            </a:extLst>
          </p:cNvPr>
          <p:cNvGrpSpPr/>
          <p:nvPr/>
        </p:nvGrpSpPr>
        <p:grpSpPr>
          <a:xfrm>
            <a:off x="6886600" y="2539949"/>
            <a:ext cx="4504163" cy="3284201"/>
            <a:chOff x="6886600" y="2539949"/>
            <a:chExt cx="4504163" cy="3284201"/>
          </a:xfrm>
        </p:grpSpPr>
        <p:grpSp>
          <p:nvGrpSpPr>
            <p:cNvPr id="34" name="Group 33">
              <a:extLst>
                <a:ext uri="{FF2B5EF4-FFF2-40B4-BE49-F238E27FC236}">
                  <a16:creationId xmlns:a16="http://schemas.microsoft.com/office/drawing/2014/main" id="{7289D785-5714-8A3F-BFC8-CA0AFA8AE971}"/>
                </a:ext>
              </a:extLst>
            </p:cNvPr>
            <p:cNvGrpSpPr/>
            <p:nvPr/>
          </p:nvGrpSpPr>
          <p:grpSpPr>
            <a:xfrm>
              <a:off x="6886600" y="2539949"/>
              <a:ext cx="4504163" cy="3284201"/>
              <a:chOff x="3101788" y="2626773"/>
              <a:chExt cx="4504163" cy="3284201"/>
            </a:xfrm>
          </p:grpSpPr>
          <p:sp>
            <p:nvSpPr>
              <p:cNvPr id="36" name="Oval 35">
                <a:extLst>
                  <a:ext uri="{FF2B5EF4-FFF2-40B4-BE49-F238E27FC236}">
                    <a16:creationId xmlns:a16="http://schemas.microsoft.com/office/drawing/2014/main" id="{149377D7-2DDF-A1AE-F090-587A95981A2F}"/>
                  </a:ext>
                </a:extLst>
              </p:cNvPr>
              <p:cNvSpPr/>
              <p:nvPr/>
            </p:nvSpPr>
            <p:spPr>
              <a:xfrm>
                <a:off x="3765176" y="292249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endParaRPr lang="vi-VN" dirty="0"/>
              </a:p>
            </p:txBody>
          </p:sp>
          <p:sp>
            <p:nvSpPr>
              <p:cNvPr id="37" name="Oval 36">
                <a:extLst>
                  <a:ext uri="{FF2B5EF4-FFF2-40B4-BE49-F238E27FC236}">
                    <a16:creationId xmlns:a16="http://schemas.microsoft.com/office/drawing/2014/main" id="{526228CC-3261-0D22-47B7-80B292911031}"/>
                  </a:ext>
                </a:extLst>
              </p:cNvPr>
              <p:cNvSpPr/>
              <p:nvPr/>
            </p:nvSpPr>
            <p:spPr>
              <a:xfrm>
                <a:off x="3101788" y="436925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endParaRPr lang="vi-VN" dirty="0"/>
              </a:p>
            </p:txBody>
          </p:sp>
          <p:sp>
            <p:nvSpPr>
              <p:cNvPr id="38" name="Oval 37">
                <a:extLst>
                  <a:ext uri="{FF2B5EF4-FFF2-40B4-BE49-F238E27FC236}">
                    <a16:creationId xmlns:a16="http://schemas.microsoft.com/office/drawing/2014/main" id="{B5AED3A4-9ED7-31E8-6819-3416A007AECB}"/>
                  </a:ext>
                </a:extLst>
              </p:cNvPr>
              <p:cNvSpPr/>
              <p:nvPr/>
            </p:nvSpPr>
            <p:spPr>
              <a:xfrm>
                <a:off x="5602939" y="2626773"/>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endParaRPr lang="vi-VN" dirty="0"/>
              </a:p>
            </p:txBody>
          </p:sp>
          <p:sp>
            <p:nvSpPr>
              <p:cNvPr id="39" name="Oval 38">
                <a:extLst>
                  <a:ext uri="{FF2B5EF4-FFF2-40B4-BE49-F238E27FC236}">
                    <a16:creationId xmlns:a16="http://schemas.microsoft.com/office/drawing/2014/main" id="{78D7AC09-F8E3-07E2-FB61-65A16D170591}"/>
                  </a:ext>
                </a:extLst>
              </p:cNvPr>
              <p:cNvSpPr/>
              <p:nvPr/>
            </p:nvSpPr>
            <p:spPr>
              <a:xfrm>
                <a:off x="5054635" y="379530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endParaRPr lang="vi-VN" dirty="0"/>
              </a:p>
            </p:txBody>
          </p:sp>
          <p:sp>
            <p:nvSpPr>
              <p:cNvPr id="40" name="Oval 39">
                <a:extLst>
                  <a:ext uri="{FF2B5EF4-FFF2-40B4-BE49-F238E27FC236}">
                    <a16:creationId xmlns:a16="http://schemas.microsoft.com/office/drawing/2014/main" id="{5F719119-84C0-8970-1FEF-468957D4A217}"/>
                  </a:ext>
                </a:extLst>
              </p:cNvPr>
              <p:cNvSpPr/>
              <p:nvPr/>
            </p:nvSpPr>
            <p:spPr>
              <a:xfrm>
                <a:off x="5941057" y="524758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endParaRPr lang="vi-VN" dirty="0"/>
              </a:p>
            </p:txBody>
          </p:sp>
          <p:sp>
            <p:nvSpPr>
              <p:cNvPr id="41" name="Oval 40">
                <a:extLst>
                  <a:ext uri="{FF2B5EF4-FFF2-40B4-BE49-F238E27FC236}">
                    <a16:creationId xmlns:a16="http://schemas.microsoft.com/office/drawing/2014/main" id="{20703FE3-D385-54C3-E349-7EBCC0C6A60D}"/>
                  </a:ext>
                </a:extLst>
              </p:cNvPr>
              <p:cNvSpPr/>
              <p:nvPr/>
            </p:nvSpPr>
            <p:spPr>
              <a:xfrm>
                <a:off x="6942563" y="3595109"/>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endParaRPr lang="vi-VN" dirty="0"/>
              </a:p>
            </p:txBody>
          </p:sp>
        </p:grpSp>
        <p:sp>
          <p:nvSpPr>
            <p:cNvPr id="56" name="Oval 55">
              <a:extLst>
                <a:ext uri="{FF2B5EF4-FFF2-40B4-BE49-F238E27FC236}">
                  <a16:creationId xmlns:a16="http://schemas.microsoft.com/office/drawing/2014/main" id="{4241FE71-C497-706F-19AB-53F3ECBBBC89}"/>
                </a:ext>
              </a:extLst>
            </p:cNvPr>
            <p:cNvSpPr/>
            <p:nvPr/>
          </p:nvSpPr>
          <p:spPr>
            <a:xfrm>
              <a:off x="7864065" y="2746831"/>
              <a:ext cx="2586685" cy="2586685"/>
            </a:xfrm>
            <a:prstGeom prst="ellipse">
              <a:avLst/>
            </a:prstGeom>
            <a:noFill/>
            <a:ln>
              <a:solidFill>
                <a:schemeClr val="tx1"/>
              </a:solidFill>
              <a:prstDash val="dash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vi-VN">
                <a:ln>
                  <a:solidFill>
                    <a:sysClr val="windowText" lastClr="000000"/>
                  </a:solidFill>
                </a:ln>
              </a:endParaRPr>
            </a:p>
          </p:txBody>
        </p:sp>
      </p:gr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68929CA8-EC95-8173-512B-F2173D1EAA2C}"/>
                  </a:ext>
                </a:extLst>
              </p:cNvPr>
              <p:cNvGraphicFramePr>
                <a:graphicFrameLocks noGrp="1"/>
              </p:cNvGraphicFramePr>
              <p:nvPr>
                <p:extLst>
                  <p:ext uri="{D42A27DB-BD31-4B8C-83A1-F6EECF244321}">
                    <p14:modId xmlns:p14="http://schemas.microsoft.com/office/powerpoint/2010/main" val="1295715894"/>
                  </p:ext>
                </p:extLst>
              </p:nvPr>
            </p:nvGraphicFramePr>
            <p:xfrm>
              <a:off x="1205336" y="3130758"/>
              <a:ext cx="4137560" cy="736600"/>
            </p:xfrm>
            <a:graphic>
              <a:graphicData uri="http://schemas.openxmlformats.org/drawingml/2006/table">
                <a:tbl>
                  <a:tblPr firstRow="1" bandRow="1">
                    <a:tableStyleId>{2D5ABB26-0587-4C30-8999-92F81FD0307C}</a:tableStyleId>
                  </a:tblPr>
                  <a:tblGrid>
                    <a:gridCol w="591080">
                      <a:extLst>
                        <a:ext uri="{9D8B030D-6E8A-4147-A177-3AD203B41FA5}">
                          <a16:colId xmlns:a16="http://schemas.microsoft.com/office/drawing/2014/main" val="3947140429"/>
                        </a:ext>
                      </a:extLst>
                    </a:gridCol>
                    <a:gridCol w="591080">
                      <a:extLst>
                        <a:ext uri="{9D8B030D-6E8A-4147-A177-3AD203B41FA5}">
                          <a16:colId xmlns:a16="http://schemas.microsoft.com/office/drawing/2014/main" val="3876106707"/>
                        </a:ext>
                      </a:extLst>
                    </a:gridCol>
                    <a:gridCol w="591080">
                      <a:extLst>
                        <a:ext uri="{9D8B030D-6E8A-4147-A177-3AD203B41FA5}">
                          <a16:colId xmlns:a16="http://schemas.microsoft.com/office/drawing/2014/main" val="907767157"/>
                        </a:ext>
                      </a:extLst>
                    </a:gridCol>
                    <a:gridCol w="591080">
                      <a:extLst>
                        <a:ext uri="{9D8B030D-6E8A-4147-A177-3AD203B41FA5}">
                          <a16:colId xmlns:a16="http://schemas.microsoft.com/office/drawing/2014/main" val="1302630072"/>
                        </a:ext>
                      </a:extLst>
                    </a:gridCol>
                    <a:gridCol w="591080">
                      <a:extLst>
                        <a:ext uri="{9D8B030D-6E8A-4147-A177-3AD203B41FA5}">
                          <a16:colId xmlns:a16="http://schemas.microsoft.com/office/drawing/2014/main" val="1729250618"/>
                        </a:ext>
                      </a:extLst>
                    </a:gridCol>
                    <a:gridCol w="591080">
                      <a:extLst>
                        <a:ext uri="{9D8B030D-6E8A-4147-A177-3AD203B41FA5}">
                          <a16:colId xmlns:a16="http://schemas.microsoft.com/office/drawing/2014/main" val="1149448572"/>
                        </a:ext>
                      </a:extLst>
                    </a:gridCol>
                    <a:gridCol w="591080">
                      <a:extLst>
                        <a:ext uri="{9D8B030D-6E8A-4147-A177-3AD203B41FA5}">
                          <a16:colId xmlns:a16="http://schemas.microsoft.com/office/drawing/2014/main" val="1244269702"/>
                        </a:ext>
                      </a:extLst>
                    </a:gridCol>
                  </a:tblGrid>
                  <a:tr h="335414">
                    <a:tc>
                      <a:txBody>
                        <a:bodyPr/>
                        <a:lstStyle/>
                        <a:p>
                          <a:endParaRPr lang="vi-V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2139125"/>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vi-VN" sz="1800" i="1" smtClean="0">
                                        <a:latin typeface="Cambria Math" panose="02040503050406030204" pitchFamily="18" charset="0"/>
                                      </a:rPr>
                                    </m:ctrlPr>
                                  </m:sSubPr>
                                  <m:e>
                                    <m:r>
                                      <a:rPr lang="vi-VN" sz="1800" i="1">
                                        <a:latin typeface="Cambria Math" panose="02040503050406030204" pitchFamily="18" charset="0"/>
                                      </a:rPr>
                                      <m:t>𝜌</m:t>
                                    </m:r>
                                  </m:e>
                                  <m:sub>
                                    <m:r>
                                      <a:rPr lang="vi-VN" sz="1800" i="1">
                                        <a:latin typeface="Cambria Math" panose="02040503050406030204" pitchFamily="18" charset="0"/>
                                      </a:rPr>
                                      <m:t>𝑣</m:t>
                                    </m:r>
                                  </m:sub>
                                </m:sSub>
                              </m:oMath>
                            </m:oMathPara>
                          </a14:m>
                          <a:endParaRPr lang="vi-V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1237978"/>
                      </a:ext>
                    </a:extLst>
                  </a:tr>
                </a:tbl>
              </a:graphicData>
            </a:graphic>
          </p:graphicFrame>
        </mc:Choice>
        <mc:Fallback xmlns="">
          <p:graphicFrame>
            <p:nvGraphicFramePr>
              <p:cNvPr id="2" name="Table 1">
                <a:extLst>
                  <a:ext uri="{FF2B5EF4-FFF2-40B4-BE49-F238E27FC236}">
                    <a16:creationId xmlns:a16="http://schemas.microsoft.com/office/drawing/2014/main" id="{68929CA8-EC95-8173-512B-F2173D1EAA2C}"/>
                  </a:ext>
                </a:extLst>
              </p:cNvPr>
              <p:cNvGraphicFramePr>
                <a:graphicFrameLocks noGrp="1"/>
              </p:cNvGraphicFramePr>
              <p:nvPr>
                <p:extLst>
                  <p:ext uri="{D42A27DB-BD31-4B8C-83A1-F6EECF244321}">
                    <p14:modId xmlns:p14="http://schemas.microsoft.com/office/powerpoint/2010/main" val="1295715894"/>
                  </p:ext>
                </p:extLst>
              </p:nvPr>
            </p:nvGraphicFramePr>
            <p:xfrm>
              <a:off x="1205336" y="3130758"/>
              <a:ext cx="4137560" cy="736600"/>
            </p:xfrm>
            <a:graphic>
              <a:graphicData uri="http://schemas.openxmlformats.org/drawingml/2006/table">
                <a:tbl>
                  <a:tblPr firstRow="1" bandRow="1">
                    <a:tableStyleId>{2D5ABB26-0587-4C30-8999-92F81FD0307C}</a:tableStyleId>
                  </a:tblPr>
                  <a:tblGrid>
                    <a:gridCol w="591080">
                      <a:extLst>
                        <a:ext uri="{9D8B030D-6E8A-4147-A177-3AD203B41FA5}">
                          <a16:colId xmlns:a16="http://schemas.microsoft.com/office/drawing/2014/main" val="3947140429"/>
                        </a:ext>
                      </a:extLst>
                    </a:gridCol>
                    <a:gridCol w="591080">
                      <a:extLst>
                        <a:ext uri="{9D8B030D-6E8A-4147-A177-3AD203B41FA5}">
                          <a16:colId xmlns:a16="http://schemas.microsoft.com/office/drawing/2014/main" val="3876106707"/>
                        </a:ext>
                      </a:extLst>
                    </a:gridCol>
                    <a:gridCol w="591080">
                      <a:extLst>
                        <a:ext uri="{9D8B030D-6E8A-4147-A177-3AD203B41FA5}">
                          <a16:colId xmlns:a16="http://schemas.microsoft.com/office/drawing/2014/main" val="907767157"/>
                        </a:ext>
                      </a:extLst>
                    </a:gridCol>
                    <a:gridCol w="591080">
                      <a:extLst>
                        <a:ext uri="{9D8B030D-6E8A-4147-A177-3AD203B41FA5}">
                          <a16:colId xmlns:a16="http://schemas.microsoft.com/office/drawing/2014/main" val="1302630072"/>
                        </a:ext>
                      </a:extLst>
                    </a:gridCol>
                    <a:gridCol w="591080">
                      <a:extLst>
                        <a:ext uri="{9D8B030D-6E8A-4147-A177-3AD203B41FA5}">
                          <a16:colId xmlns:a16="http://schemas.microsoft.com/office/drawing/2014/main" val="1729250618"/>
                        </a:ext>
                      </a:extLst>
                    </a:gridCol>
                    <a:gridCol w="591080">
                      <a:extLst>
                        <a:ext uri="{9D8B030D-6E8A-4147-A177-3AD203B41FA5}">
                          <a16:colId xmlns:a16="http://schemas.microsoft.com/office/drawing/2014/main" val="1149448572"/>
                        </a:ext>
                      </a:extLst>
                    </a:gridCol>
                    <a:gridCol w="591080">
                      <a:extLst>
                        <a:ext uri="{9D8B030D-6E8A-4147-A177-3AD203B41FA5}">
                          <a16:colId xmlns:a16="http://schemas.microsoft.com/office/drawing/2014/main" val="1244269702"/>
                        </a:ext>
                      </a:extLst>
                    </a:gridCol>
                  </a:tblGrid>
                  <a:tr h="365760">
                    <a:tc>
                      <a:txBody>
                        <a:bodyPr/>
                        <a:lstStyle/>
                        <a:p>
                          <a:endParaRPr lang="vi-V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2139125"/>
                      </a:ext>
                    </a:extLst>
                  </a:tr>
                  <a:tr h="370840">
                    <a:tc>
                      <a:txBody>
                        <a:bodyPr/>
                        <a:lstStyle/>
                        <a:p>
                          <a:endParaRPr lang="vi-V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31" t="-108197" r="-603093" b="-24590"/>
                          </a:stretch>
                        </a:blipFill>
                      </a:tcPr>
                    </a:tc>
                    <a:tc>
                      <a:txBody>
                        <a:bodyPr/>
                        <a:lstStyle/>
                        <a:p>
                          <a:r>
                            <a:rPr lang="vi-VN"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dirty="0"/>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1237978"/>
                      </a:ext>
                    </a:extLst>
                  </a:tr>
                </a:tbl>
              </a:graphicData>
            </a:graphic>
          </p:graphicFrame>
        </mc:Fallback>
      </mc:AlternateContent>
    </p:spTree>
    <p:extLst>
      <p:ext uri="{BB962C8B-B14F-4D97-AF65-F5344CB8AC3E}">
        <p14:creationId xmlns:p14="http://schemas.microsoft.com/office/powerpoint/2010/main" val="4039456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96D5A-87E3-4311-3F54-86D9562042D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EEB024E-8D1E-F2A3-E88E-8070BBD05A15}"/>
              </a:ext>
            </a:extLst>
          </p:cNvPr>
          <p:cNvSpPr>
            <a:spLocks noGrp="1"/>
          </p:cNvSpPr>
          <p:nvPr>
            <p:ph type="title"/>
          </p:nvPr>
        </p:nvSpPr>
        <p:spPr/>
        <p:txBody>
          <a:bodyPr/>
          <a:lstStyle/>
          <a:p>
            <a:r>
              <a:rPr lang="vi-VN" dirty="0"/>
              <a:t>3. Minh họa</a:t>
            </a:r>
          </a:p>
        </p:txBody>
      </p:sp>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B7AC2D14-99EF-84CD-D692-AE3635D47317}"/>
                  </a:ext>
                </a:extLst>
              </p:cNvPr>
              <p:cNvSpPr>
                <a:spLocks noGrp="1"/>
              </p:cNvSpPr>
              <p:nvPr>
                <p:ph idx="1"/>
              </p:nvPr>
            </p:nvSpPr>
            <p:spPr>
              <a:xfrm>
                <a:off x="581192" y="2340864"/>
                <a:ext cx="5514808" cy="4517136"/>
              </a:xfrm>
            </p:spPr>
            <p:txBody>
              <a:bodyPr anchor="t"/>
              <a:lstStyle/>
              <a:p>
                <a:pPr marL="0" indent="0">
                  <a:buNone/>
                </a:pPr>
                <a:r>
                  <a:rPr lang="vi-VN" b="1" dirty="0"/>
                  <a:t>Bước 2: </a:t>
                </a:r>
                <a:r>
                  <a:rPr lang="vi-VN" sz="1600" b="1" dirty="0"/>
                  <a:t>Xác định các đỉnh mật độ.</a:t>
                </a:r>
                <a:endParaRPr lang="vi-VN" dirty="0"/>
              </a:p>
              <a:p>
                <a:pPr marL="0" indent="0">
                  <a:buNone/>
                </a:pPr>
                <a:r>
                  <a:rPr lang="vi-VN" dirty="0"/>
                  <a:t>	1. </a:t>
                </a:r>
                <a:r>
                  <a:rPr lang="vi-VN" sz="1600" dirty="0"/>
                  <a:t>Tính mật độ (</a:t>
                </a:r>
                <a14:m>
                  <m:oMath xmlns:m="http://schemas.openxmlformats.org/officeDocument/2006/math">
                    <m:sSub>
                      <m:sSubPr>
                        <m:ctrlPr>
                          <a:rPr lang="vi-VN" sz="1600" i="1">
                            <a:latin typeface="Cambria Math" panose="02040503050406030204" pitchFamily="18" charset="0"/>
                          </a:rPr>
                        </m:ctrlPr>
                      </m:sSubPr>
                      <m:e>
                        <m:r>
                          <a:rPr lang="vi-VN" sz="1600" i="1">
                            <a:latin typeface="Cambria Math" panose="02040503050406030204" pitchFamily="18" charset="0"/>
                          </a:rPr>
                          <m:t>𝜌</m:t>
                        </m:r>
                      </m:e>
                      <m:sub>
                        <m:r>
                          <a:rPr lang="vi-VN" sz="1600" i="1">
                            <a:latin typeface="Cambria Math" panose="02040503050406030204" pitchFamily="18" charset="0"/>
                          </a:rPr>
                          <m:t>𝑣</m:t>
                        </m:r>
                      </m:sub>
                    </m:sSub>
                  </m:oMath>
                </a14:m>
                <a:r>
                  <a:rPr lang="vi-VN" sz="1600" dirty="0"/>
                  <a:t>):</a:t>
                </a:r>
              </a:p>
              <a:p>
                <a:pPr marL="0" indent="0">
                  <a:buNone/>
                </a:pPr>
                <a:r>
                  <a:rPr lang="vi-VN" sz="1600" dirty="0"/>
                  <a:t>	2. Tính khoảng cách (</a:t>
                </a:r>
                <a14:m>
                  <m:oMath xmlns:m="http://schemas.openxmlformats.org/officeDocument/2006/math">
                    <m:sSub>
                      <m:sSubPr>
                        <m:ctrlPr>
                          <a:rPr lang="vi-VN" sz="1600" i="1" dirty="0">
                            <a:latin typeface="Cambria Math" panose="02040503050406030204" pitchFamily="18" charset="0"/>
                          </a:rPr>
                        </m:ctrlPr>
                      </m:sSubPr>
                      <m:e>
                        <m:r>
                          <a:rPr lang="vi-VN" sz="1600" i="1">
                            <a:latin typeface="Cambria Math" panose="02040503050406030204" pitchFamily="18" charset="0"/>
                            <a:ea typeface="Cambria Math" panose="02040503050406030204" pitchFamily="18" charset="0"/>
                          </a:rPr>
                          <m:t>𝛿</m:t>
                        </m:r>
                      </m:e>
                      <m:sub>
                        <m:r>
                          <a:rPr lang="vi-VN" sz="1600" i="1" dirty="0">
                            <a:latin typeface="Cambria Math" panose="02040503050406030204" pitchFamily="18" charset="0"/>
                          </a:rPr>
                          <m:t>𝑣</m:t>
                        </m:r>
                      </m:sub>
                    </m:sSub>
                  </m:oMath>
                </a14:m>
                <a:r>
                  <a:rPr lang="vi-VN" sz="1600" dirty="0"/>
                  <a:t>):</a:t>
                </a:r>
              </a:p>
              <a:p>
                <a:pPr marL="0" indent="0">
                  <a:buNone/>
                </a:pPr>
                <a:endParaRPr lang="vi-VN" sz="1600" dirty="0"/>
              </a:p>
              <a:p>
                <a:pPr marL="0" indent="0">
                  <a:buNone/>
                </a:pPr>
                <a:endParaRPr lang="vi-VN" sz="1600" dirty="0"/>
              </a:p>
              <a:p>
                <a:pPr marL="0" indent="0">
                  <a:buNone/>
                </a:pPr>
                <a:endParaRPr lang="vi-VN" sz="1600" dirty="0"/>
              </a:p>
              <a:p>
                <a:pPr marL="324000" lvl="1" indent="0">
                  <a:buNone/>
                </a:pPr>
                <a:r>
                  <a:rPr lang="vi-VN" sz="1600" dirty="0"/>
                  <a:t>	3. Xác định các định mật độ:</a:t>
                </a:r>
              </a:p>
              <a:p>
                <a:pPr marL="324000" lvl="1" indent="0">
                  <a:buNone/>
                </a:pPr>
                <a:r>
                  <a:rPr lang="vi-VN" sz="1600" dirty="0"/>
                  <a:t>Tính </a:t>
                </a:r>
                <a:r>
                  <a:rPr lang="vi-VN" sz="1600" dirty="0" err="1"/>
                  <a:t>Gamma</a:t>
                </a:r>
                <a:r>
                  <a:rPr lang="vi-VN" sz="1600" dirty="0"/>
                  <a:t> </a:t>
                </a:r>
                <a14:m>
                  <m:oMath xmlns:m="http://schemas.openxmlformats.org/officeDocument/2006/math">
                    <m:r>
                      <a:rPr lang="vi-VN" sz="1600" i="1" dirty="0" smtClean="0">
                        <a:latin typeface="Cambria Math" panose="02040503050406030204" pitchFamily="18" charset="0"/>
                      </a:rPr>
                      <m:t>(</m:t>
                    </m:r>
                    <m:r>
                      <m:rPr>
                        <m:sty m:val="p"/>
                      </m:rPr>
                      <a:rPr lang="vi-VN" sz="1600" i="1" dirty="0" smtClean="0">
                        <a:latin typeface="Cambria Math" panose="02040503050406030204" pitchFamily="18" charset="0"/>
                      </a:rPr>
                      <m:t>γ</m:t>
                    </m:r>
                    <m:r>
                      <a:rPr lang="vi-VN" sz="1600" i="1" dirty="0" smtClean="0">
                        <a:latin typeface="Cambria Math" panose="02040503050406030204" pitchFamily="18" charset="0"/>
                      </a:rPr>
                      <m:t>)</m:t>
                    </m:r>
                  </m:oMath>
                </a14:m>
                <a:r>
                  <a:rPr lang="vi-VN" sz="1600" dirty="0"/>
                  <a:t> cho tất cả các điểm:</a:t>
                </a:r>
              </a:p>
              <a:p>
                <a:pPr marL="324000" lvl="1" indent="0">
                  <a:buNone/>
                </a:pPr>
                <a14:m>
                  <m:oMathPara xmlns:m="http://schemas.openxmlformats.org/officeDocument/2006/math">
                    <m:oMathParaPr>
                      <m:jc m:val="centerGroup"/>
                    </m:oMathParaPr>
                    <m:oMath xmlns:m="http://schemas.openxmlformats.org/officeDocument/2006/math">
                      <m:r>
                        <m:rPr>
                          <m:sty m:val="p"/>
                        </m:rPr>
                        <a:rPr lang="vi-VN" sz="1600" i="1" dirty="0" smtClean="0">
                          <a:latin typeface="Cambria Math" panose="02040503050406030204" pitchFamily="18" charset="0"/>
                        </a:rPr>
                        <m:t>γ</m:t>
                      </m:r>
                      <m:r>
                        <a:rPr lang="vi-VN" sz="1600" i="1" dirty="0" smtClean="0">
                          <a:latin typeface="Cambria Math" panose="02040503050406030204" pitchFamily="18" charset="0"/>
                        </a:rPr>
                        <m:t> = </m:t>
                      </m:r>
                      <m:r>
                        <m:rPr>
                          <m:sty m:val="p"/>
                        </m:rPr>
                        <a:rPr lang="vi-VN" sz="1600" i="1" dirty="0" smtClean="0">
                          <a:latin typeface="Cambria Math" panose="02040503050406030204" pitchFamily="18" charset="0"/>
                        </a:rPr>
                        <m:t>ρ</m:t>
                      </m:r>
                      <m:r>
                        <a:rPr lang="vi-VN" sz="1600" i="1" dirty="0" smtClean="0">
                          <a:latin typeface="Cambria Math" panose="02040503050406030204" pitchFamily="18" charset="0"/>
                        </a:rPr>
                        <m:t> × </m:t>
                      </m:r>
                      <m:r>
                        <m:rPr>
                          <m:sty m:val="p"/>
                        </m:rPr>
                        <a:rPr lang="vi-VN" sz="1600" i="1" dirty="0" smtClean="0">
                          <a:latin typeface="Cambria Math" panose="02040503050406030204" pitchFamily="18" charset="0"/>
                        </a:rPr>
                        <m:t>δ</m:t>
                      </m:r>
                    </m:oMath>
                  </m:oMathPara>
                </a14:m>
                <a:endParaRPr lang="vi-VN" sz="1600" dirty="0"/>
              </a:p>
              <a:p>
                <a:pPr marL="324000" lvl="1" indent="0">
                  <a:buNone/>
                </a:pPr>
                <a:r>
                  <a:rPr lang="vi-VN" sz="1600" dirty="0"/>
                  <a:t>Những điểm có </a:t>
                </a:r>
                <a14:m>
                  <m:oMath xmlns:m="http://schemas.openxmlformats.org/officeDocument/2006/math">
                    <m:r>
                      <a:rPr lang="vi-VN" sz="1600" i="1" dirty="0">
                        <a:latin typeface="Cambria Math" panose="02040503050406030204" pitchFamily="18" charset="0"/>
                      </a:rPr>
                      <m:t>(</m:t>
                    </m:r>
                    <m:r>
                      <m:rPr>
                        <m:sty m:val="p"/>
                      </m:rPr>
                      <a:rPr lang="vi-VN" sz="1600" i="1" dirty="0">
                        <a:latin typeface="Cambria Math" panose="02040503050406030204" pitchFamily="18" charset="0"/>
                      </a:rPr>
                      <m:t>γ</m:t>
                    </m:r>
                    <m:r>
                      <a:rPr lang="vi-VN" sz="1600" i="1" dirty="0">
                        <a:latin typeface="Cambria Math" panose="02040503050406030204" pitchFamily="18" charset="0"/>
                      </a:rPr>
                      <m:t>)</m:t>
                    </m:r>
                  </m:oMath>
                </a14:m>
                <a:r>
                  <a:rPr lang="vi-VN" sz="1600" dirty="0"/>
                  <a:t> vượt trội sẽ được chọn làm đỉnh.</a:t>
                </a:r>
              </a:p>
              <a:p>
                <a:pPr marL="324000" lvl="1" indent="0">
                  <a:buNone/>
                </a:pPr>
                <a:endParaRPr lang="vi-VN" sz="1600" dirty="0"/>
              </a:p>
            </p:txBody>
          </p:sp>
        </mc:Choice>
        <mc:Fallback xmlns="">
          <p:sp>
            <p:nvSpPr>
              <p:cNvPr id="12" name="Content Placeholder 11">
                <a:extLst>
                  <a:ext uri="{FF2B5EF4-FFF2-40B4-BE49-F238E27FC236}">
                    <a16:creationId xmlns:a16="http://schemas.microsoft.com/office/drawing/2014/main" id="{B7AC2D14-99EF-84CD-D692-AE3635D47317}"/>
                  </a:ext>
                </a:extLst>
              </p:cNvPr>
              <p:cNvSpPr>
                <a:spLocks noGrp="1" noRot="1" noChangeAspect="1" noMove="1" noResize="1" noEditPoints="1" noAdjustHandles="1" noChangeArrowheads="1" noChangeShapeType="1" noTextEdit="1"/>
              </p:cNvSpPr>
              <p:nvPr>
                <p:ph idx="1"/>
              </p:nvPr>
            </p:nvSpPr>
            <p:spPr>
              <a:xfrm>
                <a:off x="581192" y="2340864"/>
                <a:ext cx="5514808" cy="4517136"/>
              </a:xfrm>
              <a:blipFill>
                <a:blip r:embed="rId2"/>
                <a:stretch>
                  <a:fillRect l="-663" t="-270"/>
                </a:stretch>
              </a:blipFill>
            </p:spPr>
            <p:txBody>
              <a:bodyPr/>
              <a:lstStyle/>
              <a:p>
                <a:r>
                  <a:rPr lang="vi-VN">
                    <a:noFill/>
                  </a:rPr>
                  <a:t> </a:t>
                </a:r>
              </a:p>
            </p:txBody>
          </p:sp>
        </mc:Fallback>
      </mc:AlternateContent>
      <p:grpSp>
        <p:nvGrpSpPr>
          <p:cNvPr id="3" name="Group 2">
            <a:extLst>
              <a:ext uri="{FF2B5EF4-FFF2-40B4-BE49-F238E27FC236}">
                <a16:creationId xmlns:a16="http://schemas.microsoft.com/office/drawing/2014/main" id="{084E286A-7553-7613-EC15-9896CA16C58F}"/>
              </a:ext>
            </a:extLst>
          </p:cNvPr>
          <p:cNvGrpSpPr/>
          <p:nvPr/>
        </p:nvGrpSpPr>
        <p:grpSpPr>
          <a:xfrm>
            <a:off x="6886600" y="2539949"/>
            <a:ext cx="4504163" cy="3284201"/>
            <a:chOff x="6886600" y="2539949"/>
            <a:chExt cx="4504163" cy="3284201"/>
          </a:xfrm>
        </p:grpSpPr>
        <p:grpSp>
          <p:nvGrpSpPr>
            <p:cNvPr id="34" name="Group 33">
              <a:extLst>
                <a:ext uri="{FF2B5EF4-FFF2-40B4-BE49-F238E27FC236}">
                  <a16:creationId xmlns:a16="http://schemas.microsoft.com/office/drawing/2014/main" id="{A14A3D2E-24E3-7B15-F879-BEF5AE8371D9}"/>
                </a:ext>
              </a:extLst>
            </p:cNvPr>
            <p:cNvGrpSpPr/>
            <p:nvPr/>
          </p:nvGrpSpPr>
          <p:grpSpPr>
            <a:xfrm>
              <a:off x="6886600" y="2539949"/>
              <a:ext cx="4504163" cy="3284201"/>
              <a:chOff x="3101788" y="2626773"/>
              <a:chExt cx="4504163" cy="3284201"/>
            </a:xfrm>
          </p:grpSpPr>
          <p:sp>
            <p:nvSpPr>
              <p:cNvPr id="36" name="Oval 35">
                <a:extLst>
                  <a:ext uri="{FF2B5EF4-FFF2-40B4-BE49-F238E27FC236}">
                    <a16:creationId xmlns:a16="http://schemas.microsoft.com/office/drawing/2014/main" id="{EF43074B-A5E3-BB58-45F7-7D26159AB829}"/>
                  </a:ext>
                </a:extLst>
              </p:cNvPr>
              <p:cNvSpPr/>
              <p:nvPr/>
            </p:nvSpPr>
            <p:spPr>
              <a:xfrm>
                <a:off x="3765176" y="292249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endParaRPr lang="vi-VN" dirty="0"/>
              </a:p>
            </p:txBody>
          </p:sp>
          <p:sp>
            <p:nvSpPr>
              <p:cNvPr id="37" name="Oval 36">
                <a:extLst>
                  <a:ext uri="{FF2B5EF4-FFF2-40B4-BE49-F238E27FC236}">
                    <a16:creationId xmlns:a16="http://schemas.microsoft.com/office/drawing/2014/main" id="{9D0EEDAC-EC15-F5D9-E492-0E98D0BC587E}"/>
                  </a:ext>
                </a:extLst>
              </p:cNvPr>
              <p:cNvSpPr/>
              <p:nvPr/>
            </p:nvSpPr>
            <p:spPr>
              <a:xfrm>
                <a:off x="3101788" y="436925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endParaRPr lang="vi-VN" dirty="0"/>
              </a:p>
            </p:txBody>
          </p:sp>
          <p:sp>
            <p:nvSpPr>
              <p:cNvPr id="38" name="Oval 37">
                <a:extLst>
                  <a:ext uri="{FF2B5EF4-FFF2-40B4-BE49-F238E27FC236}">
                    <a16:creationId xmlns:a16="http://schemas.microsoft.com/office/drawing/2014/main" id="{243B8ACC-1936-7903-EF1A-F88669F14691}"/>
                  </a:ext>
                </a:extLst>
              </p:cNvPr>
              <p:cNvSpPr/>
              <p:nvPr/>
            </p:nvSpPr>
            <p:spPr>
              <a:xfrm>
                <a:off x="5602939" y="2626773"/>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endParaRPr lang="vi-VN" dirty="0"/>
              </a:p>
            </p:txBody>
          </p:sp>
          <p:sp>
            <p:nvSpPr>
              <p:cNvPr id="39" name="Oval 38">
                <a:extLst>
                  <a:ext uri="{FF2B5EF4-FFF2-40B4-BE49-F238E27FC236}">
                    <a16:creationId xmlns:a16="http://schemas.microsoft.com/office/drawing/2014/main" id="{2783FC3C-455B-8242-1977-D5393A06E9E4}"/>
                  </a:ext>
                </a:extLst>
              </p:cNvPr>
              <p:cNvSpPr/>
              <p:nvPr/>
            </p:nvSpPr>
            <p:spPr>
              <a:xfrm>
                <a:off x="5054635" y="379530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endParaRPr lang="vi-VN" dirty="0"/>
              </a:p>
            </p:txBody>
          </p:sp>
          <p:sp>
            <p:nvSpPr>
              <p:cNvPr id="40" name="Oval 39">
                <a:extLst>
                  <a:ext uri="{FF2B5EF4-FFF2-40B4-BE49-F238E27FC236}">
                    <a16:creationId xmlns:a16="http://schemas.microsoft.com/office/drawing/2014/main" id="{6FE7A2F2-D4C0-E97D-10AE-1AFF6533388F}"/>
                  </a:ext>
                </a:extLst>
              </p:cNvPr>
              <p:cNvSpPr/>
              <p:nvPr/>
            </p:nvSpPr>
            <p:spPr>
              <a:xfrm>
                <a:off x="5941057" y="524758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endParaRPr lang="vi-VN" dirty="0"/>
              </a:p>
            </p:txBody>
          </p:sp>
          <p:sp>
            <p:nvSpPr>
              <p:cNvPr id="41" name="Oval 40">
                <a:extLst>
                  <a:ext uri="{FF2B5EF4-FFF2-40B4-BE49-F238E27FC236}">
                    <a16:creationId xmlns:a16="http://schemas.microsoft.com/office/drawing/2014/main" id="{5B59FD98-12E8-C3B1-8139-48041C9BBA31}"/>
                  </a:ext>
                </a:extLst>
              </p:cNvPr>
              <p:cNvSpPr/>
              <p:nvPr/>
            </p:nvSpPr>
            <p:spPr>
              <a:xfrm>
                <a:off x="6942563" y="3595109"/>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endParaRPr lang="vi-VN" dirty="0"/>
              </a:p>
            </p:txBody>
          </p:sp>
        </p:grpSp>
        <p:sp>
          <p:nvSpPr>
            <p:cNvPr id="56" name="Oval 55">
              <a:extLst>
                <a:ext uri="{FF2B5EF4-FFF2-40B4-BE49-F238E27FC236}">
                  <a16:creationId xmlns:a16="http://schemas.microsoft.com/office/drawing/2014/main" id="{40DCDAC2-418A-3DE4-CFB5-4D067AAC23D4}"/>
                </a:ext>
              </a:extLst>
            </p:cNvPr>
            <p:cNvSpPr/>
            <p:nvPr/>
          </p:nvSpPr>
          <p:spPr>
            <a:xfrm>
              <a:off x="7864065" y="2746831"/>
              <a:ext cx="2586685" cy="2586685"/>
            </a:xfrm>
            <a:prstGeom prst="ellipse">
              <a:avLst/>
            </a:prstGeom>
            <a:noFill/>
            <a:ln>
              <a:solidFill>
                <a:schemeClr val="tx1"/>
              </a:solidFill>
              <a:prstDash val="dash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vi-VN">
                <a:ln>
                  <a:solidFill>
                    <a:sysClr val="windowText" lastClr="000000"/>
                  </a:solidFill>
                </a:ln>
              </a:endParaRPr>
            </a:p>
          </p:txBody>
        </p:sp>
      </p:gr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4DFCA20B-9418-6B05-588F-0EED93585854}"/>
                  </a:ext>
                </a:extLst>
              </p:cNvPr>
              <p:cNvGraphicFramePr>
                <a:graphicFrameLocks noGrp="1"/>
              </p:cNvGraphicFramePr>
              <p:nvPr>
                <p:extLst>
                  <p:ext uri="{D42A27DB-BD31-4B8C-83A1-F6EECF244321}">
                    <p14:modId xmlns:p14="http://schemas.microsoft.com/office/powerpoint/2010/main" val="1457874357"/>
                  </p:ext>
                </p:extLst>
              </p:nvPr>
            </p:nvGraphicFramePr>
            <p:xfrm>
              <a:off x="1170034" y="3508285"/>
              <a:ext cx="4137560" cy="1107440"/>
            </p:xfrm>
            <a:graphic>
              <a:graphicData uri="http://schemas.openxmlformats.org/drawingml/2006/table">
                <a:tbl>
                  <a:tblPr firstRow="1" bandRow="1">
                    <a:tableStyleId>{2D5ABB26-0587-4C30-8999-92F81FD0307C}</a:tableStyleId>
                  </a:tblPr>
                  <a:tblGrid>
                    <a:gridCol w="591080">
                      <a:extLst>
                        <a:ext uri="{9D8B030D-6E8A-4147-A177-3AD203B41FA5}">
                          <a16:colId xmlns:a16="http://schemas.microsoft.com/office/drawing/2014/main" val="3947140429"/>
                        </a:ext>
                      </a:extLst>
                    </a:gridCol>
                    <a:gridCol w="591080">
                      <a:extLst>
                        <a:ext uri="{9D8B030D-6E8A-4147-A177-3AD203B41FA5}">
                          <a16:colId xmlns:a16="http://schemas.microsoft.com/office/drawing/2014/main" val="3876106707"/>
                        </a:ext>
                      </a:extLst>
                    </a:gridCol>
                    <a:gridCol w="591080">
                      <a:extLst>
                        <a:ext uri="{9D8B030D-6E8A-4147-A177-3AD203B41FA5}">
                          <a16:colId xmlns:a16="http://schemas.microsoft.com/office/drawing/2014/main" val="907767157"/>
                        </a:ext>
                      </a:extLst>
                    </a:gridCol>
                    <a:gridCol w="591080">
                      <a:extLst>
                        <a:ext uri="{9D8B030D-6E8A-4147-A177-3AD203B41FA5}">
                          <a16:colId xmlns:a16="http://schemas.microsoft.com/office/drawing/2014/main" val="1302630072"/>
                        </a:ext>
                      </a:extLst>
                    </a:gridCol>
                    <a:gridCol w="591080">
                      <a:extLst>
                        <a:ext uri="{9D8B030D-6E8A-4147-A177-3AD203B41FA5}">
                          <a16:colId xmlns:a16="http://schemas.microsoft.com/office/drawing/2014/main" val="1729250618"/>
                        </a:ext>
                      </a:extLst>
                    </a:gridCol>
                    <a:gridCol w="591080">
                      <a:extLst>
                        <a:ext uri="{9D8B030D-6E8A-4147-A177-3AD203B41FA5}">
                          <a16:colId xmlns:a16="http://schemas.microsoft.com/office/drawing/2014/main" val="1149448572"/>
                        </a:ext>
                      </a:extLst>
                    </a:gridCol>
                    <a:gridCol w="591080">
                      <a:extLst>
                        <a:ext uri="{9D8B030D-6E8A-4147-A177-3AD203B41FA5}">
                          <a16:colId xmlns:a16="http://schemas.microsoft.com/office/drawing/2014/main" val="1244269702"/>
                        </a:ext>
                      </a:extLst>
                    </a:gridCol>
                  </a:tblGrid>
                  <a:tr h="335414">
                    <a:tc>
                      <a:txBody>
                        <a:bodyPr/>
                        <a:lstStyle/>
                        <a:p>
                          <a:pPr algn="ctr"/>
                          <a:endParaRPr lang="vi-V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2139125"/>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vi-VN" sz="1800" i="1" smtClean="0">
                                        <a:latin typeface="Cambria Math" panose="02040503050406030204" pitchFamily="18" charset="0"/>
                                      </a:rPr>
                                    </m:ctrlPr>
                                  </m:sSubPr>
                                  <m:e>
                                    <m:r>
                                      <a:rPr lang="vi-VN" sz="1800" i="1">
                                        <a:latin typeface="Cambria Math" panose="02040503050406030204" pitchFamily="18" charset="0"/>
                                      </a:rPr>
                                      <m:t>𝜌</m:t>
                                    </m:r>
                                  </m:e>
                                  <m:sub>
                                    <m:r>
                                      <a:rPr lang="vi-VN" sz="1800" i="1">
                                        <a:latin typeface="Cambria Math" panose="02040503050406030204" pitchFamily="18" charset="0"/>
                                      </a:rPr>
                                      <m:t>𝑣</m:t>
                                    </m:r>
                                  </m:sub>
                                </m:sSub>
                              </m:oMath>
                            </m:oMathPara>
                          </a14:m>
                          <a:endParaRPr lang="vi-V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1237978"/>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vi-VN" sz="1800" i="1" dirty="0" smtClean="0">
                                        <a:latin typeface="Cambria Math" panose="02040503050406030204" pitchFamily="18" charset="0"/>
                                      </a:rPr>
                                    </m:ctrlPr>
                                  </m:sSubPr>
                                  <m:e>
                                    <m:r>
                                      <a:rPr lang="vi-VN" sz="1800" i="1">
                                        <a:latin typeface="Cambria Math" panose="02040503050406030204" pitchFamily="18" charset="0"/>
                                        <a:ea typeface="Cambria Math" panose="02040503050406030204" pitchFamily="18" charset="0"/>
                                      </a:rPr>
                                      <m:t>𝛿</m:t>
                                    </m:r>
                                  </m:e>
                                  <m:sub>
                                    <m:r>
                                      <a:rPr lang="vi-VN" sz="1800" i="1" dirty="0">
                                        <a:latin typeface="Cambria Math" panose="02040503050406030204" pitchFamily="18" charset="0"/>
                                      </a:rPr>
                                      <m:t>𝑣</m:t>
                                    </m:r>
                                  </m:sub>
                                </m:sSub>
                              </m:oMath>
                            </m:oMathPara>
                          </a14:m>
                          <a:endParaRPr lang="vi-V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892534"/>
                      </a:ext>
                    </a:extLst>
                  </a:tr>
                </a:tbl>
              </a:graphicData>
            </a:graphic>
          </p:graphicFrame>
        </mc:Choice>
        <mc:Fallback xmlns="">
          <p:graphicFrame>
            <p:nvGraphicFramePr>
              <p:cNvPr id="2" name="Table 1">
                <a:extLst>
                  <a:ext uri="{FF2B5EF4-FFF2-40B4-BE49-F238E27FC236}">
                    <a16:creationId xmlns:a16="http://schemas.microsoft.com/office/drawing/2014/main" id="{4DFCA20B-9418-6B05-588F-0EED93585854}"/>
                  </a:ext>
                </a:extLst>
              </p:cNvPr>
              <p:cNvGraphicFramePr>
                <a:graphicFrameLocks noGrp="1"/>
              </p:cNvGraphicFramePr>
              <p:nvPr>
                <p:extLst>
                  <p:ext uri="{D42A27DB-BD31-4B8C-83A1-F6EECF244321}">
                    <p14:modId xmlns:p14="http://schemas.microsoft.com/office/powerpoint/2010/main" val="1457874357"/>
                  </p:ext>
                </p:extLst>
              </p:nvPr>
            </p:nvGraphicFramePr>
            <p:xfrm>
              <a:off x="1170034" y="3508285"/>
              <a:ext cx="4137560" cy="1107440"/>
            </p:xfrm>
            <a:graphic>
              <a:graphicData uri="http://schemas.openxmlformats.org/drawingml/2006/table">
                <a:tbl>
                  <a:tblPr firstRow="1" bandRow="1">
                    <a:tableStyleId>{2D5ABB26-0587-4C30-8999-92F81FD0307C}</a:tableStyleId>
                  </a:tblPr>
                  <a:tblGrid>
                    <a:gridCol w="591080">
                      <a:extLst>
                        <a:ext uri="{9D8B030D-6E8A-4147-A177-3AD203B41FA5}">
                          <a16:colId xmlns:a16="http://schemas.microsoft.com/office/drawing/2014/main" val="3947140429"/>
                        </a:ext>
                      </a:extLst>
                    </a:gridCol>
                    <a:gridCol w="591080">
                      <a:extLst>
                        <a:ext uri="{9D8B030D-6E8A-4147-A177-3AD203B41FA5}">
                          <a16:colId xmlns:a16="http://schemas.microsoft.com/office/drawing/2014/main" val="3876106707"/>
                        </a:ext>
                      </a:extLst>
                    </a:gridCol>
                    <a:gridCol w="591080">
                      <a:extLst>
                        <a:ext uri="{9D8B030D-6E8A-4147-A177-3AD203B41FA5}">
                          <a16:colId xmlns:a16="http://schemas.microsoft.com/office/drawing/2014/main" val="907767157"/>
                        </a:ext>
                      </a:extLst>
                    </a:gridCol>
                    <a:gridCol w="591080">
                      <a:extLst>
                        <a:ext uri="{9D8B030D-6E8A-4147-A177-3AD203B41FA5}">
                          <a16:colId xmlns:a16="http://schemas.microsoft.com/office/drawing/2014/main" val="1302630072"/>
                        </a:ext>
                      </a:extLst>
                    </a:gridCol>
                    <a:gridCol w="591080">
                      <a:extLst>
                        <a:ext uri="{9D8B030D-6E8A-4147-A177-3AD203B41FA5}">
                          <a16:colId xmlns:a16="http://schemas.microsoft.com/office/drawing/2014/main" val="1729250618"/>
                        </a:ext>
                      </a:extLst>
                    </a:gridCol>
                    <a:gridCol w="591080">
                      <a:extLst>
                        <a:ext uri="{9D8B030D-6E8A-4147-A177-3AD203B41FA5}">
                          <a16:colId xmlns:a16="http://schemas.microsoft.com/office/drawing/2014/main" val="1149448572"/>
                        </a:ext>
                      </a:extLst>
                    </a:gridCol>
                    <a:gridCol w="591080">
                      <a:extLst>
                        <a:ext uri="{9D8B030D-6E8A-4147-A177-3AD203B41FA5}">
                          <a16:colId xmlns:a16="http://schemas.microsoft.com/office/drawing/2014/main" val="1244269702"/>
                        </a:ext>
                      </a:extLst>
                    </a:gridCol>
                  </a:tblGrid>
                  <a:tr h="365760">
                    <a:tc>
                      <a:txBody>
                        <a:bodyPr/>
                        <a:lstStyle/>
                        <a:p>
                          <a:pPr algn="ctr"/>
                          <a:endParaRPr lang="vi-V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2139125"/>
                      </a:ext>
                    </a:extLst>
                  </a:tr>
                  <a:tr h="370840">
                    <a:tc>
                      <a:txBody>
                        <a:bodyPr/>
                        <a:lstStyle/>
                        <a:p>
                          <a:endParaRPr lang="vi-V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31" t="-104839" r="-603093" b="-120968"/>
                          </a:stretch>
                        </a:blipFill>
                      </a:tcPr>
                    </a:tc>
                    <a:tc>
                      <a:txBody>
                        <a:bodyPr/>
                        <a:lstStyle/>
                        <a:p>
                          <a:pPr algn="ctr"/>
                          <a:r>
                            <a:rPr lang="vi-VN"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1237978"/>
                      </a:ext>
                    </a:extLst>
                  </a:tr>
                  <a:tr h="370840">
                    <a:tc>
                      <a:txBody>
                        <a:bodyPr/>
                        <a:lstStyle/>
                        <a:p>
                          <a:endParaRPr lang="vi-V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31" t="-208197" r="-603093" b="-22951"/>
                          </a:stretch>
                        </a:blipFill>
                      </a:tcPr>
                    </a:tc>
                    <a:tc>
                      <a:txBody>
                        <a:bodyPr/>
                        <a:lstStyle/>
                        <a:p>
                          <a:pPr algn="ctr"/>
                          <a:r>
                            <a:rPr lang="vi-VN" dirty="0"/>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892534"/>
                      </a:ext>
                    </a:extLst>
                  </a:tr>
                </a:tbl>
              </a:graphicData>
            </a:graphic>
          </p:graphicFrame>
        </mc:Fallback>
      </mc:AlternateContent>
    </p:spTree>
    <p:extLst>
      <p:ext uri="{BB962C8B-B14F-4D97-AF65-F5344CB8AC3E}">
        <p14:creationId xmlns:p14="http://schemas.microsoft.com/office/powerpoint/2010/main" val="1089884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1F84-A4DF-BA14-56DF-CC7A078216D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5B5C4BC-2AB6-D3E6-1088-1A93EE69386A}"/>
              </a:ext>
            </a:extLst>
          </p:cNvPr>
          <p:cNvSpPr>
            <a:spLocks noGrp="1"/>
          </p:cNvSpPr>
          <p:nvPr>
            <p:ph type="title"/>
          </p:nvPr>
        </p:nvSpPr>
        <p:spPr/>
        <p:txBody>
          <a:bodyPr/>
          <a:lstStyle/>
          <a:p>
            <a:r>
              <a:rPr lang="vi-VN" dirty="0"/>
              <a:t>3. Minh họa</a:t>
            </a:r>
          </a:p>
        </p:txBody>
      </p:sp>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C498739E-B2AB-3FA3-5735-96DD44BEDCC1}"/>
                  </a:ext>
                </a:extLst>
              </p:cNvPr>
              <p:cNvSpPr>
                <a:spLocks noGrp="1"/>
              </p:cNvSpPr>
              <p:nvPr>
                <p:ph idx="1"/>
              </p:nvPr>
            </p:nvSpPr>
            <p:spPr>
              <a:xfrm>
                <a:off x="581192" y="2340864"/>
                <a:ext cx="5514808" cy="4517136"/>
              </a:xfrm>
            </p:spPr>
            <p:txBody>
              <a:bodyPr anchor="t"/>
              <a:lstStyle/>
              <a:p>
                <a:pPr marL="0" indent="0">
                  <a:buNone/>
                </a:pPr>
                <a:r>
                  <a:rPr lang="vi-VN" b="1" dirty="0"/>
                  <a:t>Bước 2: </a:t>
                </a:r>
                <a:r>
                  <a:rPr lang="vi-VN" sz="1600" b="1" dirty="0"/>
                  <a:t>Xác định các đỉnh mật độ.</a:t>
                </a:r>
                <a:endParaRPr lang="vi-VN" dirty="0"/>
              </a:p>
              <a:p>
                <a:pPr marL="0" indent="0">
                  <a:buNone/>
                </a:pPr>
                <a:r>
                  <a:rPr lang="vi-VN" dirty="0"/>
                  <a:t>	1. </a:t>
                </a:r>
                <a:r>
                  <a:rPr lang="vi-VN" sz="1600" dirty="0"/>
                  <a:t>Tính mật độ (</a:t>
                </a:r>
                <a14:m>
                  <m:oMath xmlns:m="http://schemas.openxmlformats.org/officeDocument/2006/math">
                    <m:sSub>
                      <m:sSubPr>
                        <m:ctrlPr>
                          <a:rPr lang="vi-VN" sz="1600" i="1">
                            <a:latin typeface="Cambria Math" panose="02040503050406030204" pitchFamily="18" charset="0"/>
                          </a:rPr>
                        </m:ctrlPr>
                      </m:sSubPr>
                      <m:e>
                        <m:r>
                          <a:rPr lang="vi-VN" sz="1600" i="1">
                            <a:latin typeface="Cambria Math" panose="02040503050406030204" pitchFamily="18" charset="0"/>
                          </a:rPr>
                          <m:t>𝜌</m:t>
                        </m:r>
                      </m:e>
                      <m:sub>
                        <m:r>
                          <a:rPr lang="vi-VN" sz="1600" i="1">
                            <a:latin typeface="Cambria Math" panose="02040503050406030204" pitchFamily="18" charset="0"/>
                          </a:rPr>
                          <m:t>𝑣</m:t>
                        </m:r>
                      </m:sub>
                    </m:sSub>
                  </m:oMath>
                </a14:m>
                <a:r>
                  <a:rPr lang="vi-VN" sz="1600" dirty="0"/>
                  <a:t>):</a:t>
                </a:r>
              </a:p>
              <a:p>
                <a:pPr marL="0" indent="0">
                  <a:buNone/>
                </a:pPr>
                <a:r>
                  <a:rPr lang="vi-VN" sz="1600" dirty="0"/>
                  <a:t>	2. Tính khoảng cách (</a:t>
                </a:r>
                <a14:m>
                  <m:oMath xmlns:m="http://schemas.openxmlformats.org/officeDocument/2006/math">
                    <m:sSub>
                      <m:sSubPr>
                        <m:ctrlPr>
                          <a:rPr lang="vi-VN" sz="1600" i="1" dirty="0">
                            <a:latin typeface="Cambria Math" panose="02040503050406030204" pitchFamily="18" charset="0"/>
                          </a:rPr>
                        </m:ctrlPr>
                      </m:sSubPr>
                      <m:e>
                        <m:r>
                          <a:rPr lang="vi-VN" sz="1600" i="1">
                            <a:latin typeface="Cambria Math" panose="02040503050406030204" pitchFamily="18" charset="0"/>
                            <a:ea typeface="Cambria Math" panose="02040503050406030204" pitchFamily="18" charset="0"/>
                          </a:rPr>
                          <m:t>𝛿</m:t>
                        </m:r>
                      </m:e>
                      <m:sub>
                        <m:r>
                          <a:rPr lang="vi-VN" sz="1600" i="1" dirty="0">
                            <a:latin typeface="Cambria Math" panose="02040503050406030204" pitchFamily="18" charset="0"/>
                          </a:rPr>
                          <m:t>𝑣</m:t>
                        </m:r>
                      </m:sub>
                    </m:sSub>
                  </m:oMath>
                </a14:m>
                <a:r>
                  <a:rPr lang="vi-VN" sz="1600" dirty="0"/>
                  <a:t>):</a:t>
                </a:r>
              </a:p>
              <a:p>
                <a:pPr marL="324000" lvl="1" indent="0">
                  <a:buNone/>
                </a:pPr>
                <a:r>
                  <a:rPr lang="vi-VN" sz="1600" dirty="0"/>
                  <a:t>	3. Xác định các định mật độ:</a:t>
                </a:r>
              </a:p>
              <a:p>
                <a:pPr marL="324000" lvl="1" indent="0">
                  <a:buNone/>
                </a:pPr>
                <a:endParaRPr lang="vi-VN" sz="1600" dirty="0"/>
              </a:p>
              <a:p>
                <a:pPr marL="324000" lvl="1" indent="0">
                  <a:buNone/>
                </a:pPr>
                <a:endParaRPr lang="vi-VN" sz="1600" dirty="0"/>
              </a:p>
              <a:p>
                <a:pPr marL="324000" lvl="1" indent="0">
                  <a:buNone/>
                </a:pPr>
                <a:endParaRPr lang="vi-VN" sz="1600" dirty="0"/>
              </a:p>
              <a:p>
                <a:pPr marL="324000" lvl="1" indent="0">
                  <a:buNone/>
                </a:pPr>
                <a:endParaRPr lang="vi-VN" sz="1600" dirty="0"/>
              </a:p>
              <a:p>
                <a:pPr marL="324000" lvl="1" indent="0">
                  <a:buNone/>
                </a:pPr>
                <a:r>
                  <a:rPr lang="vi-VN" sz="1600" dirty="0"/>
                  <a:t>Vì F có </a:t>
                </a:r>
                <a14:m>
                  <m:oMath xmlns:m="http://schemas.openxmlformats.org/officeDocument/2006/math">
                    <m:r>
                      <a:rPr lang="vi-VN" sz="1600" i="1" dirty="0">
                        <a:latin typeface="Cambria Math" panose="02040503050406030204" pitchFamily="18" charset="0"/>
                      </a:rPr>
                      <m:t>(</m:t>
                    </m:r>
                    <m:r>
                      <m:rPr>
                        <m:sty m:val="p"/>
                      </m:rPr>
                      <a:rPr lang="vi-VN" sz="1600" i="1" dirty="0">
                        <a:latin typeface="Cambria Math" panose="02040503050406030204" pitchFamily="18" charset="0"/>
                      </a:rPr>
                      <m:t>γ</m:t>
                    </m:r>
                    <m:r>
                      <a:rPr lang="vi-VN" sz="1600" i="1" dirty="0">
                        <a:latin typeface="Cambria Math" panose="02040503050406030204" pitchFamily="18" charset="0"/>
                      </a:rPr>
                      <m:t>)</m:t>
                    </m:r>
                  </m:oMath>
                </a14:m>
                <a:r>
                  <a:rPr lang="vi-VN" sz="1600" dirty="0"/>
                  <a:t> vượt trội nên F sẽ được chọn làm đỉnh của cụm.</a:t>
                </a:r>
              </a:p>
            </p:txBody>
          </p:sp>
        </mc:Choice>
        <mc:Fallback xmlns="">
          <p:sp>
            <p:nvSpPr>
              <p:cNvPr id="12" name="Content Placeholder 11">
                <a:extLst>
                  <a:ext uri="{FF2B5EF4-FFF2-40B4-BE49-F238E27FC236}">
                    <a16:creationId xmlns:a16="http://schemas.microsoft.com/office/drawing/2014/main" id="{C498739E-B2AB-3FA3-5735-96DD44BEDCC1}"/>
                  </a:ext>
                </a:extLst>
              </p:cNvPr>
              <p:cNvSpPr>
                <a:spLocks noGrp="1" noRot="1" noChangeAspect="1" noMove="1" noResize="1" noEditPoints="1" noAdjustHandles="1" noChangeArrowheads="1" noChangeShapeType="1" noTextEdit="1"/>
              </p:cNvSpPr>
              <p:nvPr>
                <p:ph idx="1"/>
              </p:nvPr>
            </p:nvSpPr>
            <p:spPr>
              <a:xfrm>
                <a:off x="581192" y="2340864"/>
                <a:ext cx="5514808" cy="4517136"/>
              </a:xfrm>
              <a:blipFill>
                <a:blip r:embed="rId2"/>
                <a:stretch>
                  <a:fillRect l="-663" t="-270"/>
                </a:stretch>
              </a:blipFill>
            </p:spPr>
            <p:txBody>
              <a:bodyPr/>
              <a:lstStyle/>
              <a:p>
                <a:r>
                  <a:rPr lang="vi-VN">
                    <a:noFill/>
                  </a:rPr>
                  <a:t> </a:t>
                </a:r>
              </a:p>
            </p:txBody>
          </p:sp>
        </mc:Fallback>
      </mc:AlternateContent>
      <p:grpSp>
        <p:nvGrpSpPr>
          <p:cNvPr id="3" name="Group 2">
            <a:extLst>
              <a:ext uri="{FF2B5EF4-FFF2-40B4-BE49-F238E27FC236}">
                <a16:creationId xmlns:a16="http://schemas.microsoft.com/office/drawing/2014/main" id="{0A85DEF8-E8D8-3CF9-5850-144BF36FA7E5}"/>
              </a:ext>
            </a:extLst>
          </p:cNvPr>
          <p:cNvGrpSpPr/>
          <p:nvPr/>
        </p:nvGrpSpPr>
        <p:grpSpPr>
          <a:xfrm>
            <a:off x="6886600" y="2539949"/>
            <a:ext cx="4504163" cy="3284201"/>
            <a:chOff x="6886600" y="2539949"/>
            <a:chExt cx="4504163" cy="3284201"/>
          </a:xfrm>
        </p:grpSpPr>
        <p:grpSp>
          <p:nvGrpSpPr>
            <p:cNvPr id="34" name="Group 33">
              <a:extLst>
                <a:ext uri="{FF2B5EF4-FFF2-40B4-BE49-F238E27FC236}">
                  <a16:creationId xmlns:a16="http://schemas.microsoft.com/office/drawing/2014/main" id="{53200416-F8DA-8D1A-1D57-8EF258F02424}"/>
                </a:ext>
              </a:extLst>
            </p:cNvPr>
            <p:cNvGrpSpPr/>
            <p:nvPr/>
          </p:nvGrpSpPr>
          <p:grpSpPr>
            <a:xfrm>
              <a:off x="6886600" y="2539949"/>
              <a:ext cx="4504163" cy="3284201"/>
              <a:chOff x="3101788" y="2626773"/>
              <a:chExt cx="4504163" cy="3284201"/>
            </a:xfrm>
          </p:grpSpPr>
          <p:sp>
            <p:nvSpPr>
              <p:cNvPr id="36" name="Oval 35">
                <a:extLst>
                  <a:ext uri="{FF2B5EF4-FFF2-40B4-BE49-F238E27FC236}">
                    <a16:creationId xmlns:a16="http://schemas.microsoft.com/office/drawing/2014/main" id="{184F5B2C-2EB4-8043-87F0-EB7A8448C375}"/>
                  </a:ext>
                </a:extLst>
              </p:cNvPr>
              <p:cNvSpPr/>
              <p:nvPr/>
            </p:nvSpPr>
            <p:spPr>
              <a:xfrm>
                <a:off x="3765176" y="292249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endParaRPr lang="vi-VN" dirty="0"/>
              </a:p>
            </p:txBody>
          </p:sp>
          <p:sp>
            <p:nvSpPr>
              <p:cNvPr id="37" name="Oval 36">
                <a:extLst>
                  <a:ext uri="{FF2B5EF4-FFF2-40B4-BE49-F238E27FC236}">
                    <a16:creationId xmlns:a16="http://schemas.microsoft.com/office/drawing/2014/main" id="{BCEEF337-063A-41AA-3D59-42373015436D}"/>
                  </a:ext>
                </a:extLst>
              </p:cNvPr>
              <p:cNvSpPr/>
              <p:nvPr/>
            </p:nvSpPr>
            <p:spPr>
              <a:xfrm>
                <a:off x="3101788" y="436925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endParaRPr lang="vi-VN" dirty="0"/>
              </a:p>
            </p:txBody>
          </p:sp>
          <p:sp>
            <p:nvSpPr>
              <p:cNvPr id="38" name="Oval 37">
                <a:extLst>
                  <a:ext uri="{FF2B5EF4-FFF2-40B4-BE49-F238E27FC236}">
                    <a16:creationId xmlns:a16="http://schemas.microsoft.com/office/drawing/2014/main" id="{BA2D0DEC-224C-17FD-BDBC-CEEF9853F925}"/>
                  </a:ext>
                </a:extLst>
              </p:cNvPr>
              <p:cNvSpPr/>
              <p:nvPr/>
            </p:nvSpPr>
            <p:spPr>
              <a:xfrm>
                <a:off x="5602939" y="2626773"/>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endParaRPr lang="vi-VN" dirty="0"/>
              </a:p>
            </p:txBody>
          </p:sp>
          <p:sp>
            <p:nvSpPr>
              <p:cNvPr id="39" name="Oval 38">
                <a:extLst>
                  <a:ext uri="{FF2B5EF4-FFF2-40B4-BE49-F238E27FC236}">
                    <a16:creationId xmlns:a16="http://schemas.microsoft.com/office/drawing/2014/main" id="{60B17B86-775E-B7F8-A01A-1EEDFC3A55F6}"/>
                  </a:ext>
                </a:extLst>
              </p:cNvPr>
              <p:cNvSpPr/>
              <p:nvPr/>
            </p:nvSpPr>
            <p:spPr>
              <a:xfrm>
                <a:off x="5054635" y="379530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endParaRPr lang="vi-VN" dirty="0"/>
              </a:p>
            </p:txBody>
          </p:sp>
          <p:sp>
            <p:nvSpPr>
              <p:cNvPr id="40" name="Oval 39">
                <a:extLst>
                  <a:ext uri="{FF2B5EF4-FFF2-40B4-BE49-F238E27FC236}">
                    <a16:creationId xmlns:a16="http://schemas.microsoft.com/office/drawing/2014/main" id="{00605CEA-C5B8-47B1-4524-B2EE63C17951}"/>
                  </a:ext>
                </a:extLst>
              </p:cNvPr>
              <p:cNvSpPr/>
              <p:nvPr/>
            </p:nvSpPr>
            <p:spPr>
              <a:xfrm>
                <a:off x="5941057" y="524758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endParaRPr lang="vi-VN" dirty="0"/>
              </a:p>
            </p:txBody>
          </p:sp>
          <p:sp>
            <p:nvSpPr>
              <p:cNvPr id="41" name="Oval 40">
                <a:extLst>
                  <a:ext uri="{FF2B5EF4-FFF2-40B4-BE49-F238E27FC236}">
                    <a16:creationId xmlns:a16="http://schemas.microsoft.com/office/drawing/2014/main" id="{5D7340E1-F472-9F49-DFC3-D278B42723DD}"/>
                  </a:ext>
                </a:extLst>
              </p:cNvPr>
              <p:cNvSpPr/>
              <p:nvPr/>
            </p:nvSpPr>
            <p:spPr>
              <a:xfrm>
                <a:off x="6942563" y="3595109"/>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endParaRPr lang="vi-VN" dirty="0"/>
              </a:p>
            </p:txBody>
          </p:sp>
        </p:grpSp>
        <p:sp>
          <p:nvSpPr>
            <p:cNvPr id="56" name="Oval 55">
              <a:extLst>
                <a:ext uri="{FF2B5EF4-FFF2-40B4-BE49-F238E27FC236}">
                  <a16:creationId xmlns:a16="http://schemas.microsoft.com/office/drawing/2014/main" id="{CCE34DCF-B563-9700-1B3A-557FBBD3C079}"/>
                </a:ext>
              </a:extLst>
            </p:cNvPr>
            <p:cNvSpPr/>
            <p:nvPr/>
          </p:nvSpPr>
          <p:spPr>
            <a:xfrm>
              <a:off x="7864065" y="2746831"/>
              <a:ext cx="2586685" cy="2586685"/>
            </a:xfrm>
            <a:prstGeom prst="ellipse">
              <a:avLst/>
            </a:prstGeom>
            <a:noFill/>
            <a:ln>
              <a:solidFill>
                <a:schemeClr val="tx1"/>
              </a:solidFill>
              <a:prstDash val="dash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vi-VN">
                <a:ln>
                  <a:solidFill>
                    <a:sysClr val="windowText" lastClr="000000"/>
                  </a:solidFill>
                </a:ln>
              </a:endParaRPr>
            </a:p>
          </p:txBody>
        </p:sp>
      </p:gr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CAAC8A1-C027-AEA5-3BFA-6A83761C0D70}"/>
                  </a:ext>
                </a:extLst>
              </p:cNvPr>
              <p:cNvGraphicFramePr>
                <a:graphicFrameLocks noGrp="1"/>
              </p:cNvGraphicFramePr>
              <p:nvPr>
                <p:extLst>
                  <p:ext uri="{D42A27DB-BD31-4B8C-83A1-F6EECF244321}">
                    <p14:modId xmlns:p14="http://schemas.microsoft.com/office/powerpoint/2010/main" val="941319541"/>
                  </p:ext>
                </p:extLst>
              </p:nvPr>
            </p:nvGraphicFramePr>
            <p:xfrm>
              <a:off x="1170034" y="3944380"/>
              <a:ext cx="4137560" cy="1478280"/>
            </p:xfrm>
            <a:graphic>
              <a:graphicData uri="http://schemas.openxmlformats.org/drawingml/2006/table">
                <a:tbl>
                  <a:tblPr firstRow="1" bandRow="1">
                    <a:tableStyleId>{2D5ABB26-0587-4C30-8999-92F81FD0307C}</a:tableStyleId>
                  </a:tblPr>
                  <a:tblGrid>
                    <a:gridCol w="591080">
                      <a:extLst>
                        <a:ext uri="{9D8B030D-6E8A-4147-A177-3AD203B41FA5}">
                          <a16:colId xmlns:a16="http://schemas.microsoft.com/office/drawing/2014/main" val="3947140429"/>
                        </a:ext>
                      </a:extLst>
                    </a:gridCol>
                    <a:gridCol w="591080">
                      <a:extLst>
                        <a:ext uri="{9D8B030D-6E8A-4147-A177-3AD203B41FA5}">
                          <a16:colId xmlns:a16="http://schemas.microsoft.com/office/drawing/2014/main" val="3876106707"/>
                        </a:ext>
                      </a:extLst>
                    </a:gridCol>
                    <a:gridCol w="591080">
                      <a:extLst>
                        <a:ext uri="{9D8B030D-6E8A-4147-A177-3AD203B41FA5}">
                          <a16:colId xmlns:a16="http://schemas.microsoft.com/office/drawing/2014/main" val="907767157"/>
                        </a:ext>
                      </a:extLst>
                    </a:gridCol>
                    <a:gridCol w="591080">
                      <a:extLst>
                        <a:ext uri="{9D8B030D-6E8A-4147-A177-3AD203B41FA5}">
                          <a16:colId xmlns:a16="http://schemas.microsoft.com/office/drawing/2014/main" val="1302630072"/>
                        </a:ext>
                      </a:extLst>
                    </a:gridCol>
                    <a:gridCol w="591080">
                      <a:extLst>
                        <a:ext uri="{9D8B030D-6E8A-4147-A177-3AD203B41FA5}">
                          <a16:colId xmlns:a16="http://schemas.microsoft.com/office/drawing/2014/main" val="1729250618"/>
                        </a:ext>
                      </a:extLst>
                    </a:gridCol>
                    <a:gridCol w="591080">
                      <a:extLst>
                        <a:ext uri="{9D8B030D-6E8A-4147-A177-3AD203B41FA5}">
                          <a16:colId xmlns:a16="http://schemas.microsoft.com/office/drawing/2014/main" val="1149448572"/>
                        </a:ext>
                      </a:extLst>
                    </a:gridCol>
                    <a:gridCol w="591080">
                      <a:extLst>
                        <a:ext uri="{9D8B030D-6E8A-4147-A177-3AD203B41FA5}">
                          <a16:colId xmlns:a16="http://schemas.microsoft.com/office/drawing/2014/main" val="1244269702"/>
                        </a:ext>
                      </a:extLst>
                    </a:gridCol>
                  </a:tblGrid>
                  <a:tr h="335414">
                    <a:tc>
                      <a:txBody>
                        <a:bodyPr/>
                        <a:lstStyle/>
                        <a:p>
                          <a:pPr algn="ctr"/>
                          <a:endParaRPr lang="vi-V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2139125"/>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vi-VN" sz="1800" i="1" smtClean="0">
                                        <a:latin typeface="Cambria Math" panose="02040503050406030204" pitchFamily="18" charset="0"/>
                                      </a:rPr>
                                    </m:ctrlPr>
                                  </m:sSubPr>
                                  <m:e>
                                    <m:r>
                                      <a:rPr lang="vi-VN" sz="1800" i="1">
                                        <a:latin typeface="Cambria Math" panose="02040503050406030204" pitchFamily="18" charset="0"/>
                                      </a:rPr>
                                      <m:t>𝜌</m:t>
                                    </m:r>
                                  </m:e>
                                  <m:sub>
                                    <m:r>
                                      <a:rPr lang="vi-VN" sz="1800" i="1">
                                        <a:latin typeface="Cambria Math" panose="02040503050406030204" pitchFamily="18" charset="0"/>
                                      </a:rPr>
                                      <m:t>𝑣</m:t>
                                    </m:r>
                                  </m:sub>
                                </m:sSub>
                              </m:oMath>
                            </m:oMathPara>
                          </a14:m>
                          <a:endParaRPr lang="vi-V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1237978"/>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vi-VN" sz="1800" i="1" dirty="0" smtClean="0">
                                        <a:latin typeface="Cambria Math" panose="02040503050406030204" pitchFamily="18" charset="0"/>
                                      </a:rPr>
                                    </m:ctrlPr>
                                  </m:sSubPr>
                                  <m:e>
                                    <m:r>
                                      <a:rPr lang="vi-VN" sz="1800" i="1">
                                        <a:latin typeface="Cambria Math" panose="02040503050406030204" pitchFamily="18" charset="0"/>
                                        <a:ea typeface="Cambria Math" panose="02040503050406030204" pitchFamily="18" charset="0"/>
                                      </a:rPr>
                                      <m:t>𝛿</m:t>
                                    </m:r>
                                  </m:e>
                                  <m:sub>
                                    <m:r>
                                      <a:rPr lang="vi-VN" sz="1800" i="1" dirty="0">
                                        <a:latin typeface="Cambria Math" panose="02040503050406030204" pitchFamily="18" charset="0"/>
                                      </a:rPr>
                                      <m:t>𝑣</m:t>
                                    </m:r>
                                  </m:sub>
                                </m:sSub>
                              </m:oMath>
                            </m:oMathPara>
                          </a14:m>
                          <a:endParaRPr lang="vi-V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892534"/>
                      </a:ext>
                    </a:extLst>
                  </a:tr>
                  <a:tr h="370840">
                    <a:tc>
                      <a:txBody>
                        <a:bodyPr/>
                        <a:lstStyle/>
                        <a:p>
                          <a:pPr algn="ctr"/>
                          <a14:m>
                            <m:oMathPara xmlns:m="http://schemas.openxmlformats.org/officeDocument/2006/math">
                              <m:oMathParaPr>
                                <m:jc m:val="centerGroup"/>
                              </m:oMathParaPr>
                              <m:oMath xmlns:m="http://schemas.openxmlformats.org/officeDocument/2006/math">
                                <m:r>
                                  <a:rPr lang="vi-VN" sz="1800" i="1" dirty="0" smtClean="0">
                                    <a:latin typeface="Cambria Math" panose="02040503050406030204" pitchFamily="18" charset="0"/>
                                  </a:rPr>
                                  <m:t>𝛾</m:t>
                                </m:r>
                              </m:oMath>
                            </m:oMathPara>
                          </a14:m>
                          <a:endParaRPr lang="vi-V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0650143"/>
                      </a:ext>
                    </a:extLst>
                  </a:tr>
                </a:tbl>
              </a:graphicData>
            </a:graphic>
          </p:graphicFrame>
        </mc:Choice>
        <mc:Fallback xmlns="">
          <p:graphicFrame>
            <p:nvGraphicFramePr>
              <p:cNvPr id="2" name="Table 1">
                <a:extLst>
                  <a:ext uri="{FF2B5EF4-FFF2-40B4-BE49-F238E27FC236}">
                    <a16:creationId xmlns:a16="http://schemas.microsoft.com/office/drawing/2014/main" id="{3CAAC8A1-C027-AEA5-3BFA-6A83761C0D70}"/>
                  </a:ext>
                </a:extLst>
              </p:cNvPr>
              <p:cNvGraphicFramePr>
                <a:graphicFrameLocks noGrp="1"/>
              </p:cNvGraphicFramePr>
              <p:nvPr>
                <p:extLst>
                  <p:ext uri="{D42A27DB-BD31-4B8C-83A1-F6EECF244321}">
                    <p14:modId xmlns:p14="http://schemas.microsoft.com/office/powerpoint/2010/main" val="941319541"/>
                  </p:ext>
                </p:extLst>
              </p:nvPr>
            </p:nvGraphicFramePr>
            <p:xfrm>
              <a:off x="1170034" y="3944380"/>
              <a:ext cx="4137560" cy="1478280"/>
            </p:xfrm>
            <a:graphic>
              <a:graphicData uri="http://schemas.openxmlformats.org/drawingml/2006/table">
                <a:tbl>
                  <a:tblPr firstRow="1" bandRow="1">
                    <a:tableStyleId>{2D5ABB26-0587-4C30-8999-92F81FD0307C}</a:tableStyleId>
                  </a:tblPr>
                  <a:tblGrid>
                    <a:gridCol w="591080">
                      <a:extLst>
                        <a:ext uri="{9D8B030D-6E8A-4147-A177-3AD203B41FA5}">
                          <a16:colId xmlns:a16="http://schemas.microsoft.com/office/drawing/2014/main" val="3947140429"/>
                        </a:ext>
                      </a:extLst>
                    </a:gridCol>
                    <a:gridCol w="591080">
                      <a:extLst>
                        <a:ext uri="{9D8B030D-6E8A-4147-A177-3AD203B41FA5}">
                          <a16:colId xmlns:a16="http://schemas.microsoft.com/office/drawing/2014/main" val="3876106707"/>
                        </a:ext>
                      </a:extLst>
                    </a:gridCol>
                    <a:gridCol w="591080">
                      <a:extLst>
                        <a:ext uri="{9D8B030D-6E8A-4147-A177-3AD203B41FA5}">
                          <a16:colId xmlns:a16="http://schemas.microsoft.com/office/drawing/2014/main" val="907767157"/>
                        </a:ext>
                      </a:extLst>
                    </a:gridCol>
                    <a:gridCol w="591080">
                      <a:extLst>
                        <a:ext uri="{9D8B030D-6E8A-4147-A177-3AD203B41FA5}">
                          <a16:colId xmlns:a16="http://schemas.microsoft.com/office/drawing/2014/main" val="1302630072"/>
                        </a:ext>
                      </a:extLst>
                    </a:gridCol>
                    <a:gridCol w="591080">
                      <a:extLst>
                        <a:ext uri="{9D8B030D-6E8A-4147-A177-3AD203B41FA5}">
                          <a16:colId xmlns:a16="http://schemas.microsoft.com/office/drawing/2014/main" val="1729250618"/>
                        </a:ext>
                      </a:extLst>
                    </a:gridCol>
                    <a:gridCol w="591080">
                      <a:extLst>
                        <a:ext uri="{9D8B030D-6E8A-4147-A177-3AD203B41FA5}">
                          <a16:colId xmlns:a16="http://schemas.microsoft.com/office/drawing/2014/main" val="1149448572"/>
                        </a:ext>
                      </a:extLst>
                    </a:gridCol>
                    <a:gridCol w="591080">
                      <a:extLst>
                        <a:ext uri="{9D8B030D-6E8A-4147-A177-3AD203B41FA5}">
                          <a16:colId xmlns:a16="http://schemas.microsoft.com/office/drawing/2014/main" val="1244269702"/>
                        </a:ext>
                      </a:extLst>
                    </a:gridCol>
                  </a:tblGrid>
                  <a:tr h="365760">
                    <a:tc>
                      <a:txBody>
                        <a:bodyPr/>
                        <a:lstStyle/>
                        <a:p>
                          <a:pPr algn="ctr"/>
                          <a:endParaRPr lang="vi-V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2139125"/>
                      </a:ext>
                    </a:extLst>
                  </a:tr>
                  <a:tr h="370840">
                    <a:tc>
                      <a:txBody>
                        <a:bodyPr/>
                        <a:lstStyle/>
                        <a:p>
                          <a:endParaRPr lang="vi-V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31" t="-106557" r="-603093" b="-224590"/>
                          </a:stretch>
                        </a:blipFill>
                      </a:tcPr>
                    </a:tc>
                    <a:tc>
                      <a:txBody>
                        <a:bodyPr/>
                        <a:lstStyle/>
                        <a:p>
                          <a:pPr algn="ctr"/>
                          <a:r>
                            <a:rPr lang="vi-VN"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1237978"/>
                      </a:ext>
                    </a:extLst>
                  </a:tr>
                  <a:tr h="370840">
                    <a:tc>
                      <a:txBody>
                        <a:bodyPr/>
                        <a:lstStyle/>
                        <a:p>
                          <a:endParaRPr lang="vi-V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31" t="-206557" r="-603093" b="-124590"/>
                          </a:stretch>
                        </a:blipFill>
                      </a:tcPr>
                    </a:tc>
                    <a:tc>
                      <a:txBody>
                        <a:bodyPr/>
                        <a:lstStyle/>
                        <a:p>
                          <a:pPr algn="ctr"/>
                          <a:r>
                            <a:rPr lang="vi-VN" dirty="0"/>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892534"/>
                      </a:ext>
                    </a:extLst>
                  </a:tr>
                  <a:tr h="370840">
                    <a:tc>
                      <a:txBody>
                        <a:bodyPr/>
                        <a:lstStyle/>
                        <a:p>
                          <a:endParaRPr lang="vi-V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31" t="-306557" r="-603093" b="-24590"/>
                          </a:stretch>
                        </a:blipFill>
                      </a:tcPr>
                    </a:tc>
                    <a:tc>
                      <a:txBody>
                        <a:bodyPr/>
                        <a:lstStyle/>
                        <a:p>
                          <a:pPr algn="ctr"/>
                          <a:r>
                            <a:rPr lang="vi-VN" dirty="0"/>
                            <a:t>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vi-VN"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0650143"/>
                      </a:ext>
                    </a:extLst>
                  </a:tr>
                </a:tbl>
              </a:graphicData>
            </a:graphic>
          </p:graphicFrame>
        </mc:Fallback>
      </mc:AlternateContent>
    </p:spTree>
    <p:extLst>
      <p:ext uri="{BB962C8B-B14F-4D97-AF65-F5344CB8AC3E}">
        <p14:creationId xmlns:p14="http://schemas.microsoft.com/office/powerpoint/2010/main" val="3083578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3B796-F3D1-7549-8F96-C765EE03326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DB332E3-4D93-2A54-3715-99F768F70342}"/>
              </a:ext>
            </a:extLst>
          </p:cNvPr>
          <p:cNvSpPr>
            <a:spLocks noGrp="1"/>
          </p:cNvSpPr>
          <p:nvPr>
            <p:ph type="title"/>
          </p:nvPr>
        </p:nvSpPr>
        <p:spPr/>
        <p:txBody>
          <a:bodyPr/>
          <a:lstStyle/>
          <a:p>
            <a:r>
              <a:rPr lang="vi-VN" dirty="0"/>
              <a:t>3. Minh họa</a:t>
            </a:r>
          </a:p>
        </p:txBody>
      </p:sp>
      <p:sp>
        <p:nvSpPr>
          <p:cNvPr id="12" name="Content Placeholder 11">
            <a:extLst>
              <a:ext uri="{FF2B5EF4-FFF2-40B4-BE49-F238E27FC236}">
                <a16:creationId xmlns:a16="http://schemas.microsoft.com/office/drawing/2014/main" id="{AEA53A9B-FB95-443F-4F3F-5D33AF72941A}"/>
              </a:ext>
            </a:extLst>
          </p:cNvPr>
          <p:cNvSpPr>
            <a:spLocks noGrp="1"/>
          </p:cNvSpPr>
          <p:nvPr>
            <p:ph idx="1"/>
          </p:nvPr>
        </p:nvSpPr>
        <p:spPr>
          <a:xfrm>
            <a:off x="581193" y="2340864"/>
            <a:ext cx="5514808" cy="3634486"/>
          </a:xfrm>
        </p:spPr>
        <p:txBody>
          <a:bodyPr anchor="t"/>
          <a:lstStyle/>
          <a:p>
            <a:pPr marL="0" indent="0">
              <a:buNone/>
            </a:pPr>
            <a:r>
              <a:rPr lang="vi-VN" b="1" dirty="0"/>
              <a:t>Bước 3: Phân cụm.</a:t>
            </a:r>
          </a:p>
          <a:p>
            <a:pPr marL="342900" indent="-342900">
              <a:buAutoNum type="arabicPeriod"/>
            </a:pPr>
            <a:r>
              <a:rPr lang="vi-VN" dirty="0"/>
              <a:t>Tạo một nút nguồn giả (s) (không thuộc dữ liệu).</a:t>
            </a:r>
          </a:p>
          <a:p>
            <a:pPr marL="342900" indent="-342900">
              <a:buAutoNum type="arabicPeriod"/>
            </a:pPr>
            <a:r>
              <a:rPr lang="vi-VN" dirty="0"/>
              <a:t>Kết nối (s) tới tất cả các Đỉnh mật độ vừa tìm được.</a:t>
            </a:r>
          </a:p>
          <a:p>
            <a:pPr marL="342900" indent="-342900">
              <a:buAutoNum type="arabicPeriod"/>
            </a:pPr>
            <a:r>
              <a:rPr lang="vi-VN" dirty="0"/>
              <a:t>Tìm đường đi tốn ít chi phí nhất từ các con đường: </a:t>
            </a:r>
          </a:p>
          <a:p>
            <a:pPr marL="324000" lvl="1" indent="0" algn="ctr">
              <a:buNone/>
            </a:pPr>
            <a:r>
              <a:rPr lang="vi-VN" sz="1600" dirty="0"/>
              <a:t>Nguồn ảo (s) – Đỉnh (P) – Điểm (x)</a:t>
            </a:r>
          </a:p>
          <a:p>
            <a:pPr marL="0" indent="0">
              <a:buNone/>
            </a:pPr>
            <a:endParaRPr lang="vi-VN" b="1" dirty="0"/>
          </a:p>
          <a:p>
            <a:pPr marL="0" indent="0">
              <a:buNone/>
            </a:pPr>
            <a:endParaRPr lang="vi-VN" b="1" baseline="-25000" dirty="0"/>
          </a:p>
        </p:txBody>
      </p:sp>
      <p:sp>
        <p:nvSpPr>
          <p:cNvPr id="6" name="Oval 5">
            <a:extLst>
              <a:ext uri="{FF2B5EF4-FFF2-40B4-BE49-F238E27FC236}">
                <a16:creationId xmlns:a16="http://schemas.microsoft.com/office/drawing/2014/main" id="{3C7F4E91-9808-85C3-41E8-BE94C08EB797}"/>
              </a:ext>
            </a:extLst>
          </p:cNvPr>
          <p:cNvSpPr/>
          <p:nvPr/>
        </p:nvSpPr>
        <p:spPr>
          <a:xfrm>
            <a:off x="7549988" y="2835670"/>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endParaRPr lang="vi-VN" dirty="0"/>
          </a:p>
        </p:txBody>
      </p:sp>
      <p:sp>
        <p:nvSpPr>
          <p:cNvPr id="10" name="Oval 9">
            <a:extLst>
              <a:ext uri="{FF2B5EF4-FFF2-40B4-BE49-F238E27FC236}">
                <a16:creationId xmlns:a16="http://schemas.microsoft.com/office/drawing/2014/main" id="{F65CD7CA-01E4-C3E6-BB90-6A699B79E7AF}"/>
              </a:ext>
            </a:extLst>
          </p:cNvPr>
          <p:cNvSpPr/>
          <p:nvPr/>
        </p:nvSpPr>
        <p:spPr>
          <a:xfrm>
            <a:off x="6886600" y="4282432"/>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endParaRPr lang="vi-VN" dirty="0"/>
          </a:p>
        </p:txBody>
      </p:sp>
      <p:sp>
        <p:nvSpPr>
          <p:cNvPr id="11" name="Oval 10">
            <a:extLst>
              <a:ext uri="{FF2B5EF4-FFF2-40B4-BE49-F238E27FC236}">
                <a16:creationId xmlns:a16="http://schemas.microsoft.com/office/drawing/2014/main" id="{82EF4D0C-AFC7-8AAE-74C3-86A7FAC7872E}"/>
              </a:ext>
            </a:extLst>
          </p:cNvPr>
          <p:cNvSpPr/>
          <p:nvPr/>
        </p:nvSpPr>
        <p:spPr>
          <a:xfrm>
            <a:off x="9387751" y="2539949"/>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endParaRPr lang="vi-VN" dirty="0"/>
          </a:p>
        </p:txBody>
      </p:sp>
      <p:sp>
        <p:nvSpPr>
          <p:cNvPr id="14" name="Oval 13">
            <a:extLst>
              <a:ext uri="{FF2B5EF4-FFF2-40B4-BE49-F238E27FC236}">
                <a16:creationId xmlns:a16="http://schemas.microsoft.com/office/drawing/2014/main" id="{43BE8D50-D67E-7A1E-BEDE-BBBE5348CDE4}"/>
              </a:ext>
            </a:extLst>
          </p:cNvPr>
          <p:cNvSpPr/>
          <p:nvPr/>
        </p:nvSpPr>
        <p:spPr>
          <a:xfrm>
            <a:off x="8839447" y="3746580"/>
            <a:ext cx="663388" cy="663388"/>
          </a:xfrm>
          <a:prstGeom prst="ellipse">
            <a:avLst/>
          </a:prstGeom>
          <a:solidFill>
            <a:schemeClr val="bg1">
              <a:lumMod val="85000"/>
            </a:schemeClr>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endParaRPr lang="vi-VN" dirty="0"/>
          </a:p>
        </p:txBody>
      </p:sp>
      <p:sp>
        <p:nvSpPr>
          <p:cNvPr id="15" name="Oval 14">
            <a:extLst>
              <a:ext uri="{FF2B5EF4-FFF2-40B4-BE49-F238E27FC236}">
                <a16:creationId xmlns:a16="http://schemas.microsoft.com/office/drawing/2014/main" id="{67FCEC4A-CA28-110E-402E-24C22BE482AE}"/>
              </a:ext>
            </a:extLst>
          </p:cNvPr>
          <p:cNvSpPr/>
          <p:nvPr/>
        </p:nvSpPr>
        <p:spPr>
          <a:xfrm>
            <a:off x="9725869" y="5160762"/>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endParaRPr lang="vi-VN" dirty="0"/>
          </a:p>
        </p:txBody>
      </p:sp>
      <p:sp>
        <p:nvSpPr>
          <p:cNvPr id="16" name="Oval 15">
            <a:extLst>
              <a:ext uri="{FF2B5EF4-FFF2-40B4-BE49-F238E27FC236}">
                <a16:creationId xmlns:a16="http://schemas.microsoft.com/office/drawing/2014/main" id="{D5647AA7-4534-A6EF-9F4F-6E56AC1C945B}"/>
              </a:ext>
            </a:extLst>
          </p:cNvPr>
          <p:cNvSpPr/>
          <p:nvPr/>
        </p:nvSpPr>
        <p:spPr>
          <a:xfrm>
            <a:off x="10727375" y="3508285"/>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endParaRPr lang="vi-VN" dirty="0"/>
          </a:p>
        </p:txBody>
      </p:sp>
      <p:sp>
        <p:nvSpPr>
          <p:cNvPr id="17" name="Oval 16">
            <a:extLst>
              <a:ext uri="{FF2B5EF4-FFF2-40B4-BE49-F238E27FC236}">
                <a16:creationId xmlns:a16="http://schemas.microsoft.com/office/drawing/2014/main" id="{9A27BE66-119B-D59A-BF91-8EAD73BCBB4C}"/>
              </a:ext>
            </a:extLst>
          </p:cNvPr>
          <p:cNvSpPr/>
          <p:nvPr/>
        </p:nvSpPr>
        <p:spPr>
          <a:xfrm>
            <a:off x="7881682" y="5566797"/>
            <a:ext cx="525020" cy="51470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a:t>
            </a:r>
            <a:endParaRPr lang="vi-VN" dirty="0"/>
          </a:p>
        </p:txBody>
      </p:sp>
      <p:cxnSp>
        <p:nvCxnSpPr>
          <p:cNvPr id="19" name="Straight Connector 18">
            <a:extLst>
              <a:ext uri="{FF2B5EF4-FFF2-40B4-BE49-F238E27FC236}">
                <a16:creationId xmlns:a16="http://schemas.microsoft.com/office/drawing/2014/main" id="{9BF0FE1E-7F4C-009C-28E5-398E78CD0B8A}"/>
              </a:ext>
            </a:extLst>
          </p:cNvPr>
          <p:cNvCxnSpPr>
            <a:cxnSpLocks/>
            <a:stCxn id="17" idx="7"/>
            <a:endCxn id="14" idx="3"/>
          </p:cNvCxnSpPr>
          <p:nvPr/>
        </p:nvCxnSpPr>
        <p:spPr>
          <a:xfrm flipV="1">
            <a:off x="8329815" y="4312817"/>
            <a:ext cx="606783" cy="1329357"/>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Straight Connector 23">
            <a:extLst>
              <a:ext uri="{FF2B5EF4-FFF2-40B4-BE49-F238E27FC236}">
                <a16:creationId xmlns:a16="http://schemas.microsoft.com/office/drawing/2014/main" id="{B201DC62-68C2-10E5-2117-436D9168C4A4}"/>
              </a:ext>
            </a:extLst>
          </p:cNvPr>
          <p:cNvCxnSpPr>
            <a:cxnSpLocks/>
            <a:stCxn id="6" idx="5"/>
            <a:endCxn id="14" idx="1"/>
          </p:cNvCxnSpPr>
          <p:nvPr/>
        </p:nvCxnSpPr>
        <p:spPr>
          <a:xfrm>
            <a:off x="8116225" y="3401907"/>
            <a:ext cx="820373" cy="441824"/>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582515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9AD8F-2F4F-9204-BDCC-20DCD71C5E8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0C40E4F-7FFD-AE04-C7B6-AB6034BEE1E2}"/>
              </a:ext>
            </a:extLst>
          </p:cNvPr>
          <p:cNvSpPr>
            <a:spLocks noGrp="1"/>
          </p:cNvSpPr>
          <p:nvPr>
            <p:ph type="title"/>
          </p:nvPr>
        </p:nvSpPr>
        <p:spPr/>
        <p:txBody>
          <a:bodyPr/>
          <a:lstStyle/>
          <a:p>
            <a:r>
              <a:rPr lang="vi-VN" dirty="0"/>
              <a:t>3. Minh họa</a:t>
            </a:r>
          </a:p>
        </p:txBody>
      </p:sp>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BD2F7994-3E53-2D82-7FFD-40B77F44191D}"/>
                  </a:ext>
                </a:extLst>
              </p:cNvPr>
              <p:cNvSpPr>
                <a:spLocks noGrp="1"/>
              </p:cNvSpPr>
              <p:nvPr>
                <p:ph idx="1"/>
              </p:nvPr>
            </p:nvSpPr>
            <p:spPr>
              <a:xfrm>
                <a:off x="581193" y="2340864"/>
                <a:ext cx="5514808" cy="3634486"/>
              </a:xfrm>
            </p:spPr>
            <p:txBody>
              <a:bodyPr anchor="t">
                <a:normAutofit/>
              </a:bodyPr>
              <a:lstStyle/>
              <a:p>
                <a:pPr marL="0" indent="0">
                  <a:buNone/>
                </a:pPr>
                <a:r>
                  <a:rPr lang="vi-VN" b="1" dirty="0"/>
                  <a:t>Bước 3: Phân cụm.</a:t>
                </a:r>
              </a:p>
              <a:p>
                <a:pPr marL="342900" indent="-342900">
                  <a:buAutoNum type="arabicPeriod"/>
                </a:pPr>
                <a:r>
                  <a:rPr lang="vi-VN" dirty="0"/>
                  <a:t>Tạo một nút nguồn giả (s) (không thuộc dữ liệu).</a:t>
                </a:r>
              </a:p>
              <a:p>
                <a:pPr marL="342900" indent="-342900">
                  <a:buAutoNum type="arabicPeriod"/>
                </a:pPr>
                <a:r>
                  <a:rPr lang="vi-VN" dirty="0"/>
                  <a:t>Kết nối (s) tới tất cả các Đỉnh mật độ vừa tìm được.</a:t>
                </a:r>
              </a:p>
              <a:p>
                <a:pPr marL="342900" indent="-342900">
                  <a:buAutoNum type="arabicPeriod"/>
                </a:pPr>
                <a:r>
                  <a:rPr lang="vi-VN" dirty="0"/>
                  <a:t>Tìm đường đi tốn ít chi phí nhất từ các con đường: </a:t>
                </a:r>
              </a:p>
              <a:p>
                <a:pPr marL="324000" lvl="1" indent="0" algn="ctr">
                  <a:buNone/>
                </a:pPr>
                <a:r>
                  <a:rPr lang="vi-VN" sz="1600" dirty="0"/>
                  <a:t>Nguồn ảo (s) – Đỉnh (P) – Điểm (x)</a:t>
                </a:r>
                <a:endParaRPr lang="vi-VN" dirty="0"/>
              </a:p>
              <a:p>
                <a:pPr marL="0" indent="0">
                  <a:buNone/>
                </a:pPr>
                <a:r>
                  <a:rPr lang="vi-VN" dirty="0"/>
                  <a:t>Giả sử: </a:t>
                </a:r>
              </a:p>
              <a:p>
                <a:pPr marL="0" indent="0">
                  <a:buNone/>
                </a:pPr>
                <a:r>
                  <a:rPr lang="vi-VN" dirty="0"/>
                  <a:t>Ta có hai đỉnh </a:t>
                </a:r>
                <a14:m>
                  <m:oMath xmlns:m="http://schemas.openxmlformats.org/officeDocument/2006/math">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𝑃</m:t>
                        </m:r>
                      </m:e>
                      <m:sub>
                        <m:r>
                          <a:rPr lang="vi-VN" i="1" dirty="0" smtClean="0">
                            <a:latin typeface="Cambria Math" panose="02040503050406030204" pitchFamily="18" charset="0"/>
                          </a:rPr>
                          <m:t>1</m:t>
                        </m:r>
                      </m:sub>
                    </m:sSub>
                  </m:oMath>
                </a14:m>
                <a:r>
                  <a:rPr lang="vi-VN" dirty="0"/>
                  <a:t>, </a:t>
                </a:r>
                <a14:m>
                  <m:oMath xmlns:m="http://schemas.openxmlformats.org/officeDocument/2006/math">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𝑃</m:t>
                        </m:r>
                      </m:e>
                      <m:sub>
                        <m:r>
                          <a:rPr lang="vi-VN" i="1" dirty="0" smtClean="0">
                            <a:latin typeface="Cambria Math" panose="02040503050406030204" pitchFamily="18" charset="0"/>
                          </a:rPr>
                          <m:t>2</m:t>
                        </m:r>
                      </m:sub>
                    </m:sSub>
                  </m:oMath>
                </a14:m>
                <a:r>
                  <a:rPr lang="vi-VN" dirty="0"/>
                  <a:t> và các điểm A, B, C, D, E đã được phân cụm, điểm F chưa được phân cụm.</a:t>
                </a:r>
              </a:p>
              <a:p>
                <a:pPr marL="0" indent="0">
                  <a:buNone/>
                </a:pPr>
                <a:endParaRPr lang="vi-VN" b="1" dirty="0"/>
              </a:p>
              <a:p>
                <a:pPr marL="0" indent="0">
                  <a:buNone/>
                </a:pPr>
                <a:endParaRPr lang="vi-VN" b="1" baseline="-25000" dirty="0"/>
              </a:p>
            </p:txBody>
          </p:sp>
        </mc:Choice>
        <mc:Fallback xmlns="">
          <p:sp>
            <p:nvSpPr>
              <p:cNvPr id="12" name="Content Placeholder 11">
                <a:extLst>
                  <a:ext uri="{FF2B5EF4-FFF2-40B4-BE49-F238E27FC236}">
                    <a16:creationId xmlns:a16="http://schemas.microsoft.com/office/drawing/2014/main" id="{BD2F7994-3E53-2D82-7FFD-40B77F44191D}"/>
                  </a:ext>
                </a:extLst>
              </p:cNvPr>
              <p:cNvSpPr>
                <a:spLocks noGrp="1" noRot="1" noChangeAspect="1" noMove="1" noResize="1" noEditPoints="1" noAdjustHandles="1" noChangeArrowheads="1" noChangeShapeType="1" noTextEdit="1"/>
              </p:cNvSpPr>
              <p:nvPr>
                <p:ph idx="1"/>
              </p:nvPr>
            </p:nvSpPr>
            <p:spPr>
              <a:xfrm>
                <a:off x="581193" y="2340864"/>
                <a:ext cx="5514808" cy="3634486"/>
              </a:xfrm>
              <a:blipFill>
                <a:blip r:embed="rId2"/>
                <a:stretch>
                  <a:fillRect l="-773" t="-33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EF8BCFA-E26B-4092-76EE-3C142958A505}"/>
                  </a:ext>
                </a:extLst>
              </p:cNvPr>
              <p:cNvSpPr txBox="1"/>
              <p:nvPr/>
            </p:nvSpPr>
            <p:spPr>
              <a:xfrm>
                <a:off x="10757760" y="5275919"/>
                <a:ext cx="51845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vi-VN" dirty="0">
                          <a:latin typeface="Cambria Math" panose="02040503050406030204" pitchFamily="18" charset="0"/>
                        </a:rPr>
                        <m:t>Γ</m:t>
                      </m:r>
                    </m:oMath>
                  </m:oMathPara>
                </a14:m>
                <a:endParaRPr lang="vi-VN" dirty="0"/>
              </a:p>
            </p:txBody>
          </p:sp>
        </mc:Choice>
        <mc:Fallback xmlns="">
          <p:sp>
            <p:nvSpPr>
              <p:cNvPr id="31" name="TextBox 30">
                <a:extLst>
                  <a:ext uri="{FF2B5EF4-FFF2-40B4-BE49-F238E27FC236}">
                    <a16:creationId xmlns:a16="http://schemas.microsoft.com/office/drawing/2014/main" id="{AEF8BCFA-E26B-4092-76EE-3C142958A505}"/>
                  </a:ext>
                </a:extLst>
              </p:cNvPr>
              <p:cNvSpPr txBox="1">
                <a:spLocks noRot="1" noChangeAspect="1" noMove="1" noResize="1" noEditPoints="1" noAdjustHandles="1" noChangeArrowheads="1" noChangeShapeType="1" noTextEdit="1"/>
              </p:cNvSpPr>
              <p:nvPr/>
            </p:nvSpPr>
            <p:spPr>
              <a:xfrm>
                <a:off x="10757760" y="5275919"/>
                <a:ext cx="518453" cy="369332"/>
              </a:xfrm>
              <a:prstGeom prst="rect">
                <a:avLst/>
              </a:prstGeom>
              <a:blipFill>
                <a:blip r:embed="rId3"/>
                <a:stretch>
                  <a:fillRect/>
                </a:stretch>
              </a:blipFill>
            </p:spPr>
            <p:txBody>
              <a:bodyPr/>
              <a:lstStyle/>
              <a:p>
                <a:r>
                  <a:rPr lang="vi-VN">
                    <a:noFill/>
                  </a:rPr>
                  <a:t> </a:t>
                </a:r>
              </a:p>
            </p:txBody>
          </p:sp>
        </mc:Fallback>
      </mc:AlternateContent>
      <p:sp>
        <p:nvSpPr>
          <p:cNvPr id="37" name="Oval 36">
            <a:extLst>
              <a:ext uri="{FF2B5EF4-FFF2-40B4-BE49-F238E27FC236}">
                <a16:creationId xmlns:a16="http://schemas.microsoft.com/office/drawing/2014/main" id="{0BE1AFC0-E293-9D02-4F42-DEF1FEF17DE5}"/>
              </a:ext>
            </a:extLst>
          </p:cNvPr>
          <p:cNvSpPr/>
          <p:nvPr/>
        </p:nvSpPr>
        <p:spPr>
          <a:xfrm>
            <a:off x="9901616" y="3429000"/>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endParaRPr lang="vi-VN" dirty="0"/>
          </a:p>
        </p:txBody>
      </p:sp>
      <mc:AlternateContent xmlns:mc="http://schemas.openxmlformats.org/markup-compatibility/2006" xmlns:a14="http://schemas.microsoft.com/office/drawing/2010/main">
        <mc:Choice Requires="a14">
          <p:sp>
            <p:nvSpPr>
              <p:cNvPr id="39" name="Oval 38">
                <a:extLst>
                  <a:ext uri="{FF2B5EF4-FFF2-40B4-BE49-F238E27FC236}">
                    <a16:creationId xmlns:a16="http://schemas.microsoft.com/office/drawing/2014/main" id="{2E995824-4175-A7C2-9495-AEFE5AB63B95}"/>
                  </a:ext>
                </a:extLst>
              </p:cNvPr>
              <p:cNvSpPr/>
              <p:nvPr/>
            </p:nvSpPr>
            <p:spPr>
              <a:xfrm>
                <a:off x="10992135" y="4282432"/>
                <a:ext cx="663388" cy="663388"/>
              </a:xfrm>
              <a:prstGeom prst="ellipse">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vi-VN" i="1" dirty="0">
                              <a:latin typeface="Cambria Math" panose="02040503050406030204" pitchFamily="18" charset="0"/>
                            </a:rPr>
                          </m:ctrlPr>
                        </m:sSubPr>
                        <m:e>
                          <m:r>
                            <a:rPr lang="vi-VN" i="1" dirty="0">
                              <a:latin typeface="Cambria Math" panose="02040503050406030204" pitchFamily="18" charset="0"/>
                            </a:rPr>
                            <m:t>𝑃</m:t>
                          </m:r>
                        </m:e>
                        <m:sub>
                          <m:r>
                            <a:rPr lang="vi-VN" i="1" dirty="0">
                              <a:latin typeface="Cambria Math" panose="02040503050406030204" pitchFamily="18" charset="0"/>
                            </a:rPr>
                            <m:t>2</m:t>
                          </m:r>
                        </m:sub>
                      </m:sSub>
                    </m:oMath>
                  </m:oMathPara>
                </a14:m>
                <a:endParaRPr lang="vi-VN" dirty="0"/>
              </a:p>
            </p:txBody>
          </p:sp>
        </mc:Choice>
        <mc:Fallback xmlns="">
          <p:sp>
            <p:nvSpPr>
              <p:cNvPr id="39" name="Oval 38">
                <a:extLst>
                  <a:ext uri="{FF2B5EF4-FFF2-40B4-BE49-F238E27FC236}">
                    <a16:creationId xmlns:a16="http://schemas.microsoft.com/office/drawing/2014/main" id="{2E995824-4175-A7C2-9495-AEFE5AB63B95}"/>
                  </a:ext>
                </a:extLst>
              </p:cNvPr>
              <p:cNvSpPr>
                <a:spLocks noRot="1" noChangeAspect="1" noMove="1" noResize="1" noEditPoints="1" noAdjustHandles="1" noChangeArrowheads="1" noChangeShapeType="1" noTextEdit="1"/>
              </p:cNvSpPr>
              <p:nvPr/>
            </p:nvSpPr>
            <p:spPr>
              <a:xfrm>
                <a:off x="10992135" y="4282432"/>
                <a:ext cx="663388" cy="663388"/>
              </a:xfrm>
              <a:prstGeom prst="ellipse">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0" name="Oval 39">
                <a:extLst>
                  <a:ext uri="{FF2B5EF4-FFF2-40B4-BE49-F238E27FC236}">
                    <a16:creationId xmlns:a16="http://schemas.microsoft.com/office/drawing/2014/main" id="{62A4E8E3-E77C-DDE3-CC4D-38C7D4CF924D}"/>
                  </a:ext>
                </a:extLst>
              </p:cNvPr>
              <p:cNvSpPr/>
              <p:nvPr/>
            </p:nvSpPr>
            <p:spPr>
              <a:xfrm>
                <a:off x="7924266" y="4158107"/>
                <a:ext cx="663388" cy="663388"/>
              </a:xfrm>
              <a:prstGeom prst="ellipse">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vi-VN" i="1" dirty="0">
                              <a:latin typeface="Cambria Math" panose="02040503050406030204" pitchFamily="18" charset="0"/>
                            </a:rPr>
                          </m:ctrlPr>
                        </m:sSubPr>
                        <m:e>
                          <m:r>
                            <a:rPr lang="vi-VN" i="1" dirty="0">
                              <a:latin typeface="Cambria Math" panose="02040503050406030204" pitchFamily="18" charset="0"/>
                            </a:rPr>
                            <m:t>𝑃</m:t>
                          </m:r>
                        </m:e>
                        <m:sub>
                          <m:r>
                            <a:rPr lang="vi-VN" i="1" dirty="0">
                              <a:latin typeface="Cambria Math" panose="02040503050406030204" pitchFamily="18" charset="0"/>
                            </a:rPr>
                            <m:t>1</m:t>
                          </m:r>
                        </m:sub>
                      </m:sSub>
                    </m:oMath>
                  </m:oMathPara>
                </a14:m>
                <a:endParaRPr lang="vi-VN" dirty="0"/>
              </a:p>
            </p:txBody>
          </p:sp>
        </mc:Choice>
        <mc:Fallback xmlns="">
          <p:sp>
            <p:nvSpPr>
              <p:cNvPr id="40" name="Oval 39">
                <a:extLst>
                  <a:ext uri="{FF2B5EF4-FFF2-40B4-BE49-F238E27FC236}">
                    <a16:creationId xmlns:a16="http://schemas.microsoft.com/office/drawing/2014/main" id="{62A4E8E3-E77C-DDE3-CC4D-38C7D4CF924D}"/>
                  </a:ext>
                </a:extLst>
              </p:cNvPr>
              <p:cNvSpPr>
                <a:spLocks noRot="1" noChangeAspect="1" noMove="1" noResize="1" noEditPoints="1" noAdjustHandles="1" noChangeArrowheads="1" noChangeShapeType="1" noTextEdit="1"/>
              </p:cNvSpPr>
              <p:nvPr/>
            </p:nvSpPr>
            <p:spPr>
              <a:xfrm>
                <a:off x="7924266" y="4158107"/>
                <a:ext cx="663388" cy="663388"/>
              </a:xfrm>
              <a:prstGeom prst="ellipse">
                <a:avLst/>
              </a:prstGeom>
              <a:blipFill>
                <a:blip r:embed="rId5"/>
                <a:stretch>
                  <a:fillRect/>
                </a:stretch>
              </a:blipFill>
            </p:spPr>
            <p:txBody>
              <a:bodyPr/>
              <a:lstStyle/>
              <a:p>
                <a:r>
                  <a:rPr lang="vi-VN">
                    <a:noFill/>
                  </a:rPr>
                  <a:t> </a:t>
                </a:r>
              </a:p>
            </p:txBody>
          </p:sp>
        </mc:Fallback>
      </mc:AlternateContent>
      <p:sp>
        <p:nvSpPr>
          <p:cNvPr id="51" name="Oval 50">
            <a:extLst>
              <a:ext uri="{FF2B5EF4-FFF2-40B4-BE49-F238E27FC236}">
                <a16:creationId xmlns:a16="http://schemas.microsoft.com/office/drawing/2014/main" id="{D405DFDF-421A-396B-91CF-C110FC14FA7A}"/>
              </a:ext>
            </a:extLst>
          </p:cNvPr>
          <p:cNvSpPr/>
          <p:nvPr/>
        </p:nvSpPr>
        <p:spPr>
          <a:xfrm>
            <a:off x="9478688" y="5645251"/>
            <a:ext cx="509897" cy="50989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a:t>
            </a:r>
            <a:endParaRPr lang="vi-VN" dirty="0"/>
          </a:p>
        </p:txBody>
      </p:sp>
      <p:cxnSp>
        <p:nvCxnSpPr>
          <p:cNvPr id="52" name="Straight Connector 51">
            <a:extLst>
              <a:ext uri="{FF2B5EF4-FFF2-40B4-BE49-F238E27FC236}">
                <a16:creationId xmlns:a16="http://schemas.microsoft.com/office/drawing/2014/main" id="{B3EAA3E2-87FA-39B7-595E-4C7F9A3FF1A0}"/>
              </a:ext>
            </a:extLst>
          </p:cNvPr>
          <p:cNvCxnSpPr>
            <a:cxnSpLocks/>
            <a:stCxn id="39" idx="3"/>
            <a:endCxn id="51" idx="7"/>
          </p:cNvCxnSpPr>
          <p:nvPr/>
        </p:nvCxnSpPr>
        <p:spPr>
          <a:xfrm flipH="1">
            <a:off x="9913912" y="4848669"/>
            <a:ext cx="1175374" cy="87125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 name="Straight Connector 3">
            <a:extLst>
              <a:ext uri="{FF2B5EF4-FFF2-40B4-BE49-F238E27FC236}">
                <a16:creationId xmlns:a16="http://schemas.microsoft.com/office/drawing/2014/main" id="{B7F7BE7D-F6BE-1E2F-9313-60CE094C58D4}"/>
              </a:ext>
            </a:extLst>
          </p:cNvPr>
          <p:cNvCxnSpPr>
            <a:cxnSpLocks/>
            <a:stCxn id="51" idx="1"/>
            <a:endCxn id="40" idx="5"/>
          </p:cNvCxnSpPr>
          <p:nvPr/>
        </p:nvCxnSpPr>
        <p:spPr>
          <a:xfrm flipH="1" flipV="1">
            <a:off x="8490503" y="4724344"/>
            <a:ext cx="1062858" cy="99558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Oval 1">
            <a:extLst>
              <a:ext uri="{FF2B5EF4-FFF2-40B4-BE49-F238E27FC236}">
                <a16:creationId xmlns:a16="http://schemas.microsoft.com/office/drawing/2014/main" id="{A8A13345-E6C8-1C85-8DF3-0124A5D81891}"/>
              </a:ext>
            </a:extLst>
          </p:cNvPr>
          <p:cNvSpPr/>
          <p:nvPr/>
        </p:nvSpPr>
        <p:spPr>
          <a:xfrm>
            <a:off x="8050560" y="2575785"/>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endParaRPr lang="vi-VN" dirty="0"/>
          </a:p>
        </p:txBody>
      </p:sp>
      <p:sp>
        <p:nvSpPr>
          <p:cNvPr id="3" name="Oval 2">
            <a:extLst>
              <a:ext uri="{FF2B5EF4-FFF2-40B4-BE49-F238E27FC236}">
                <a16:creationId xmlns:a16="http://schemas.microsoft.com/office/drawing/2014/main" id="{F8E5F4BF-6530-16F4-DE34-FBB94E17C57D}"/>
              </a:ext>
            </a:extLst>
          </p:cNvPr>
          <p:cNvSpPr/>
          <p:nvPr/>
        </p:nvSpPr>
        <p:spPr>
          <a:xfrm>
            <a:off x="9310531" y="1430510"/>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endParaRPr lang="vi-VN" dirty="0"/>
          </a:p>
        </p:txBody>
      </p:sp>
      <p:sp>
        <p:nvSpPr>
          <p:cNvPr id="5" name="Oval 4">
            <a:extLst>
              <a:ext uri="{FF2B5EF4-FFF2-40B4-BE49-F238E27FC236}">
                <a16:creationId xmlns:a16="http://schemas.microsoft.com/office/drawing/2014/main" id="{70F5674F-F3C5-7E03-624F-575616FDDFE8}"/>
              </a:ext>
            </a:extLst>
          </p:cNvPr>
          <p:cNvSpPr/>
          <p:nvPr/>
        </p:nvSpPr>
        <p:spPr>
          <a:xfrm>
            <a:off x="9123974" y="253126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endParaRPr lang="vi-VN" dirty="0"/>
          </a:p>
        </p:txBody>
      </p:sp>
      <p:sp>
        <p:nvSpPr>
          <p:cNvPr id="6" name="Oval 5">
            <a:extLst>
              <a:ext uri="{FF2B5EF4-FFF2-40B4-BE49-F238E27FC236}">
                <a16:creationId xmlns:a16="http://schemas.microsoft.com/office/drawing/2014/main" id="{EBB742F7-4BC5-E8C4-84F7-62B917BDC6B3}"/>
              </a:ext>
            </a:extLst>
          </p:cNvPr>
          <p:cNvSpPr/>
          <p:nvPr/>
        </p:nvSpPr>
        <p:spPr>
          <a:xfrm>
            <a:off x="10565004" y="259986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endParaRPr lang="vi-VN" dirty="0"/>
          </a:p>
        </p:txBody>
      </p:sp>
      <p:sp>
        <p:nvSpPr>
          <p:cNvPr id="9" name="Oval 8">
            <a:extLst>
              <a:ext uri="{FF2B5EF4-FFF2-40B4-BE49-F238E27FC236}">
                <a16:creationId xmlns:a16="http://schemas.microsoft.com/office/drawing/2014/main" id="{6F8BD6BB-52A8-27DC-8B12-DE0DC575C4FB}"/>
              </a:ext>
            </a:extLst>
          </p:cNvPr>
          <p:cNvSpPr/>
          <p:nvPr/>
        </p:nvSpPr>
        <p:spPr>
          <a:xfrm>
            <a:off x="8855814" y="3561579"/>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endParaRPr lang="vi-VN" dirty="0"/>
          </a:p>
        </p:txBody>
      </p:sp>
      <p:cxnSp>
        <p:nvCxnSpPr>
          <p:cNvPr id="13" name="Straight Connector 12">
            <a:extLst>
              <a:ext uri="{FF2B5EF4-FFF2-40B4-BE49-F238E27FC236}">
                <a16:creationId xmlns:a16="http://schemas.microsoft.com/office/drawing/2014/main" id="{4EEE7209-5A5D-2B4D-D185-8FD6D216F824}"/>
              </a:ext>
            </a:extLst>
          </p:cNvPr>
          <p:cNvCxnSpPr>
            <a:cxnSpLocks/>
            <a:stCxn id="39" idx="1"/>
            <a:endCxn id="37" idx="5"/>
          </p:cNvCxnSpPr>
          <p:nvPr/>
        </p:nvCxnSpPr>
        <p:spPr>
          <a:xfrm flipH="1" flipV="1">
            <a:off x="10467853" y="3995237"/>
            <a:ext cx="621433" cy="384346"/>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Connector 15">
            <a:extLst>
              <a:ext uri="{FF2B5EF4-FFF2-40B4-BE49-F238E27FC236}">
                <a16:creationId xmlns:a16="http://schemas.microsoft.com/office/drawing/2014/main" id="{BFBC8C46-7A1F-B817-D07D-91991B452300}"/>
              </a:ext>
            </a:extLst>
          </p:cNvPr>
          <p:cNvCxnSpPr>
            <a:cxnSpLocks/>
            <a:stCxn id="40" idx="7"/>
            <a:endCxn id="9" idx="2"/>
          </p:cNvCxnSpPr>
          <p:nvPr/>
        </p:nvCxnSpPr>
        <p:spPr>
          <a:xfrm flipV="1">
            <a:off x="8490503" y="3893273"/>
            <a:ext cx="365311" cy="36198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Straight Connector 18">
            <a:extLst>
              <a:ext uri="{FF2B5EF4-FFF2-40B4-BE49-F238E27FC236}">
                <a16:creationId xmlns:a16="http://schemas.microsoft.com/office/drawing/2014/main" id="{AB5F3FBA-4DDB-DFF3-0F10-BCC73269281D}"/>
              </a:ext>
            </a:extLst>
          </p:cNvPr>
          <p:cNvCxnSpPr>
            <a:cxnSpLocks/>
            <a:stCxn id="2" idx="5"/>
            <a:endCxn id="9" idx="1"/>
          </p:cNvCxnSpPr>
          <p:nvPr/>
        </p:nvCxnSpPr>
        <p:spPr>
          <a:xfrm>
            <a:off x="8616797" y="3142022"/>
            <a:ext cx="336168" cy="51670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2" name="Straight Connector 21">
            <a:extLst>
              <a:ext uri="{FF2B5EF4-FFF2-40B4-BE49-F238E27FC236}">
                <a16:creationId xmlns:a16="http://schemas.microsoft.com/office/drawing/2014/main" id="{B1AA439B-DA8D-21CE-F543-5295C3454E69}"/>
              </a:ext>
            </a:extLst>
          </p:cNvPr>
          <p:cNvCxnSpPr>
            <a:cxnSpLocks/>
            <a:stCxn id="5" idx="5"/>
            <a:endCxn id="37" idx="1"/>
          </p:cNvCxnSpPr>
          <p:nvPr/>
        </p:nvCxnSpPr>
        <p:spPr>
          <a:xfrm>
            <a:off x="9690211" y="3097503"/>
            <a:ext cx="308556" cy="42864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Straight Connector 24">
            <a:extLst>
              <a:ext uri="{FF2B5EF4-FFF2-40B4-BE49-F238E27FC236}">
                <a16:creationId xmlns:a16="http://schemas.microsoft.com/office/drawing/2014/main" id="{92332AED-D6FA-024B-5250-008C68F14819}"/>
              </a:ext>
            </a:extLst>
          </p:cNvPr>
          <p:cNvCxnSpPr>
            <a:cxnSpLocks/>
            <a:stCxn id="6" idx="3"/>
            <a:endCxn id="37" idx="7"/>
          </p:cNvCxnSpPr>
          <p:nvPr/>
        </p:nvCxnSpPr>
        <p:spPr>
          <a:xfrm flipH="1">
            <a:off x="10467853" y="3166101"/>
            <a:ext cx="194302" cy="36005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Straight Connector 28">
            <a:extLst>
              <a:ext uri="{FF2B5EF4-FFF2-40B4-BE49-F238E27FC236}">
                <a16:creationId xmlns:a16="http://schemas.microsoft.com/office/drawing/2014/main" id="{0898BECC-D2E2-B2FB-45B5-086BB5004E38}"/>
              </a:ext>
            </a:extLst>
          </p:cNvPr>
          <p:cNvCxnSpPr>
            <a:cxnSpLocks/>
            <a:stCxn id="3" idx="4"/>
            <a:endCxn id="5" idx="0"/>
          </p:cNvCxnSpPr>
          <p:nvPr/>
        </p:nvCxnSpPr>
        <p:spPr>
          <a:xfrm flipH="1">
            <a:off x="9455668" y="2093898"/>
            <a:ext cx="186557" cy="43736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Straight Connector 32">
            <a:extLst>
              <a:ext uri="{FF2B5EF4-FFF2-40B4-BE49-F238E27FC236}">
                <a16:creationId xmlns:a16="http://schemas.microsoft.com/office/drawing/2014/main" id="{C988F644-4890-876E-7AE5-DCCE6151746F}"/>
              </a:ext>
            </a:extLst>
          </p:cNvPr>
          <p:cNvCxnSpPr>
            <a:cxnSpLocks/>
            <a:stCxn id="40" idx="0"/>
            <a:endCxn id="2" idx="4"/>
          </p:cNvCxnSpPr>
          <p:nvPr/>
        </p:nvCxnSpPr>
        <p:spPr>
          <a:xfrm flipV="1">
            <a:off x="8255960" y="3239173"/>
            <a:ext cx="126294" cy="918934"/>
          </a:xfrm>
          <a:prstGeom prst="line">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8" name="Straight Connector 37">
            <a:extLst>
              <a:ext uri="{FF2B5EF4-FFF2-40B4-BE49-F238E27FC236}">
                <a16:creationId xmlns:a16="http://schemas.microsoft.com/office/drawing/2014/main" id="{EDDEE7E8-20D7-59C6-80FA-90FCE8EC28D3}"/>
              </a:ext>
            </a:extLst>
          </p:cNvPr>
          <p:cNvCxnSpPr>
            <a:cxnSpLocks/>
            <a:stCxn id="39" idx="0"/>
            <a:endCxn id="6" idx="4"/>
          </p:cNvCxnSpPr>
          <p:nvPr/>
        </p:nvCxnSpPr>
        <p:spPr>
          <a:xfrm flipH="1" flipV="1">
            <a:off x="10896698" y="3263252"/>
            <a:ext cx="427131" cy="101918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Straight Connector 42">
            <a:extLst>
              <a:ext uri="{FF2B5EF4-FFF2-40B4-BE49-F238E27FC236}">
                <a16:creationId xmlns:a16="http://schemas.microsoft.com/office/drawing/2014/main" id="{D4A12360-39FD-FB3C-CCE2-E8FB2E431CA0}"/>
              </a:ext>
            </a:extLst>
          </p:cNvPr>
          <p:cNvCxnSpPr>
            <a:cxnSpLocks/>
            <a:stCxn id="3" idx="5"/>
            <a:endCxn id="6" idx="1"/>
          </p:cNvCxnSpPr>
          <p:nvPr/>
        </p:nvCxnSpPr>
        <p:spPr>
          <a:xfrm>
            <a:off x="9876768" y="1996747"/>
            <a:ext cx="785387" cy="70026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Connector 47">
            <a:extLst>
              <a:ext uri="{FF2B5EF4-FFF2-40B4-BE49-F238E27FC236}">
                <a16:creationId xmlns:a16="http://schemas.microsoft.com/office/drawing/2014/main" id="{B7615759-1B04-C69A-C491-0AE7E058A4FF}"/>
              </a:ext>
            </a:extLst>
          </p:cNvPr>
          <p:cNvCxnSpPr>
            <a:cxnSpLocks/>
            <a:stCxn id="2" idx="7"/>
            <a:endCxn id="3" idx="3"/>
          </p:cNvCxnSpPr>
          <p:nvPr/>
        </p:nvCxnSpPr>
        <p:spPr>
          <a:xfrm flipV="1">
            <a:off x="8616797" y="1996747"/>
            <a:ext cx="790885" cy="676189"/>
          </a:xfrm>
          <a:prstGeom prst="line">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8" name="Straight Connector 57">
            <a:extLst>
              <a:ext uri="{FF2B5EF4-FFF2-40B4-BE49-F238E27FC236}">
                <a16:creationId xmlns:a16="http://schemas.microsoft.com/office/drawing/2014/main" id="{33C069E9-690D-8A24-0D33-FC8A47DFB8A3}"/>
              </a:ext>
            </a:extLst>
          </p:cNvPr>
          <p:cNvCxnSpPr>
            <a:cxnSpLocks/>
            <a:endCxn id="5" idx="4"/>
          </p:cNvCxnSpPr>
          <p:nvPr/>
        </p:nvCxnSpPr>
        <p:spPr>
          <a:xfrm flipV="1">
            <a:off x="9306291" y="3194654"/>
            <a:ext cx="149377" cy="413837"/>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6" name="TextBox 65">
            <a:extLst>
              <a:ext uri="{FF2B5EF4-FFF2-40B4-BE49-F238E27FC236}">
                <a16:creationId xmlns:a16="http://schemas.microsoft.com/office/drawing/2014/main" id="{7557E883-973B-D96F-C24E-75A9959741A4}"/>
              </a:ext>
            </a:extLst>
          </p:cNvPr>
          <p:cNvSpPr txBox="1"/>
          <p:nvPr/>
        </p:nvSpPr>
        <p:spPr>
          <a:xfrm>
            <a:off x="7714211" y="3561579"/>
            <a:ext cx="508473" cy="369332"/>
          </a:xfrm>
          <a:prstGeom prst="rect">
            <a:avLst/>
          </a:prstGeom>
          <a:noFill/>
        </p:spPr>
        <p:txBody>
          <a:bodyPr wrap="none" rtlCol="0">
            <a:spAutoFit/>
          </a:bodyPr>
          <a:lstStyle/>
          <a:p>
            <a:r>
              <a:rPr lang="vi-VN" dirty="0"/>
              <a:t>5,1</a:t>
            </a:r>
          </a:p>
        </p:txBody>
      </p:sp>
      <p:sp>
        <p:nvSpPr>
          <p:cNvPr id="67" name="TextBox 66">
            <a:extLst>
              <a:ext uri="{FF2B5EF4-FFF2-40B4-BE49-F238E27FC236}">
                <a16:creationId xmlns:a16="http://schemas.microsoft.com/office/drawing/2014/main" id="{A1092A26-8CCD-4399-338E-EBAC3889D744}"/>
              </a:ext>
            </a:extLst>
          </p:cNvPr>
          <p:cNvSpPr txBox="1"/>
          <p:nvPr/>
        </p:nvSpPr>
        <p:spPr>
          <a:xfrm>
            <a:off x="8538548" y="4092388"/>
            <a:ext cx="508473" cy="646331"/>
          </a:xfrm>
          <a:prstGeom prst="rect">
            <a:avLst/>
          </a:prstGeom>
          <a:noFill/>
        </p:spPr>
        <p:txBody>
          <a:bodyPr wrap="none" rtlCol="0">
            <a:spAutoFit/>
          </a:bodyPr>
          <a:lstStyle/>
          <a:p>
            <a:r>
              <a:rPr lang="vi-VN" dirty="0"/>
              <a:t>2,5</a:t>
            </a:r>
          </a:p>
          <a:p>
            <a:endParaRPr lang="vi-VN" dirty="0"/>
          </a:p>
        </p:txBody>
      </p:sp>
      <p:sp>
        <p:nvSpPr>
          <p:cNvPr id="68" name="TextBox 67">
            <a:extLst>
              <a:ext uri="{FF2B5EF4-FFF2-40B4-BE49-F238E27FC236}">
                <a16:creationId xmlns:a16="http://schemas.microsoft.com/office/drawing/2014/main" id="{696302EC-1E37-5D49-86ED-EF0A0F697F9A}"/>
              </a:ext>
            </a:extLst>
          </p:cNvPr>
          <p:cNvSpPr txBox="1"/>
          <p:nvPr/>
        </p:nvSpPr>
        <p:spPr>
          <a:xfrm>
            <a:off x="8416115" y="3336929"/>
            <a:ext cx="508473" cy="646331"/>
          </a:xfrm>
          <a:prstGeom prst="rect">
            <a:avLst/>
          </a:prstGeom>
          <a:noFill/>
        </p:spPr>
        <p:txBody>
          <a:bodyPr wrap="none" rtlCol="0">
            <a:spAutoFit/>
          </a:bodyPr>
          <a:lstStyle/>
          <a:p>
            <a:r>
              <a:rPr lang="vi-VN" dirty="0"/>
              <a:t>2,9</a:t>
            </a:r>
          </a:p>
          <a:p>
            <a:endParaRPr lang="vi-VN" dirty="0"/>
          </a:p>
        </p:txBody>
      </p:sp>
      <p:sp>
        <p:nvSpPr>
          <p:cNvPr id="71" name="TextBox 70">
            <a:extLst>
              <a:ext uri="{FF2B5EF4-FFF2-40B4-BE49-F238E27FC236}">
                <a16:creationId xmlns:a16="http://schemas.microsoft.com/office/drawing/2014/main" id="{2C7555DB-6190-851D-3185-39BA0109BA41}"/>
              </a:ext>
            </a:extLst>
          </p:cNvPr>
          <p:cNvSpPr txBox="1"/>
          <p:nvPr/>
        </p:nvSpPr>
        <p:spPr>
          <a:xfrm>
            <a:off x="8949148" y="3146120"/>
            <a:ext cx="508473" cy="369332"/>
          </a:xfrm>
          <a:prstGeom prst="rect">
            <a:avLst/>
          </a:prstGeom>
          <a:noFill/>
        </p:spPr>
        <p:txBody>
          <a:bodyPr wrap="none" rtlCol="0">
            <a:spAutoFit/>
          </a:bodyPr>
          <a:lstStyle/>
          <a:p>
            <a:r>
              <a:rPr lang="vi-VN" dirty="0"/>
              <a:t>2,1</a:t>
            </a:r>
          </a:p>
        </p:txBody>
      </p:sp>
      <p:sp>
        <p:nvSpPr>
          <p:cNvPr id="72" name="TextBox 71">
            <a:extLst>
              <a:ext uri="{FF2B5EF4-FFF2-40B4-BE49-F238E27FC236}">
                <a16:creationId xmlns:a16="http://schemas.microsoft.com/office/drawing/2014/main" id="{1533AD91-4478-29B3-4E01-AD1A981AA16E}"/>
              </a:ext>
            </a:extLst>
          </p:cNvPr>
          <p:cNvSpPr txBox="1"/>
          <p:nvPr/>
        </p:nvSpPr>
        <p:spPr>
          <a:xfrm>
            <a:off x="9787362" y="2985794"/>
            <a:ext cx="508473" cy="369332"/>
          </a:xfrm>
          <a:prstGeom prst="rect">
            <a:avLst/>
          </a:prstGeom>
          <a:noFill/>
        </p:spPr>
        <p:txBody>
          <a:bodyPr wrap="none" rtlCol="0">
            <a:spAutoFit/>
          </a:bodyPr>
          <a:lstStyle/>
          <a:p>
            <a:r>
              <a:rPr lang="vi-VN" dirty="0"/>
              <a:t>2,1</a:t>
            </a:r>
          </a:p>
        </p:txBody>
      </p:sp>
      <p:sp>
        <p:nvSpPr>
          <p:cNvPr id="73" name="TextBox 72">
            <a:extLst>
              <a:ext uri="{FF2B5EF4-FFF2-40B4-BE49-F238E27FC236}">
                <a16:creationId xmlns:a16="http://schemas.microsoft.com/office/drawing/2014/main" id="{D7619190-DBE9-6676-214F-A51BEB16DA23}"/>
              </a:ext>
            </a:extLst>
          </p:cNvPr>
          <p:cNvSpPr txBox="1"/>
          <p:nvPr/>
        </p:nvSpPr>
        <p:spPr>
          <a:xfrm>
            <a:off x="11120561" y="3505836"/>
            <a:ext cx="311304" cy="369332"/>
          </a:xfrm>
          <a:prstGeom prst="rect">
            <a:avLst/>
          </a:prstGeom>
          <a:noFill/>
        </p:spPr>
        <p:txBody>
          <a:bodyPr wrap="none" rtlCol="0">
            <a:spAutoFit/>
          </a:bodyPr>
          <a:lstStyle/>
          <a:p>
            <a:r>
              <a:rPr lang="vi-VN" dirty="0"/>
              <a:t>6</a:t>
            </a:r>
          </a:p>
        </p:txBody>
      </p:sp>
      <p:sp>
        <p:nvSpPr>
          <p:cNvPr id="74" name="TextBox 73">
            <a:extLst>
              <a:ext uri="{FF2B5EF4-FFF2-40B4-BE49-F238E27FC236}">
                <a16:creationId xmlns:a16="http://schemas.microsoft.com/office/drawing/2014/main" id="{9D97B58D-656A-1959-44DB-16FE6EEA9919}"/>
              </a:ext>
            </a:extLst>
          </p:cNvPr>
          <p:cNvSpPr txBox="1"/>
          <p:nvPr/>
        </p:nvSpPr>
        <p:spPr>
          <a:xfrm>
            <a:off x="10388225" y="4129622"/>
            <a:ext cx="508473" cy="369332"/>
          </a:xfrm>
          <a:prstGeom prst="rect">
            <a:avLst/>
          </a:prstGeom>
          <a:noFill/>
        </p:spPr>
        <p:txBody>
          <a:bodyPr wrap="none" rtlCol="0">
            <a:spAutoFit/>
          </a:bodyPr>
          <a:lstStyle/>
          <a:p>
            <a:r>
              <a:rPr lang="vi-VN" dirty="0"/>
              <a:t>5,3</a:t>
            </a:r>
          </a:p>
        </p:txBody>
      </p:sp>
      <p:sp>
        <p:nvSpPr>
          <p:cNvPr id="76" name="TextBox 75">
            <a:extLst>
              <a:ext uri="{FF2B5EF4-FFF2-40B4-BE49-F238E27FC236}">
                <a16:creationId xmlns:a16="http://schemas.microsoft.com/office/drawing/2014/main" id="{C8461441-C6C1-AC32-24FB-90E0C2D2D9BE}"/>
              </a:ext>
            </a:extLst>
          </p:cNvPr>
          <p:cNvSpPr txBox="1"/>
          <p:nvPr/>
        </p:nvSpPr>
        <p:spPr>
          <a:xfrm>
            <a:off x="10471740" y="3228832"/>
            <a:ext cx="508473" cy="369332"/>
          </a:xfrm>
          <a:prstGeom prst="rect">
            <a:avLst/>
          </a:prstGeom>
          <a:noFill/>
        </p:spPr>
        <p:txBody>
          <a:bodyPr wrap="none" rtlCol="0">
            <a:spAutoFit/>
          </a:bodyPr>
          <a:lstStyle/>
          <a:p>
            <a:r>
              <a:rPr lang="vi-VN" dirty="0"/>
              <a:t>1,8</a:t>
            </a:r>
          </a:p>
        </p:txBody>
      </p:sp>
      <p:sp>
        <p:nvSpPr>
          <p:cNvPr id="77" name="TextBox 76">
            <a:extLst>
              <a:ext uri="{FF2B5EF4-FFF2-40B4-BE49-F238E27FC236}">
                <a16:creationId xmlns:a16="http://schemas.microsoft.com/office/drawing/2014/main" id="{464256E8-16F2-3BE5-5DFF-4BE2FC9ECD06}"/>
              </a:ext>
            </a:extLst>
          </p:cNvPr>
          <p:cNvSpPr txBox="1"/>
          <p:nvPr/>
        </p:nvSpPr>
        <p:spPr>
          <a:xfrm>
            <a:off x="10208462" y="2029078"/>
            <a:ext cx="502958" cy="369332"/>
          </a:xfrm>
          <a:prstGeom prst="rect">
            <a:avLst/>
          </a:prstGeom>
          <a:noFill/>
        </p:spPr>
        <p:txBody>
          <a:bodyPr wrap="none" rtlCol="0">
            <a:spAutoFit/>
          </a:bodyPr>
          <a:lstStyle/>
          <a:p>
            <a:r>
              <a:rPr lang="vi-VN" dirty="0"/>
              <a:t>5,7</a:t>
            </a:r>
          </a:p>
        </p:txBody>
      </p:sp>
      <p:sp>
        <p:nvSpPr>
          <p:cNvPr id="78" name="TextBox 77">
            <a:extLst>
              <a:ext uri="{FF2B5EF4-FFF2-40B4-BE49-F238E27FC236}">
                <a16:creationId xmlns:a16="http://schemas.microsoft.com/office/drawing/2014/main" id="{1A5AB199-9314-DDC9-3467-B02ED0FCC694}"/>
              </a:ext>
            </a:extLst>
          </p:cNvPr>
          <p:cNvSpPr txBox="1"/>
          <p:nvPr/>
        </p:nvSpPr>
        <p:spPr>
          <a:xfrm>
            <a:off x="8652625" y="1922704"/>
            <a:ext cx="508473" cy="369332"/>
          </a:xfrm>
          <a:prstGeom prst="rect">
            <a:avLst/>
          </a:prstGeom>
          <a:noFill/>
        </p:spPr>
        <p:txBody>
          <a:bodyPr wrap="none" rtlCol="0">
            <a:spAutoFit/>
          </a:bodyPr>
          <a:lstStyle/>
          <a:p>
            <a:r>
              <a:rPr lang="vi-VN" dirty="0"/>
              <a:t>5,5</a:t>
            </a:r>
          </a:p>
        </p:txBody>
      </p:sp>
      <p:sp>
        <p:nvSpPr>
          <p:cNvPr id="80" name="TextBox 79">
            <a:extLst>
              <a:ext uri="{FF2B5EF4-FFF2-40B4-BE49-F238E27FC236}">
                <a16:creationId xmlns:a16="http://schemas.microsoft.com/office/drawing/2014/main" id="{A6C5912B-FADE-B64E-3DCA-357DFD77C200}"/>
              </a:ext>
            </a:extLst>
          </p:cNvPr>
          <p:cNvSpPr txBox="1"/>
          <p:nvPr/>
        </p:nvSpPr>
        <p:spPr>
          <a:xfrm>
            <a:off x="9505260" y="2138996"/>
            <a:ext cx="508473" cy="369332"/>
          </a:xfrm>
          <a:prstGeom prst="rect">
            <a:avLst/>
          </a:prstGeom>
          <a:noFill/>
        </p:spPr>
        <p:txBody>
          <a:bodyPr wrap="none" rtlCol="0">
            <a:spAutoFit/>
          </a:bodyPr>
          <a:lstStyle/>
          <a:p>
            <a:r>
              <a:rPr lang="vi-VN" dirty="0"/>
              <a:t>2,8</a:t>
            </a:r>
          </a:p>
        </p:txBody>
      </p:sp>
    </p:spTree>
    <p:extLst>
      <p:ext uri="{BB962C8B-B14F-4D97-AF65-F5344CB8AC3E}">
        <p14:creationId xmlns:p14="http://schemas.microsoft.com/office/powerpoint/2010/main" val="8837601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CA05F-6421-A561-FFD2-19AE388F692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258EB2E-2D2B-6B1E-9BA9-7865102F74F3}"/>
              </a:ext>
            </a:extLst>
          </p:cNvPr>
          <p:cNvSpPr>
            <a:spLocks noGrp="1"/>
          </p:cNvSpPr>
          <p:nvPr>
            <p:ph type="title"/>
          </p:nvPr>
        </p:nvSpPr>
        <p:spPr/>
        <p:txBody>
          <a:bodyPr/>
          <a:lstStyle/>
          <a:p>
            <a:r>
              <a:rPr lang="vi-VN" dirty="0"/>
              <a:t>3. Minh họa</a:t>
            </a:r>
          </a:p>
        </p:txBody>
      </p:sp>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7CE33A76-811F-48E5-4DC9-FDCE82E9A79E}"/>
                  </a:ext>
                </a:extLst>
              </p:cNvPr>
              <p:cNvSpPr>
                <a:spLocks noGrp="1"/>
              </p:cNvSpPr>
              <p:nvPr>
                <p:ph idx="1"/>
              </p:nvPr>
            </p:nvSpPr>
            <p:spPr>
              <a:xfrm>
                <a:off x="581193" y="2340864"/>
                <a:ext cx="5514808" cy="3634486"/>
              </a:xfrm>
            </p:spPr>
            <p:txBody>
              <a:bodyPr anchor="t">
                <a:normAutofit/>
              </a:bodyPr>
              <a:lstStyle/>
              <a:p>
                <a:pPr marL="0" indent="0">
                  <a:buNone/>
                </a:pPr>
                <a:r>
                  <a:rPr lang="vi-VN" b="1" dirty="0"/>
                  <a:t>Bước 3: Phân cụm.</a:t>
                </a:r>
              </a:p>
              <a:p>
                <a:pPr marL="0" indent="0">
                  <a:buNone/>
                </a:pPr>
                <a:r>
                  <a:rPr lang="vi-VN" dirty="0"/>
                  <a:t>Giả sử: </a:t>
                </a:r>
              </a:p>
              <a:p>
                <a:pPr marL="0" indent="0">
                  <a:buNone/>
                </a:pPr>
                <a:r>
                  <a:rPr lang="vi-VN" dirty="0"/>
                  <a:t>Ta có hai đỉnh </a:t>
                </a:r>
                <a14:m>
                  <m:oMath xmlns:m="http://schemas.openxmlformats.org/officeDocument/2006/math">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𝑃</m:t>
                        </m:r>
                      </m:e>
                      <m:sub>
                        <m:r>
                          <a:rPr lang="vi-VN" i="1" dirty="0" smtClean="0">
                            <a:latin typeface="Cambria Math" panose="02040503050406030204" pitchFamily="18" charset="0"/>
                          </a:rPr>
                          <m:t>1</m:t>
                        </m:r>
                      </m:sub>
                    </m:sSub>
                  </m:oMath>
                </a14:m>
                <a:r>
                  <a:rPr lang="vi-VN" dirty="0"/>
                  <a:t>, </a:t>
                </a:r>
                <a14:m>
                  <m:oMath xmlns:m="http://schemas.openxmlformats.org/officeDocument/2006/math">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𝑃</m:t>
                        </m:r>
                      </m:e>
                      <m:sub>
                        <m:r>
                          <a:rPr lang="vi-VN" i="1" dirty="0" smtClean="0">
                            <a:latin typeface="Cambria Math" panose="02040503050406030204" pitchFamily="18" charset="0"/>
                          </a:rPr>
                          <m:t>2</m:t>
                        </m:r>
                      </m:sub>
                    </m:sSub>
                  </m:oMath>
                </a14:m>
                <a:r>
                  <a:rPr lang="vi-VN" dirty="0"/>
                  <a:t> và các điểm A, B, C, D, E đã được phân cụm, F chưa được phân cụm.</a:t>
                </a:r>
              </a:p>
              <a:p>
                <a:pPr marL="0" indent="0">
                  <a:buNone/>
                </a:pPr>
                <a:r>
                  <a:rPr lang="vi-VN" dirty="0"/>
                  <a:t>Tính chi phí dường đi </a:t>
                </a:r>
                <a14:m>
                  <m:oMath xmlns:m="http://schemas.openxmlformats.org/officeDocument/2006/math">
                    <m:sSub>
                      <m:sSubPr>
                        <m:ctrlPr>
                          <a:rPr lang="vi-VN" i="1" dirty="0">
                            <a:latin typeface="Cambria Math" panose="02040503050406030204" pitchFamily="18" charset="0"/>
                          </a:rPr>
                        </m:ctrlPr>
                      </m:sSubPr>
                      <m:e>
                        <m:r>
                          <a:rPr lang="vi-VN" i="1" dirty="0">
                            <a:latin typeface="Cambria Math" panose="02040503050406030204" pitchFamily="18" charset="0"/>
                          </a:rPr>
                          <m:t>𝑃</m:t>
                        </m:r>
                      </m:e>
                      <m:sub>
                        <m:r>
                          <a:rPr lang="vi-VN" i="1" dirty="0">
                            <a:latin typeface="Cambria Math" panose="02040503050406030204" pitchFamily="18" charset="0"/>
                          </a:rPr>
                          <m:t>1</m:t>
                        </m:r>
                      </m:sub>
                    </m:sSub>
                  </m:oMath>
                </a14:m>
                <a:r>
                  <a:rPr lang="vi-VN" dirty="0"/>
                  <a:t> </a:t>
                </a:r>
                <a:r>
                  <a:rPr lang="vi-VN" dirty="0">
                    <a:sym typeface="Wingdings" panose="05000000000000000000" pitchFamily="2" charset="2"/>
                  </a:rPr>
                  <a:t> C  F 	</a:t>
                </a:r>
              </a:p>
              <a:p>
                <a:pPr marL="0" indent="0">
                  <a:buNone/>
                </a:pPr>
                <a:r>
                  <a:rPr lang="vi-VN" dirty="0">
                    <a:sym typeface="Wingdings" panose="05000000000000000000" pitchFamily="2" charset="2"/>
                  </a:rPr>
                  <a:t>= </a:t>
                </a:r>
                <a:r>
                  <a:rPr lang="vi-VN" dirty="0" err="1">
                    <a:sym typeface="Wingdings" panose="05000000000000000000" pitchFamily="2" charset="2"/>
                  </a:rPr>
                  <a:t>Minimax</a:t>
                </a:r>
                <a:r>
                  <a:rPr lang="vi-VN" dirty="0">
                    <a:sym typeface="Wingdings" panose="05000000000000000000" pitchFamily="2" charset="2"/>
                  </a:rPr>
                  <a:t>(</a:t>
                </a:r>
                <a14:m>
                  <m:oMath xmlns:m="http://schemas.openxmlformats.org/officeDocument/2006/math">
                    <m:sSub>
                      <m:sSubPr>
                        <m:ctrlPr>
                          <a:rPr lang="vi-VN" i="1" dirty="0">
                            <a:latin typeface="Cambria Math" panose="02040503050406030204" pitchFamily="18" charset="0"/>
                          </a:rPr>
                        </m:ctrlPr>
                      </m:sSubPr>
                      <m:e>
                        <m:r>
                          <a:rPr lang="vi-VN" i="1" dirty="0">
                            <a:latin typeface="Cambria Math" panose="02040503050406030204" pitchFamily="18" charset="0"/>
                          </a:rPr>
                          <m:t>𝑃</m:t>
                        </m:r>
                      </m:e>
                      <m:sub>
                        <m:r>
                          <a:rPr lang="vi-VN" i="1" dirty="0">
                            <a:latin typeface="Cambria Math" panose="02040503050406030204" pitchFamily="18" charset="0"/>
                          </a:rPr>
                          <m:t>1</m:t>
                        </m:r>
                      </m:sub>
                    </m:sSub>
                  </m:oMath>
                </a14:m>
                <a:r>
                  <a:rPr lang="vi-VN" dirty="0">
                    <a:sym typeface="Wingdings" panose="05000000000000000000" pitchFamily="2" charset="2"/>
                  </a:rPr>
                  <a:t>-C, C-F) </a:t>
                </a:r>
              </a:p>
              <a:p>
                <a:pPr marL="0" indent="0">
                  <a:buNone/>
                </a:pPr>
                <a:r>
                  <a:rPr lang="vi-VN" dirty="0">
                    <a:sym typeface="Wingdings" panose="05000000000000000000" pitchFamily="2" charset="2"/>
                  </a:rPr>
                  <a:t>=</a:t>
                </a:r>
                <a:r>
                  <a:rPr lang="vi-VN" dirty="0" err="1">
                    <a:sym typeface="Wingdings" panose="05000000000000000000" pitchFamily="2" charset="2"/>
                  </a:rPr>
                  <a:t>Minimax</a:t>
                </a:r>
                <a:r>
                  <a:rPr lang="vi-VN" dirty="0">
                    <a:sym typeface="Wingdings" panose="05000000000000000000" pitchFamily="2" charset="2"/>
                  </a:rPr>
                  <a:t>(5.1, 5.5)</a:t>
                </a:r>
              </a:p>
              <a:p>
                <a:pPr marL="0" indent="0">
                  <a:buNone/>
                </a:pPr>
                <a:r>
                  <a:rPr lang="vi-VN" dirty="0">
                    <a:sym typeface="Wingdings" panose="05000000000000000000" pitchFamily="2" charset="2"/>
                  </a:rPr>
                  <a:t>= 5.5.</a:t>
                </a:r>
              </a:p>
            </p:txBody>
          </p:sp>
        </mc:Choice>
        <mc:Fallback xmlns="">
          <p:sp>
            <p:nvSpPr>
              <p:cNvPr id="12" name="Content Placeholder 11">
                <a:extLst>
                  <a:ext uri="{FF2B5EF4-FFF2-40B4-BE49-F238E27FC236}">
                    <a16:creationId xmlns:a16="http://schemas.microsoft.com/office/drawing/2014/main" id="{7CE33A76-811F-48E5-4DC9-FDCE82E9A79E}"/>
                  </a:ext>
                </a:extLst>
              </p:cNvPr>
              <p:cNvSpPr>
                <a:spLocks noGrp="1" noRot="1" noChangeAspect="1" noMove="1" noResize="1" noEditPoints="1" noAdjustHandles="1" noChangeArrowheads="1" noChangeShapeType="1" noTextEdit="1"/>
              </p:cNvSpPr>
              <p:nvPr>
                <p:ph idx="1"/>
              </p:nvPr>
            </p:nvSpPr>
            <p:spPr>
              <a:xfrm>
                <a:off x="581193" y="2340864"/>
                <a:ext cx="5514808" cy="3634486"/>
              </a:xfrm>
              <a:blipFill>
                <a:blip r:embed="rId2"/>
                <a:stretch>
                  <a:fillRect l="-663" t="-336"/>
                </a:stretch>
              </a:blipFill>
            </p:spPr>
            <p:txBody>
              <a:bodyPr/>
              <a:lstStyle/>
              <a:p>
                <a:r>
                  <a:rPr lang="vi-VN">
                    <a:noFill/>
                  </a:rPr>
                  <a:t> </a:t>
                </a:r>
              </a:p>
            </p:txBody>
          </p:sp>
        </mc:Fallback>
      </mc:AlternateContent>
      <p:grpSp>
        <p:nvGrpSpPr>
          <p:cNvPr id="81" name="Group 80">
            <a:extLst>
              <a:ext uri="{FF2B5EF4-FFF2-40B4-BE49-F238E27FC236}">
                <a16:creationId xmlns:a16="http://schemas.microsoft.com/office/drawing/2014/main" id="{A86A2853-0AE2-6350-3CAA-7493E6563A15}"/>
              </a:ext>
            </a:extLst>
          </p:cNvPr>
          <p:cNvGrpSpPr/>
          <p:nvPr/>
        </p:nvGrpSpPr>
        <p:grpSpPr>
          <a:xfrm>
            <a:off x="6705600" y="1019175"/>
            <a:ext cx="4949923" cy="5226733"/>
            <a:chOff x="7714211" y="1430510"/>
            <a:chExt cx="3941312" cy="4815398"/>
          </a:xfrm>
        </p:grpSpPr>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D737270-CE6C-1724-F48B-DFDE8D5FDC9F}"/>
                    </a:ext>
                  </a:extLst>
                </p:cNvPr>
                <p:cNvSpPr txBox="1"/>
                <p:nvPr/>
              </p:nvSpPr>
              <p:spPr>
                <a:xfrm>
                  <a:off x="10757760" y="5275919"/>
                  <a:ext cx="51845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vi-VN" dirty="0">
                            <a:latin typeface="Cambria Math" panose="02040503050406030204" pitchFamily="18" charset="0"/>
                          </a:rPr>
                          <m:t>Γ</m:t>
                        </m:r>
                      </m:oMath>
                    </m:oMathPara>
                  </a14:m>
                  <a:endParaRPr lang="vi-VN" dirty="0"/>
                </a:p>
              </p:txBody>
            </p:sp>
          </mc:Choice>
          <mc:Fallback xmlns="">
            <p:sp>
              <p:nvSpPr>
                <p:cNvPr id="31" name="TextBox 30">
                  <a:extLst>
                    <a:ext uri="{FF2B5EF4-FFF2-40B4-BE49-F238E27FC236}">
                      <a16:creationId xmlns:a16="http://schemas.microsoft.com/office/drawing/2014/main" id="{ED737270-CE6C-1724-F48B-DFDE8D5FDC9F}"/>
                    </a:ext>
                  </a:extLst>
                </p:cNvPr>
                <p:cNvSpPr txBox="1">
                  <a:spLocks noRot="1" noChangeAspect="1" noMove="1" noResize="1" noEditPoints="1" noAdjustHandles="1" noChangeArrowheads="1" noChangeShapeType="1" noTextEdit="1"/>
                </p:cNvSpPr>
                <p:nvPr/>
              </p:nvSpPr>
              <p:spPr>
                <a:xfrm>
                  <a:off x="10757760" y="5275919"/>
                  <a:ext cx="518453" cy="369332"/>
                </a:xfrm>
                <a:prstGeom prst="rect">
                  <a:avLst/>
                </a:prstGeom>
                <a:blipFill>
                  <a:blip r:embed="rId3"/>
                  <a:stretch>
                    <a:fillRect/>
                  </a:stretch>
                </a:blipFill>
              </p:spPr>
              <p:txBody>
                <a:bodyPr/>
                <a:lstStyle/>
                <a:p>
                  <a:r>
                    <a:rPr lang="vi-VN">
                      <a:noFill/>
                    </a:rPr>
                    <a:t> </a:t>
                  </a:r>
                </a:p>
              </p:txBody>
            </p:sp>
          </mc:Fallback>
        </mc:AlternateContent>
        <p:sp>
          <p:nvSpPr>
            <p:cNvPr id="37" name="Oval 36">
              <a:extLst>
                <a:ext uri="{FF2B5EF4-FFF2-40B4-BE49-F238E27FC236}">
                  <a16:creationId xmlns:a16="http://schemas.microsoft.com/office/drawing/2014/main" id="{6FF2EF06-34F0-8612-43D7-17EB178DB4B3}"/>
                </a:ext>
              </a:extLst>
            </p:cNvPr>
            <p:cNvSpPr/>
            <p:nvPr/>
          </p:nvSpPr>
          <p:spPr>
            <a:xfrm>
              <a:off x="9901616" y="3429000"/>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endParaRPr lang="vi-VN" dirty="0"/>
            </a:p>
          </p:txBody>
        </p:sp>
        <mc:AlternateContent xmlns:mc="http://schemas.openxmlformats.org/markup-compatibility/2006" xmlns:a14="http://schemas.microsoft.com/office/drawing/2010/main">
          <mc:Choice Requires="a14">
            <p:sp>
              <p:nvSpPr>
                <p:cNvPr id="39" name="Oval 38">
                  <a:extLst>
                    <a:ext uri="{FF2B5EF4-FFF2-40B4-BE49-F238E27FC236}">
                      <a16:creationId xmlns:a16="http://schemas.microsoft.com/office/drawing/2014/main" id="{073F85EE-51F8-9D4F-1D75-EFF002CED56A}"/>
                    </a:ext>
                  </a:extLst>
                </p:cNvPr>
                <p:cNvSpPr/>
                <p:nvPr/>
              </p:nvSpPr>
              <p:spPr>
                <a:xfrm>
                  <a:off x="10992135" y="4282432"/>
                  <a:ext cx="663388" cy="663388"/>
                </a:xfrm>
                <a:prstGeom prst="ellipse">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vi-VN" i="1" dirty="0">
                                <a:latin typeface="Cambria Math" panose="02040503050406030204" pitchFamily="18" charset="0"/>
                              </a:rPr>
                            </m:ctrlPr>
                          </m:sSubPr>
                          <m:e>
                            <m:r>
                              <a:rPr lang="vi-VN" i="1" dirty="0">
                                <a:latin typeface="Cambria Math" panose="02040503050406030204" pitchFamily="18" charset="0"/>
                              </a:rPr>
                              <m:t>𝑃</m:t>
                            </m:r>
                          </m:e>
                          <m:sub>
                            <m:r>
                              <a:rPr lang="vi-VN" i="1" dirty="0">
                                <a:latin typeface="Cambria Math" panose="02040503050406030204" pitchFamily="18" charset="0"/>
                              </a:rPr>
                              <m:t>2</m:t>
                            </m:r>
                          </m:sub>
                        </m:sSub>
                      </m:oMath>
                    </m:oMathPara>
                  </a14:m>
                  <a:endParaRPr lang="vi-VN" dirty="0"/>
                </a:p>
              </p:txBody>
            </p:sp>
          </mc:Choice>
          <mc:Fallback xmlns="">
            <p:sp>
              <p:nvSpPr>
                <p:cNvPr id="39" name="Oval 38">
                  <a:extLst>
                    <a:ext uri="{FF2B5EF4-FFF2-40B4-BE49-F238E27FC236}">
                      <a16:creationId xmlns:a16="http://schemas.microsoft.com/office/drawing/2014/main" id="{073F85EE-51F8-9D4F-1D75-EFF002CED56A}"/>
                    </a:ext>
                  </a:extLst>
                </p:cNvPr>
                <p:cNvSpPr>
                  <a:spLocks noRot="1" noChangeAspect="1" noMove="1" noResize="1" noEditPoints="1" noAdjustHandles="1" noChangeArrowheads="1" noChangeShapeType="1" noTextEdit="1"/>
                </p:cNvSpPr>
                <p:nvPr/>
              </p:nvSpPr>
              <p:spPr>
                <a:xfrm>
                  <a:off x="10992135" y="4282432"/>
                  <a:ext cx="663388" cy="663388"/>
                </a:xfrm>
                <a:prstGeom prst="ellipse">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0" name="Oval 39">
                  <a:extLst>
                    <a:ext uri="{FF2B5EF4-FFF2-40B4-BE49-F238E27FC236}">
                      <a16:creationId xmlns:a16="http://schemas.microsoft.com/office/drawing/2014/main" id="{3C3ECCBE-4E5A-FEB3-9D88-2706576EE562}"/>
                    </a:ext>
                  </a:extLst>
                </p:cNvPr>
                <p:cNvSpPr/>
                <p:nvPr/>
              </p:nvSpPr>
              <p:spPr>
                <a:xfrm>
                  <a:off x="7924266" y="4158107"/>
                  <a:ext cx="663388" cy="663388"/>
                </a:xfrm>
                <a:prstGeom prst="ellipse">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vi-VN" i="1" dirty="0">
                                <a:latin typeface="Cambria Math" panose="02040503050406030204" pitchFamily="18" charset="0"/>
                              </a:rPr>
                            </m:ctrlPr>
                          </m:sSubPr>
                          <m:e>
                            <m:r>
                              <a:rPr lang="vi-VN" i="1" dirty="0">
                                <a:latin typeface="Cambria Math" panose="02040503050406030204" pitchFamily="18" charset="0"/>
                              </a:rPr>
                              <m:t>𝑃</m:t>
                            </m:r>
                          </m:e>
                          <m:sub>
                            <m:r>
                              <a:rPr lang="vi-VN" i="1" dirty="0">
                                <a:latin typeface="Cambria Math" panose="02040503050406030204" pitchFamily="18" charset="0"/>
                              </a:rPr>
                              <m:t>1</m:t>
                            </m:r>
                          </m:sub>
                        </m:sSub>
                      </m:oMath>
                    </m:oMathPara>
                  </a14:m>
                  <a:endParaRPr lang="vi-VN" dirty="0"/>
                </a:p>
              </p:txBody>
            </p:sp>
          </mc:Choice>
          <mc:Fallback xmlns="">
            <p:sp>
              <p:nvSpPr>
                <p:cNvPr id="40" name="Oval 39">
                  <a:extLst>
                    <a:ext uri="{FF2B5EF4-FFF2-40B4-BE49-F238E27FC236}">
                      <a16:creationId xmlns:a16="http://schemas.microsoft.com/office/drawing/2014/main" id="{3C3ECCBE-4E5A-FEB3-9D88-2706576EE562}"/>
                    </a:ext>
                  </a:extLst>
                </p:cNvPr>
                <p:cNvSpPr>
                  <a:spLocks noRot="1" noChangeAspect="1" noMove="1" noResize="1" noEditPoints="1" noAdjustHandles="1" noChangeArrowheads="1" noChangeShapeType="1" noTextEdit="1"/>
                </p:cNvSpPr>
                <p:nvPr/>
              </p:nvSpPr>
              <p:spPr>
                <a:xfrm>
                  <a:off x="7924266" y="4158107"/>
                  <a:ext cx="663388" cy="663388"/>
                </a:xfrm>
                <a:prstGeom prst="ellipse">
                  <a:avLst/>
                </a:prstGeom>
                <a:blipFill>
                  <a:blip r:embed="rId5"/>
                  <a:stretch>
                    <a:fillRect/>
                  </a:stretch>
                </a:blipFill>
              </p:spPr>
              <p:txBody>
                <a:bodyPr/>
                <a:lstStyle/>
                <a:p>
                  <a:r>
                    <a:rPr lang="vi-VN">
                      <a:noFill/>
                    </a:rPr>
                    <a:t> </a:t>
                  </a:r>
                </a:p>
              </p:txBody>
            </p:sp>
          </mc:Fallback>
        </mc:AlternateContent>
        <p:sp>
          <p:nvSpPr>
            <p:cNvPr id="51" name="Oval 50">
              <a:extLst>
                <a:ext uri="{FF2B5EF4-FFF2-40B4-BE49-F238E27FC236}">
                  <a16:creationId xmlns:a16="http://schemas.microsoft.com/office/drawing/2014/main" id="{D8E913EB-9CA7-F370-480A-AE7B3DC55E16}"/>
                </a:ext>
              </a:extLst>
            </p:cNvPr>
            <p:cNvSpPr/>
            <p:nvPr/>
          </p:nvSpPr>
          <p:spPr>
            <a:xfrm>
              <a:off x="9787362" y="5582520"/>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a:t>
              </a:r>
              <a:endParaRPr lang="vi-VN" dirty="0"/>
            </a:p>
          </p:txBody>
        </p:sp>
        <p:cxnSp>
          <p:nvCxnSpPr>
            <p:cNvPr id="52" name="Straight Connector 51">
              <a:extLst>
                <a:ext uri="{FF2B5EF4-FFF2-40B4-BE49-F238E27FC236}">
                  <a16:creationId xmlns:a16="http://schemas.microsoft.com/office/drawing/2014/main" id="{F1558C8A-B6D4-7041-92FD-7905975AC77B}"/>
                </a:ext>
              </a:extLst>
            </p:cNvPr>
            <p:cNvCxnSpPr>
              <a:cxnSpLocks/>
              <a:stCxn id="39" idx="3"/>
              <a:endCxn id="51" idx="7"/>
            </p:cNvCxnSpPr>
            <p:nvPr/>
          </p:nvCxnSpPr>
          <p:spPr>
            <a:xfrm flipH="1">
              <a:off x="10353599" y="4848669"/>
              <a:ext cx="735687" cy="83100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 name="Straight Connector 3">
              <a:extLst>
                <a:ext uri="{FF2B5EF4-FFF2-40B4-BE49-F238E27FC236}">
                  <a16:creationId xmlns:a16="http://schemas.microsoft.com/office/drawing/2014/main" id="{4C311EED-C5A3-7186-F160-125D35DCD2A6}"/>
                </a:ext>
              </a:extLst>
            </p:cNvPr>
            <p:cNvCxnSpPr>
              <a:cxnSpLocks/>
              <a:stCxn id="51" idx="1"/>
              <a:endCxn id="40" idx="5"/>
            </p:cNvCxnSpPr>
            <p:nvPr/>
          </p:nvCxnSpPr>
          <p:spPr>
            <a:xfrm flipH="1" flipV="1">
              <a:off x="8490503" y="4724344"/>
              <a:ext cx="1394010" cy="955327"/>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Oval 1">
              <a:extLst>
                <a:ext uri="{FF2B5EF4-FFF2-40B4-BE49-F238E27FC236}">
                  <a16:creationId xmlns:a16="http://schemas.microsoft.com/office/drawing/2014/main" id="{6748FB6D-01EB-CF5F-11DB-5A5C9BB6FEB3}"/>
                </a:ext>
              </a:extLst>
            </p:cNvPr>
            <p:cNvSpPr/>
            <p:nvPr/>
          </p:nvSpPr>
          <p:spPr>
            <a:xfrm>
              <a:off x="8050560" y="2575785"/>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endParaRPr lang="vi-VN" dirty="0"/>
            </a:p>
          </p:txBody>
        </p:sp>
        <p:sp>
          <p:nvSpPr>
            <p:cNvPr id="3" name="Oval 2">
              <a:extLst>
                <a:ext uri="{FF2B5EF4-FFF2-40B4-BE49-F238E27FC236}">
                  <a16:creationId xmlns:a16="http://schemas.microsoft.com/office/drawing/2014/main" id="{3B802BE4-0023-1039-830E-29CFB234E30B}"/>
                </a:ext>
              </a:extLst>
            </p:cNvPr>
            <p:cNvSpPr/>
            <p:nvPr/>
          </p:nvSpPr>
          <p:spPr>
            <a:xfrm>
              <a:off x="9310531" y="1430510"/>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endParaRPr lang="vi-VN" dirty="0"/>
            </a:p>
          </p:txBody>
        </p:sp>
        <p:sp>
          <p:nvSpPr>
            <p:cNvPr id="5" name="Oval 4">
              <a:extLst>
                <a:ext uri="{FF2B5EF4-FFF2-40B4-BE49-F238E27FC236}">
                  <a16:creationId xmlns:a16="http://schemas.microsoft.com/office/drawing/2014/main" id="{A75A8422-CC96-1550-9820-420BFD032015}"/>
                </a:ext>
              </a:extLst>
            </p:cNvPr>
            <p:cNvSpPr/>
            <p:nvPr/>
          </p:nvSpPr>
          <p:spPr>
            <a:xfrm>
              <a:off x="9123974" y="253126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endParaRPr lang="vi-VN" dirty="0"/>
            </a:p>
          </p:txBody>
        </p:sp>
        <p:sp>
          <p:nvSpPr>
            <p:cNvPr id="6" name="Oval 5">
              <a:extLst>
                <a:ext uri="{FF2B5EF4-FFF2-40B4-BE49-F238E27FC236}">
                  <a16:creationId xmlns:a16="http://schemas.microsoft.com/office/drawing/2014/main" id="{A1FA8735-54FC-1761-F31C-44F71925DABC}"/>
                </a:ext>
              </a:extLst>
            </p:cNvPr>
            <p:cNvSpPr/>
            <p:nvPr/>
          </p:nvSpPr>
          <p:spPr>
            <a:xfrm>
              <a:off x="10565004" y="259986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endParaRPr lang="vi-VN" dirty="0"/>
            </a:p>
          </p:txBody>
        </p:sp>
        <p:sp>
          <p:nvSpPr>
            <p:cNvPr id="9" name="Oval 8">
              <a:extLst>
                <a:ext uri="{FF2B5EF4-FFF2-40B4-BE49-F238E27FC236}">
                  <a16:creationId xmlns:a16="http://schemas.microsoft.com/office/drawing/2014/main" id="{14937DD4-97FF-FE22-9864-D19D20C075F7}"/>
                </a:ext>
              </a:extLst>
            </p:cNvPr>
            <p:cNvSpPr/>
            <p:nvPr/>
          </p:nvSpPr>
          <p:spPr>
            <a:xfrm>
              <a:off x="8855814" y="3561579"/>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endParaRPr lang="vi-VN" dirty="0"/>
            </a:p>
          </p:txBody>
        </p:sp>
        <p:cxnSp>
          <p:nvCxnSpPr>
            <p:cNvPr id="13" name="Straight Connector 12">
              <a:extLst>
                <a:ext uri="{FF2B5EF4-FFF2-40B4-BE49-F238E27FC236}">
                  <a16:creationId xmlns:a16="http://schemas.microsoft.com/office/drawing/2014/main" id="{B1679CDA-9362-3AFF-CF9C-A5D34B0C69C0}"/>
                </a:ext>
              </a:extLst>
            </p:cNvPr>
            <p:cNvCxnSpPr>
              <a:cxnSpLocks/>
              <a:stCxn id="39" idx="1"/>
              <a:endCxn id="37" idx="5"/>
            </p:cNvCxnSpPr>
            <p:nvPr/>
          </p:nvCxnSpPr>
          <p:spPr>
            <a:xfrm flipH="1" flipV="1">
              <a:off x="10467853" y="3995237"/>
              <a:ext cx="621433" cy="384346"/>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Connector 15">
              <a:extLst>
                <a:ext uri="{FF2B5EF4-FFF2-40B4-BE49-F238E27FC236}">
                  <a16:creationId xmlns:a16="http://schemas.microsoft.com/office/drawing/2014/main" id="{BCE0CCC3-1A1D-C299-18F5-DCAEBF58C942}"/>
                </a:ext>
              </a:extLst>
            </p:cNvPr>
            <p:cNvCxnSpPr>
              <a:cxnSpLocks/>
              <a:stCxn id="40" idx="7"/>
              <a:endCxn id="9" idx="2"/>
            </p:cNvCxnSpPr>
            <p:nvPr/>
          </p:nvCxnSpPr>
          <p:spPr>
            <a:xfrm flipV="1">
              <a:off x="8490503" y="3893273"/>
              <a:ext cx="365311" cy="36198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Straight Connector 18">
              <a:extLst>
                <a:ext uri="{FF2B5EF4-FFF2-40B4-BE49-F238E27FC236}">
                  <a16:creationId xmlns:a16="http://schemas.microsoft.com/office/drawing/2014/main" id="{684AAF77-E242-3758-6EA1-74F763AE9C0F}"/>
                </a:ext>
              </a:extLst>
            </p:cNvPr>
            <p:cNvCxnSpPr>
              <a:cxnSpLocks/>
              <a:stCxn id="2" idx="5"/>
              <a:endCxn id="9" idx="1"/>
            </p:cNvCxnSpPr>
            <p:nvPr/>
          </p:nvCxnSpPr>
          <p:spPr>
            <a:xfrm>
              <a:off x="8616797" y="3142022"/>
              <a:ext cx="336168" cy="51670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2" name="Straight Connector 21">
              <a:extLst>
                <a:ext uri="{FF2B5EF4-FFF2-40B4-BE49-F238E27FC236}">
                  <a16:creationId xmlns:a16="http://schemas.microsoft.com/office/drawing/2014/main" id="{95C53A8F-8E48-A5EE-7814-E48F2CCE4E46}"/>
                </a:ext>
              </a:extLst>
            </p:cNvPr>
            <p:cNvCxnSpPr>
              <a:cxnSpLocks/>
              <a:stCxn id="5" idx="5"/>
              <a:endCxn id="37" idx="1"/>
            </p:cNvCxnSpPr>
            <p:nvPr/>
          </p:nvCxnSpPr>
          <p:spPr>
            <a:xfrm>
              <a:off x="9690211" y="3097503"/>
              <a:ext cx="308556" cy="42864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Straight Connector 24">
              <a:extLst>
                <a:ext uri="{FF2B5EF4-FFF2-40B4-BE49-F238E27FC236}">
                  <a16:creationId xmlns:a16="http://schemas.microsoft.com/office/drawing/2014/main" id="{F469A96A-5FC9-8428-3282-8F517508FBC6}"/>
                </a:ext>
              </a:extLst>
            </p:cNvPr>
            <p:cNvCxnSpPr>
              <a:cxnSpLocks/>
              <a:stCxn id="6" idx="3"/>
              <a:endCxn id="37" idx="7"/>
            </p:cNvCxnSpPr>
            <p:nvPr/>
          </p:nvCxnSpPr>
          <p:spPr>
            <a:xfrm flipH="1">
              <a:off x="10467853" y="3166101"/>
              <a:ext cx="194302" cy="36005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Straight Connector 28">
              <a:extLst>
                <a:ext uri="{FF2B5EF4-FFF2-40B4-BE49-F238E27FC236}">
                  <a16:creationId xmlns:a16="http://schemas.microsoft.com/office/drawing/2014/main" id="{479EEF74-844C-D8C3-D8AC-CF4B59C542D5}"/>
                </a:ext>
              </a:extLst>
            </p:cNvPr>
            <p:cNvCxnSpPr>
              <a:cxnSpLocks/>
              <a:stCxn id="3" idx="4"/>
              <a:endCxn id="5" idx="0"/>
            </p:cNvCxnSpPr>
            <p:nvPr/>
          </p:nvCxnSpPr>
          <p:spPr>
            <a:xfrm flipH="1">
              <a:off x="9455668" y="2093898"/>
              <a:ext cx="186557" cy="43736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Straight Connector 32">
              <a:extLst>
                <a:ext uri="{FF2B5EF4-FFF2-40B4-BE49-F238E27FC236}">
                  <a16:creationId xmlns:a16="http://schemas.microsoft.com/office/drawing/2014/main" id="{F55CA586-217E-3D0C-69A2-517187685EA5}"/>
                </a:ext>
              </a:extLst>
            </p:cNvPr>
            <p:cNvCxnSpPr>
              <a:cxnSpLocks/>
              <a:stCxn id="40" idx="0"/>
              <a:endCxn id="2" idx="4"/>
            </p:cNvCxnSpPr>
            <p:nvPr/>
          </p:nvCxnSpPr>
          <p:spPr>
            <a:xfrm flipV="1">
              <a:off x="8255960" y="3239173"/>
              <a:ext cx="126294" cy="918934"/>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8" name="Straight Connector 37">
              <a:extLst>
                <a:ext uri="{FF2B5EF4-FFF2-40B4-BE49-F238E27FC236}">
                  <a16:creationId xmlns:a16="http://schemas.microsoft.com/office/drawing/2014/main" id="{43F0ADFF-B222-2F13-B171-3CD163F76135}"/>
                </a:ext>
              </a:extLst>
            </p:cNvPr>
            <p:cNvCxnSpPr>
              <a:cxnSpLocks/>
              <a:stCxn id="39" idx="0"/>
              <a:endCxn id="6" idx="4"/>
            </p:cNvCxnSpPr>
            <p:nvPr/>
          </p:nvCxnSpPr>
          <p:spPr>
            <a:xfrm flipH="1" flipV="1">
              <a:off x="10896698" y="3263252"/>
              <a:ext cx="427131" cy="101918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Straight Connector 42">
              <a:extLst>
                <a:ext uri="{FF2B5EF4-FFF2-40B4-BE49-F238E27FC236}">
                  <a16:creationId xmlns:a16="http://schemas.microsoft.com/office/drawing/2014/main" id="{A2DADD14-914A-4642-6EC2-C16A03551068}"/>
                </a:ext>
              </a:extLst>
            </p:cNvPr>
            <p:cNvCxnSpPr>
              <a:cxnSpLocks/>
              <a:stCxn id="3" idx="5"/>
              <a:endCxn id="6" idx="1"/>
            </p:cNvCxnSpPr>
            <p:nvPr/>
          </p:nvCxnSpPr>
          <p:spPr>
            <a:xfrm>
              <a:off x="9876768" y="1996747"/>
              <a:ext cx="785387" cy="70026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Connector 47">
              <a:extLst>
                <a:ext uri="{FF2B5EF4-FFF2-40B4-BE49-F238E27FC236}">
                  <a16:creationId xmlns:a16="http://schemas.microsoft.com/office/drawing/2014/main" id="{5AFA040A-1515-5B98-4953-957DDB1B1754}"/>
                </a:ext>
              </a:extLst>
            </p:cNvPr>
            <p:cNvCxnSpPr>
              <a:cxnSpLocks/>
              <a:stCxn id="2" idx="7"/>
              <a:endCxn id="3" idx="3"/>
            </p:cNvCxnSpPr>
            <p:nvPr/>
          </p:nvCxnSpPr>
          <p:spPr>
            <a:xfrm flipV="1">
              <a:off x="8616797" y="1996747"/>
              <a:ext cx="790885" cy="676189"/>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8" name="Straight Connector 57">
              <a:extLst>
                <a:ext uri="{FF2B5EF4-FFF2-40B4-BE49-F238E27FC236}">
                  <a16:creationId xmlns:a16="http://schemas.microsoft.com/office/drawing/2014/main" id="{4FDA5A03-AB74-E234-6B4F-4C6DDC79D7CC}"/>
                </a:ext>
              </a:extLst>
            </p:cNvPr>
            <p:cNvCxnSpPr>
              <a:cxnSpLocks/>
              <a:endCxn id="5" idx="4"/>
            </p:cNvCxnSpPr>
            <p:nvPr/>
          </p:nvCxnSpPr>
          <p:spPr>
            <a:xfrm flipV="1">
              <a:off x="9306291" y="3194654"/>
              <a:ext cx="149377" cy="413837"/>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6" name="TextBox 65">
              <a:extLst>
                <a:ext uri="{FF2B5EF4-FFF2-40B4-BE49-F238E27FC236}">
                  <a16:creationId xmlns:a16="http://schemas.microsoft.com/office/drawing/2014/main" id="{B6FDCCAC-ED3D-FF11-10B6-E7A7154D7B13}"/>
                </a:ext>
              </a:extLst>
            </p:cNvPr>
            <p:cNvSpPr txBox="1"/>
            <p:nvPr/>
          </p:nvSpPr>
          <p:spPr>
            <a:xfrm>
              <a:off x="7714211" y="3561579"/>
              <a:ext cx="508473" cy="369332"/>
            </a:xfrm>
            <a:prstGeom prst="rect">
              <a:avLst/>
            </a:prstGeom>
            <a:noFill/>
          </p:spPr>
          <p:txBody>
            <a:bodyPr wrap="none" rtlCol="0">
              <a:spAutoFit/>
            </a:bodyPr>
            <a:lstStyle/>
            <a:p>
              <a:r>
                <a:rPr lang="vi-VN" dirty="0"/>
                <a:t>5,1</a:t>
              </a:r>
            </a:p>
          </p:txBody>
        </p:sp>
        <p:sp>
          <p:nvSpPr>
            <p:cNvPr id="67" name="TextBox 66">
              <a:extLst>
                <a:ext uri="{FF2B5EF4-FFF2-40B4-BE49-F238E27FC236}">
                  <a16:creationId xmlns:a16="http://schemas.microsoft.com/office/drawing/2014/main" id="{981E15C5-2844-9163-540C-138C79317BD9}"/>
                </a:ext>
              </a:extLst>
            </p:cNvPr>
            <p:cNvSpPr txBox="1"/>
            <p:nvPr/>
          </p:nvSpPr>
          <p:spPr>
            <a:xfrm>
              <a:off x="8538548" y="4092388"/>
              <a:ext cx="508473" cy="646331"/>
            </a:xfrm>
            <a:prstGeom prst="rect">
              <a:avLst/>
            </a:prstGeom>
            <a:noFill/>
          </p:spPr>
          <p:txBody>
            <a:bodyPr wrap="none" rtlCol="0">
              <a:spAutoFit/>
            </a:bodyPr>
            <a:lstStyle/>
            <a:p>
              <a:r>
                <a:rPr lang="vi-VN" dirty="0"/>
                <a:t>2,5</a:t>
              </a:r>
            </a:p>
            <a:p>
              <a:endParaRPr lang="vi-VN" dirty="0"/>
            </a:p>
          </p:txBody>
        </p:sp>
        <p:sp>
          <p:nvSpPr>
            <p:cNvPr id="68" name="TextBox 67">
              <a:extLst>
                <a:ext uri="{FF2B5EF4-FFF2-40B4-BE49-F238E27FC236}">
                  <a16:creationId xmlns:a16="http://schemas.microsoft.com/office/drawing/2014/main" id="{E1DE1987-D141-3921-1A94-CC5AE9F36C18}"/>
                </a:ext>
              </a:extLst>
            </p:cNvPr>
            <p:cNvSpPr txBox="1"/>
            <p:nvPr/>
          </p:nvSpPr>
          <p:spPr>
            <a:xfrm>
              <a:off x="8416115" y="3336929"/>
              <a:ext cx="508473" cy="646331"/>
            </a:xfrm>
            <a:prstGeom prst="rect">
              <a:avLst/>
            </a:prstGeom>
            <a:noFill/>
          </p:spPr>
          <p:txBody>
            <a:bodyPr wrap="none" rtlCol="0">
              <a:spAutoFit/>
            </a:bodyPr>
            <a:lstStyle/>
            <a:p>
              <a:r>
                <a:rPr lang="vi-VN" dirty="0"/>
                <a:t>2,9</a:t>
              </a:r>
            </a:p>
            <a:p>
              <a:endParaRPr lang="vi-VN" dirty="0"/>
            </a:p>
          </p:txBody>
        </p:sp>
        <p:sp>
          <p:nvSpPr>
            <p:cNvPr id="71" name="TextBox 70">
              <a:extLst>
                <a:ext uri="{FF2B5EF4-FFF2-40B4-BE49-F238E27FC236}">
                  <a16:creationId xmlns:a16="http://schemas.microsoft.com/office/drawing/2014/main" id="{FF24FE4B-4845-468F-37FA-9C5A024DC871}"/>
                </a:ext>
              </a:extLst>
            </p:cNvPr>
            <p:cNvSpPr txBox="1"/>
            <p:nvPr/>
          </p:nvSpPr>
          <p:spPr>
            <a:xfrm>
              <a:off x="8949148" y="3146120"/>
              <a:ext cx="508473" cy="369332"/>
            </a:xfrm>
            <a:prstGeom prst="rect">
              <a:avLst/>
            </a:prstGeom>
            <a:noFill/>
          </p:spPr>
          <p:txBody>
            <a:bodyPr wrap="none" rtlCol="0">
              <a:spAutoFit/>
            </a:bodyPr>
            <a:lstStyle/>
            <a:p>
              <a:r>
                <a:rPr lang="vi-VN" dirty="0"/>
                <a:t>2,1</a:t>
              </a:r>
            </a:p>
          </p:txBody>
        </p:sp>
        <p:sp>
          <p:nvSpPr>
            <p:cNvPr id="72" name="TextBox 71">
              <a:extLst>
                <a:ext uri="{FF2B5EF4-FFF2-40B4-BE49-F238E27FC236}">
                  <a16:creationId xmlns:a16="http://schemas.microsoft.com/office/drawing/2014/main" id="{99CDB2B4-5ECB-A37C-453C-CE6D7F9AD3E0}"/>
                </a:ext>
              </a:extLst>
            </p:cNvPr>
            <p:cNvSpPr txBox="1"/>
            <p:nvPr/>
          </p:nvSpPr>
          <p:spPr>
            <a:xfrm>
              <a:off x="9787362" y="2985794"/>
              <a:ext cx="508473" cy="369332"/>
            </a:xfrm>
            <a:prstGeom prst="rect">
              <a:avLst/>
            </a:prstGeom>
            <a:noFill/>
          </p:spPr>
          <p:txBody>
            <a:bodyPr wrap="none" rtlCol="0">
              <a:spAutoFit/>
            </a:bodyPr>
            <a:lstStyle/>
            <a:p>
              <a:r>
                <a:rPr lang="vi-VN" dirty="0"/>
                <a:t>2,1</a:t>
              </a:r>
            </a:p>
          </p:txBody>
        </p:sp>
        <p:sp>
          <p:nvSpPr>
            <p:cNvPr id="73" name="TextBox 72">
              <a:extLst>
                <a:ext uri="{FF2B5EF4-FFF2-40B4-BE49-F238E27FC236}">
                  <a16:creationId xmlns:a16="http://schemas.microsoft.com/office/drawing/2014/main" id="{0FC142E5-3172-E14E-5AC8-6B55DA3A70B2}"/>
                </a:ext>
              </a:extLst>
            </p:cNvPr>
            <p:cNvSpPr txBox="1"/>
            <p:nvPr/>
          </p:nvSpPr>
          <p:spPr>
            <a:xfrm>
              <a:off x="11120561" y="3505836"/>
              <a:ext cx="311304" cy="369332"/>
            </a:xfrm>
            <a:prstGeom prst="rect">
              <a:avLst/>
            </a:prstGeom>
            <a:noFill/>
          </p:spPr>
          <p:txBody>
            <a:bodyPr wrap="none" rtlCol="0">
              <a:spAutoFit/>
            </a:bodyPr>
            <a:lstStyle/>
            <a:p>
              <a:r>
                <a:rPr lang="vi-VN" dirty="0"/>
                <a:t>6</a:t>
              </a:r>
            </a:p>
          </p:txBody>
        </p:sp>
        <p:sp>
          <p:nvSpPr>
            <p:cNvPr id="74" name="TextBox 73">
              <a:extLst>
                <a:ext uri="{FF2B5EF4-FFF2-40B4-BE49-F238E27FC236}">
                  <a16:creationId xmlns:a16="http://schemas.microsoft.com/office/drawing/2014/main" id="{5218604D-B675-478C-D412-C130278DEF8E}"/>
                </a:ext>
              </a:extLst>
            </p:cNvPr>
            <p:cNvSpPr txBox="1"/>
            <p:nvPr/>
          </p:nvSpPr>
          <p:spPr>
            <a:xfrm>
              <a:off x="10388225" y="4129622"/>
              <a:ext cx="508473" cy="369332"/>
            </a:xfrm>
            <a:prstGeom prst="rect">
              <a:avLst/>
            </a:prstGeom>
            <a:noFill/>
          </p:spPr>
          <p:txBody>
            <a:bodyPr wrap="none" rtlCol="0">
              <a:spAutoFit/>
            </a:bodyPr>
            <a:lstStyle/>
            <a:p>
              <a:r>
                <a:rPr lang="vi-VN" dirty="0"/>
                <a:t>5,3</a:t>
              </a:r>
            </a:p>
          </p:txBody>
        </p:sp>
        <p:sp>
          <p:nvSpPr>
            <p:cNvPr id="76" name="TextBox 75">
              <a:extLst>
                <a:ext uri="{FF2B5EF4-FFF2-40B4-BE49-F238E27FC236}">
                  <a16:creationId xmlns:a16="http://schemas.microsoft.com/office/drawing/2014/main" id="{7402D2EC-88EC-49D5-1328-68AC660B3C81}"/>
                </a:ext>
              </a:extLst>
            </p:cNvPr>
            <p:cNvSpPr txBox="1"/>
            <p:nvPr/>
          </p:nvSpPr>
          <p:spPr>
            <a:xfrm>
              <a:off x="10471740" y="3228832"/>
              <a:ext cx="508473" cy="369332"/>
            </a:xfrm>
            <a:prstGeom prst="rect">
              <a:avLst/>
            </a:prstGeom>
            <a:noFill/>
          </p:spPr>
          <p:txBody>
            <a:bodyPr wrap="none" rtlCol="0">
              <a:spAutoFit/>
            </a:bodyPr>
            <a:lstStyle/>
            <a:p>
              <a:r>
                <a:rPr lang="vi-VN" dirty="0"/>
                <a:t>1,8</a:t>
              </a:r>
            </a:p>
          </p:txBody>
        </p:sp>
        <p:sp>
          <p:nvSpPr>
            <p:cNvPr id="77" name="TextBox 76">
              <a:extLst>
                <a:ext uri="{FF2B5EF4-FFF2-40B4-BE49-F238E27FC236}">
                  <a16:creationId xmlns:a16="http://schemas.microsoft.com/office/drawing/2014/main" id="{3B11A12D-D993-E0A7-A6C4-34DE7DAB7C31}"/>
                </a:ext>
              </a:extLst>
            </p:cNvPr>
            <p:cNvSpPr txBox="1"/>
            <p:nvPr/>
          </p:nvSpPr>
          <p:spPr>
            <a:xfrm>
              <a:off x="10208462" y="2029078"/>
              <a:ext cx="502958" cy="369332"/>
            </a:xfrm>
            <a:prstGeom prst="rect">
              <a:avLst/>
            </a:prstGeom>
            <a:noFill/>
          </p:spPr>
          <p:txBody>
            <a:bodyPr wrap="none" rtlCol="0">
              <a:spAutoFit/>
            </a:bodyPr>
            <a:lstStyle/>
            <a:p>
              <a:r>
                <a:rPr lang="vi-VN" dirty="0"/>
                <a:t>5,7</a:t>
              </a:r>
            </a:p>
          </p:txBody>
        </p:sp>
        <p:sp>
          <p:nvSpPr>
            <p:cNvPr id="78" name="TextBox 77">
              <a:extLst>
                <a:ext uri="{FF2B5EF4-FFF2-40B4-BE49-F238E27FC236}">
                  <a16:creationId xmlns:a16="http://schemas.microsoft.com/office/drawing/2014/main" id="{32E970A2-E523-17CD-1E14-185A071F05D9}"/>
                </a:ext>
              </a:extLst>
            </p:cNvPr>
            <p:cNvSpPr txBox="1"/>
            <p:nvPr/>
          </p:nvSpPr>
          <p:spPr>
            <a:xfrm>
              <a:off x="8652625" y="1922704"/>
              <a:ext cx="508473" cy="369332"/>
            </a:xfrm>
            <a:prstGeom prst="rect">
              <a:avLst/>
            </a:prstGeom>
            <a:noFill/>
          </p:spPr>
          <p:txBody>
            <a:bodyPr wrap="none" rtlCol="0">
              <a:spAutoFit/>
            </a:bodyPr>
            <a:lstStyle/>
            <a:p>
              <a:r>
                <a:rPr lang="vi-VN" dirty="0"/>
                <a:t>5,5</a:t>
              </a:r>
            </a:p>
          </p:txBody>
        </p:sp>
        <p:sp>
          <p:nvSpPr>
            <p:cNvPr id="80" name="TextBox 79">
              <a:extLst>
                <a:ext uri="{FF2B5EF4-FFF2-40B4-BE49-F238E27FC236}">
                  <a16:creationId xmlns:a16="http://schemas.microsoft.com/office/drawing/2014/main" id="{C4CC40BF-6D13-B227-E18D-2234E9968E4A}"/>
                </a:ext>
              </a:extLst>
            </p:cNvPr>
            <p:cNvSpPr txBox="1"/>
            <p:nvPr/>
          </p:nvSpPr>
          <p:spPr>
            <a:xfrm>
              <a:off x="9505260" y="2138996"/>
              <a:ext cx="508473" cy="369332"/>
            </a:xfrm>
            <a:prstGeom prst="rect">
              <a:avLst/>
            </a:prstGeom>
            <a:noFill/>
          </p:spPr>
          <p:txBody>
            <a:bodyPr wrap="none" rtlCol="0">
              <a:spAutoFit/>
            </a:bodyPr>
            <a:lstStyle/>
            <a:p>
              <a:r>
                <a:rPr lang="vi-VN" dirty="0"/>
                <a:t>2,8</a:t>
              </a:r>
            </a:p>
          </p:txBody>
        </p:sp>
      </p:grpSp>
    </p:spTree>
    <p:extLst>
      <p:ext uri="{BB962C8B-B14F-4D97-AF65-F5344CB8AC3E}">
        <p14:creationId xmlns:p14="http://schemas.microsoft.com/office/powerpoint/2010/main" val="3551021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F6B72-40EC-ED53-63CC-2B7ED9A8015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86C9B12-9FCE-E2E0-19CC-427454D84015}"/>
              </a:ext>
            </a:extLst>
          </p:cNvPr>
          <p:cNvSpPr>
            <a:spLocks noGrp="1"/>
          </p:cNvSpPr>
          <p:nvPr>
            <p:ph type="title"/>
          </p:nvPr>
        </p:nvSpPr>
        <p:spPr/>
        <p:txBody>
          <a:bodyPr/>
          <a:lstStyle/>
          <a:p>
            <a:r>
              <a:rPr lang="vi-VN" dirty="0"/>
              <a:t>3. Minh họa</a:t>
            </a:r>
          </a:p>
        </p:txBody>
      </p:sp>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6628BB51-B9F7-249C-08F4-2D0360C3C102}"/>
                  </a:ext>
                </a:extLst>
              </p:cNvPr>
              <p:cNvSpPr>
                <a:spLocks noGrp="1"/>
              </p:cNvSpPr>
              <p:nvPr>
                <p:ph idx="1"/>
              </p:nvPr>
            </p:nvSpPr>
            <p:spPr>
              <a:xfrm>
                <a:off x="581193" y="2340864"/>
                <a:ext cx="5514808" cy="3634486"/>
              </a:xfrm>
            </p:spPr>
            <p:txBody>
              <a:bodyPr anchor="t">
                <a:normAutofit/>
              </a:bodyPr>
              <a:lstStyle/>
              <a:p>
                <a:pPr marL="0" indent="0">
                  <a:buNone/>
                </a:pPr>
                <a:r>
                  <a:rPr lang="vi-VN" b="1" dirty="0"/>
                  <a:t>Bước 3: Phân cụm.</a:t>
                </a:r>
              </a:p>
              <a:p>
                <a:pPr marL="0" indent="0">
                  <a:buNone/>
                </a:pPr>
                <a:r>
                  <a:rPr lang="vi-VN" dirty="0"/>
                  <a:t>Giả sử: </a:t>
                </a:r>
              </a:p>
              <a:p>
                <a:pPr marL="0" indent="0">
                  <a:buNone/>
                </a:pPr>
                <a:r>
                  <a:rPr lang="vi-VN" dirty="0"/>
                  <a:t>Ta có hai đỉnh </a:t>
                </a:r>
                <a14:m>
                  <m:oMath xmlns:m="http://schemas.openxmlformats.org/officeDocument/2006/math">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𝑃</m:t>
                        </m:r>
                      </m:e>
                      <m:sub>
                        <m:r>
                          <a:rPr lang="vi-VN" i="1" dirty="0" smtClean="0">
                            <a:latin typeface="Cambria Math" panose="02040503050406030204" pitchFamily="18" charset="0"/>
                          </a:rPr>
                          <m:t>1</m:t>
                        </m:r>
                      </m:sub>
                    </m:sSub>
                  </m:oMath>
                </a14:m>
                <a:r>
                  <a:rPr lang="vi-VN" dirty="0"/>
                  <a:t>, </a:t>
                </a:r>
                <a14:m>
                  <m:oMath xmlns:m="http://schemas.openxmlformats.org/officeDocument/2006/math">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𝑃</m:t>
                        </m:r>
                      </m:e>
                      <m:sub>
                        <m:r>
                          <a:rPr lang="vi-VN" i="1" dirty="0" smtClean="0">
                            <a:latin typeface="Cambria Math" panose="02040503050406030204" pitchFamily="18" charset="0"/>
                          </a:rPr>
                          <m:t>2</m:t>
                        </m:r>
                      </m:sub>
                    </m:sSub>
                  </m:oMath>
                </a14:m>
                <a:r>
                  <a:rPr lang="vi-VN" dirty="0"/>
                  <a:t> và các điểm A, B, C, D, E đã được phân cụm, F chưa được phân cụm.</a:t>
                </a:r>
              </a:p>
              <a:p>
                <a:pPr marL="0" indent="0">
                  <a:buNone/>
                </a:pPr>
                <a:r>
                  <a:rPr lang="vi-VN" dirty="0"/>
                  <a:t>Tính chi phí dường đi </a:t>
                </a:r>
                <a14:m>
                  <m:oMath xmlns:m="http://schemas.openxmlformats.org/officeDocument/2006/math">
                    <m:sSub>
                      <m:sSubPr>
                        <m:ctrlPr>
                          <a:rPr lang="vi-VN" i="1" dirty="0">
                            <a:latin typeface="Cambria Math" panose="02040503050406030204" pitchFamily="18" charset="0"/>
                          </a:rPr>
                        </m:ctrlPr>
                      </m:sSubPr>
                      <m:e>
                        <m:r>
                          <a:rPr lang="vi-VN" i="1" dirty="0">
                            <a:latin typeface="Cambria Math" panose="02040503050406030204" pitchFamily="18" charset="0"/>
                          </a:rPr>
                          <m:t>𝑃</m:t>
                        </m:r>
                      </m:e>
                      <m:sub>
                        <m:r>
                          <a:rPr lang="vi-VN" i="1" dirty="0">
                            <a:latin typeface="Cambria Math" panose="02040503050406030204" pitchFamily="18" charset="0"/>
                          </a:rPr>
                          <m:t>1</m:t>
                        </m:r>
                      </m:sub>
                    </m:sSub>
                  </m:oMath>
                </a14:m>
                <a:r>
                  <a:rPr lang="vi-VN" dirty="0"/>
                  <a:t> </a:t>
                </a:r>
                <a:r>
                  <a:rPr lang="vi-VN" dirty="0">
                    <a:sym typeface="Wingdings" panose="05000000000000000000" pitchFamily="2" charset="2"/>
                  </a:rPr>
                  <a:t> A  D  F</a:t>
                </a:r>
              </a:p>
              <a:p>
                <a:pPr marL="0" indent="0">
                  <a:buNone/>
                </a:pPr>
                <a:r>
                  <a:rPr lang="vi-VN" dirty="0">
                    <a:sym typeface="Wingdings" panose="05000000000000000000" pitchFamily="2" charset="2"/>
                  </a:rPr>
                  <a:t>= </a:t>
                </a:r>
                <a:r>
                  <a:rPr lang="vi-VN" dirty="0" err="1">
                    <a:sym typeface="Wingdings" panose="05000000000000000000" pitchFamily="2" charset="2"/>
                  </a:rPr>
                  <a:t>Minimax</a:t>
                </a:r>
                <a:r>
                  <a:rPr lang="vi-VN" dirty="0">
                    <a:sym typeface="Wingdings" panose="05000000000000000000" pitchFamily="2" charset="2"/>
                  </a:rPr>
                  <a:t>(</a:t>
                </a:r>
                <a14:m>
                  <m:oMath xmlns:m="http://schemas.openxmlformats.org/officeDocument/2006/math">
                    <m:sSub>
                      <m:sSubPr>
                        <m:ctrlPr>
                          <a:rPr lang="vi-VN" i="1" dirty="0">
                            <a:latin typeface="Cambria Math" panose="02040503050406030204" pitchFamily="18" charset="0"/>
                          </a:rPr>
                        </m:ctrlPr>
                      </m:sSubPr>
                      <m:e>
                        <m:r>
                          <a:rPr lang="vi-VN" i="1" dirty="0">
                            <a:latin typeface="Cambria Math" panose="02040503050406030204" pitchFamily="18" charset="0"/>
                          </a:rPr>
                          <m:t>𝑃</m:t>
                        </m:r>
                      </m:e>
                      <m:sub>
                        <m:r>
                          <a:rPr lang="vi-VN" i="1" dirty="0">
                            <a:latin typeface="Cambria Math" panose="02040503050406030204" pitchFamily="18" charset="0"/>
                          </a:rPr>
                          <m:t>1</m:t>
                        </m:r>
                      </m:sub>
                    </m:sSub>
                  </m:oMath>
                </a14:m>
                <a:r>
                  <a:rPr lang="vi-VN" dirty="0">
                    <a:sym typeface="Wingdings" panose="05000000000000000000" pitchFamily="2" charset="2"/>
                  </a:rPr>
                  <a:t>-A, A-D, D-F)</a:t>
                </a:r>
              </a:p>
              <a:p>
                <a:pPr marL="0" indent="0">
                  <a:buNone/>
                </a:pPr>
                <a:r>
                  <a:rPr lang="vi-VN" dirty="0">
                    <a:sym typeface="Wingdings" panose="05000000000000000000" pitchFamily="2" charset="2"/>
                  </a:rPr>
                  <a:t>= </a:t>
                </a:r>
                <a:r>
                  <a:rPr lang="vi-VN" dirty="0" err="1">
                    <a:sym typeface="Wingdings" panose="05000000000000000000" pitchFamily="2" charset="2"/>
                  </a:rPr>
                  <a:t>Minimax</a:t>
                </a:r>
                <a:r>
                  <a:rPr lang="vi-VN" dirty="0">
                    <a:sym typeface="Wingdings" panose="05000000000000000000" pitchFamily="2" charset="2"/>
                  </a:rPr>
                  <a:t>(2.5, 2.1, 2.8)</a:t>
                </a:r>
              </a:p>
              <a:p>
                <a:pPr marL="0" indent="0">
                  <a:buNone/>
                </a:pPr>
                <a:r>
                  <a:rPr lang="vi-VN" dirty="0">
                    <a:sym typeface="Wingdings" panose="05000000000000000000" pitchFamily="2" charset="2"/>
                  </a:rPr>
                  <a:t>= 2.8.</a:t>
                </a:r>
              </a:p>
            </p:txBody>
          </p:sp>
        </mc:Choice>
        <mc:Fallback xmlns="">
          <p:sp>
            <p:nvSpPr>
              <p:cNvPr id="12" name="Content Placeholder 11">
                <a:extLst>
                  <a:ext uri="{FF2B5EF4-FFF2-40B4-BE49-F238E27FC236}">
                    <a16:creationId xmlns:a16="http://schemas.microsoft.com/office/drawing/2014/main" id="{6628BB51-B9F7-249C-08F4-2D0360C3C102}"/>
                  </a:ext>
                </a:extLst>
              </p:cNvPr>
              <p:cNvSpPr>
                <a:spLocks noGrp="1" noRot="1" noChangeAspect="1" noMove="1" noResize="1" noEditPoints="1" noAdjustHandles="1" noChangeArrowheads="1" noChangeShapeType="1" noTextEdit="1"/>
              </p:cNvSpPr>
              <p:nvPr>
                <p:ph idx="1"/>
              </p:nvPr>
            </p:nvSpPr>
            <p:spPr>
              <a:xfrm>
                <a:off x="581193" y="2340864"/>
                <a:ext cx="5514808" cy="3634486"/>
              </a:xfrm>
              <a:blipFill>
                <a:blip r:embed="rId2"/>
                <a:stretch>
                  <a:fillRect l="-663" t="-336"/>
                </a:stretch>
              </a:blipFill>
            </p:spPr>
            <p:txBody>
              <a:bodyPr/>
              <a:lstStyle/>
              <a:p>
                <a:r>
                  <a:rPr lang="vi-VN">
                    <a:noFill/>
                  </a:rPr>
                  <a:t> </a:t>
                </a:r>
              </a:p>
            </p:txBody>
          </p:sp>
        </mc:Fallback>
      </mc:AlternateContent>
      <p:grpSp>
        <p:nvGrpSpPr>
          <p:cNvPr id="81" name="Group 80">
            <a:extLst>
              <a:ext uri="{FF2B5EF4-FFF2-40B4-BE49-F238E27FC236}">
                <a16:creationId xmlns:a16="http://schemas.microsoft.com/office/drawing/2014/main" id="{C70E5168-4610-82EE-DE57-C070F82C223C}"/>
              </a:ext>
            </a:extLst>
          </p:cNvPr>
          <p:cNvGrpSpPr/>
          <p:nvPr/>
        </p:nvGrpSpPr>
        <p:grpSpPr>
          <a:xfrm>
            <a:off x="6705600" y="1019175"/>
            <a:ext cx="4949923" cy="5226733"/>
            <a:chOff x="7714211" y="1430510"/>
            <a:chExt cx="3941312" cy="4815398"/>
          </a:xfrm>
        </p:grpSpPr>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DE335E8-131B-1FD6-16B2-EF9BDB511064}"/>
                    </a:ext>
                  </a:extLst>
                </p:cNvPr>
                <p:cNvSpPr txBox="1"/>
                <p:nvPr/>
              </p:nvSpPr>
              <p:spPr>
                <a:xfrm>
                  <a:off x="10757760" y="5275919"/>
                  <a:ext cx="51845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vi-VN" dirty="0">
                            <a:latin typeface="Cambria Math" panose="02040503050406030204" pitchFamily="18" charset="0"/>
                          </a:rPr>
                          <m:t>Γ</m:t>
                        </m:r>
                      </m:oMath>
                    </m:oMathPara>
                  </a14:m>
                  <a:endParaRPr lang="vi-VN" dirty="0"/>
                </a:p>
              </p:txBody>
            </p:sp>
          </mc:Choice>
          <mc:Fallback xmlns="">
            <p:sp>
              <p:nvSpPr>
                <p:cNvPr id="31" name="TextBox 30">
                  <a:extLst>
                    <a:ext uri="{FF2B5EF4-FFF2-40B4-BE49-F238E27FC236}">
                      <a16:creationId xmlns:a16="http://schemas.microsoft.com/office/drawing/2014/main" id="{CDE335E8-131B-1FD6-16B2-EF9BDB511064}"/>
                    </a:ext>
                  </a:extLst>
                </p:cNvPr>
                <p:cNvSpPr txBox="1">
                  <a:spLocks noRot="1" noChangeAspect="1" noMove="1" noResize="1" noEditPoints="1" noAdjustHandles="1" noChangeArrowheads="1" noChangeShapeType="1" noTextEdit="1"/>
                </p:cNvSpPr>
                <p:nvPr/>
              </p:nvSpPr>
              <p:spPr>
                <a:xfrm>
                  <a:off x="10757760" y="5275919"/>
                  <a:ext cx="518453" cy="369332"/>
                </a:xfrm>
                <a:prstGeom prst="rect">
                  <a:avLst/>
                </a:prstGeom>
                <a:blipFill>
                  <a:blip r:embed="rId3"/>
                  <a:stretch>
                    <a:fillRect/>
                  </a:stretch>
                </a:blipFill>
              </p:spPr>
              <p:txBody>
                <a:bodyPr/>
                <a:lstStyle/>
                <a:p>
                  <a:r>
                    <a:rPr lang="vi-VN">
                      <a:noFill/>
                    </a:rPr>
                    <a:t> </a:t>
                  </a:r>
                </a:p>
              </p:txBody>
            </p:sp>
          </mc:Fallback>
        </mc:AlternateContent>
        <p:sp>
          <p:nvSpPr>
            <p:cNvPr id="37" name="Oval 36">
              <a:extLst>
                <a:ext uri="{FF2B5EF4-FFF2-40B4-BE49-F238E27FC236}">
                  <a16:creationId xmlns:a16="http://schemas.microsoft.com/office/drawing/2014/main" id="{D8346556-F7E6-1BB3-7C0D-F6F9DC6ACAEB}"/>
                </a:ext>
              </a:extLst>
            </p:cNvPr>
            <p:cNvSpPr/>
            <p:nvPr/>
          </p:nvSpPr>
          <p:spPr>
            <a:xfrm>
              <a:off x="9901616" y="3429000"/>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endParaRPr lang="vi-VN" dirty="0"/>
            </a:p>
          </p:txBody>
        </p:sp>
        <mc:AlternateContent xmlns:mc="http://schemas.openxmlformats.org/markup-compatibility/2006" xmlns:a14="http://schemas.microsoft.com/office/drawing/2010/main">
          <mc:Choice Requires="a14">
            <p:sp>
              <p:nvSpPr>
                <p:cNvPr id="39" name="Oval 38">
                  <a:extLst>
                    <a:ext uri="{FF2B5EF4-FFF2-40B4-BE49-F238E27FC236}">
                      <a16:creationId xmlns:a16="http://schemas.microsoft.com/office/drawing/2014/main" id="{4EF9E105-D254-2C07-5675-E964B13A553D}"/>
                    </a:ext>
                  </a:extLst>
                </p:cNvPr>
                <p:cNvSpPr/>
                <p:nvPr/>
              </p:nvSpPr>
              <p:spPr>
                <a:xfrm>
                  <a:off x="10992135" y="4282432"/>
                  <a:ext cx="663388" cy="663388"/>
                </a:xfrm>
                <a:prstGeom prst="ellipse">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vi-VN" i="1" dirty="0">
                                <a:latin typeface="Cambria Math" panose="02040503050406030204" pitchFamily="18" charset="0"/>
                              </a:rPr>
                            </m:ctrlPr>
                          </m:sSubPr>
                          <m:e>
                            <m:r>
                              <a:rPr lang="vi-VN" i="1" dirty="0">
                                <a:latin typeface="Cambria Math" panose="02040503050406030204" pitchFamily="18" charset="0"/>
                              </a:rPr>
                              <m:t>𝑃</m:t>
                            </m:r>
                          </m:e>
                          <m:sub>
                            <m:r>
                              <a:rPr lang="vi-VN" i="1" dirty="0">
                                <a:latin typeface="Cambria Math" panose="02040503050406030204" pitchFamily="18" charset="0"/>
                              </a:rPr>
                              <m:t>2</m:t>
                            </m:r>
                          </m:sub>
                        </m:sSub>
                      </m:oMath>
                    </m:oMathPara>
                  </a14:m>
                  <a:endParaRPr lang="vi-VN" dirty="0"/>
                </a:p>
              </p:txBody>
            </p:sp>
          </mc:Choice>
          <mc:Fallback xmlns="">
            <p:sp>
              <p:nvSpPr>
                <p:cNvPr id="39" name="Oval 38">
                  <a:extLst>
                    <a:ext uri="{FF2B5EF4-FFF2-40B4-BE49-F238E27FC236}">
                      <a16:creationId xmlns:a16="http://schemas.microsoft.com/office/drawing/2014/main" id="{4EF9E105-D254-2C07-5675-E964B13A553D}"/>
                    </a:ext>
                  </a:extLst>
                </p:cNvPr>
                <p:cNvSpPr>
                  <a:spLocks noRot="1" noChangeAspect="1" noMove="1" noResize="1" noEditPoints="1" noAdjustHandles="1" noChangeArrowheads="1" noChangeShapeType="1" noTextEdit="1"/>
                </p:cNvSpPr>
                <p:nvPr/>
              </p:nvSpPr>
              <p:spPr>
                <a:xfrm>
                  <a:off x="10992135" y="4282432"/>
                  <a:ext cx="663388" cy="663388"/>
                </a:xfrm>
                <a:prstGeom prst="ellipse">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0" name="Oval 39">
                  <a:extLst>
                    <a:ext uri="{FF2B5EF4-FFF2-40B4-BE49-F238E27FC236}">
                      <a16:creationId xmlns:a16="http://schemas.microsoft.com/office/drawing/2014/main" id="{B6B611AA-6D9C-D954-53BC-BD994CF7B485}"/>
                    </a:ext>
                  </a:extLst>
                </p:cNvPr>
                <p:cNvSpPr/>
                <p:nvPr/>
              </p:nvSpPr>
              <p:spPr>
                <a:xfrm>
                  <a:off x="7924266" y="4158107"/>
                  <a:ext cx="663388" cy="663388"/>
                </a:xfrm>
                <a:prstGeom prst="ellipse">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vi-VN" i="1" dirty="0">
                                <a:latin typeface="Cambria Math" panose="02040503050406030204" pitchFamily="18" charset="0"/>
                              </a:rPr>
                            </m:ctrlPr>
                          </m:sSubPr>
                          <m:e>
                            <m:r>
                              <a:rPr lang="vi-VN" i="1" dirty="0">
                                <a:latin typeface="Cambria Math" panose="02040503050406030204" pitchFamily="18" charset="0"/>
                              </a:rPr>
                              <m:t>𝑃</m:t>
                            </m:r>
                          </m:e>
                          <m:sub>
                            <m:r>
                              <a:rPr lang="vi-VN" i="1" dirty="0">
                                <a:latin typeface="Cambria Math" panose="02040503050406030204" pitchFamily="18" charset="0"/>
                              </a:rPr>
                              <m:t>1</m:t>
                            </m:r>
                          </m:sub>
                        </m:sSub>
                      </m:oMath>
                    </m:oMathPara>
                  </a14:m>
                  <a:endParaRPr lang="vi-VN" dirty="0"/>
                </a:p>
              </p:txBody>
            </p:sp>
          </mc:Choice>
          <mc:Fallback xmlns="">
            <p:sp>
              <p:nvSpPr>
                <p:cNvPr id="40" name="Oval 39">
                  <a:extLst>
                    <a:ext uri="{FF2B5EF4-FFF2-40B4-BE49-F238E27FC236}">
                      <a16:creationId xmlns:a16="http://schemas.microsoft.com/office/drawing/2014/main" id="{B6B611AA-6D9C-D954-53BC-BD994CF7B485}"/>
                    </a:ext>
                  </a:extLst>
                </p:cNvPr>
                <p:cNvSpPr>
                  <a:spLocks noRot="1" noChangeAspect="1" noMove="1" noResize="1" noEditPoints="1" noAdjustHandles="1" noChangeArrowheads="1" noChangeShapeType="1" noTextEdit="1"/>
                </p:cNvSpPr>
                <p:nvPr/>
              </p:nvSpPr>
              <p:spPr>
                <a:xfrm>
                  <a:off x="7924266" y="4158107"/>
                  <a:ext cx="663388" cy="663388"/>
                </a:xfrm>
                <a:prstGeom prst="ellipse">
                  <a:avLst/>
                </a:prstGeom>
                <a:blipFill>
                  <a:blip r:embed="rId5"/>
                  <a:stretch>
                    <a:fillRect/>
                  </a:stretch>
                </a:blipFill>
              </p:spPr>
              <p:txBody>
                <a:bodyPr/>
                <a:lstStyle/>
                <a:p>
                  <a:r>
                    <a:rPr lang="vi-VN">
                      <a:noFill/>
                    </a:rPr>
                    <a:t> </a:t>
                  </a:r>
                </a:p>
              </p:txBody>
            </p:sp>
          </mc:Fallback>
        </mc:AlternateContent>
        <p:sp>
          <p:nvSpPr>
            <p:cNvPr id="51" name="Oval 50">
              <a:extLst>
                <a:ext uri="{FF2B5EF4-FFF2-40B4-BE49-F238E27FC236}">
                  <a16:creationId xmlns:a16="http://schemas.microsoft.com/office/drawing/2014/main" id="{A69B6115-8873-6553-D9E8-9DFEB0BD3FCE}"/>
                </a:ext>
              </a:extLst>
            </p:cNvPr>
            <p:cNvSpPr/>
            <p:nvPr/>
          </p:nvSpPr>
          <p:spPr>
            <a:xfrm>
              <a:off x="9787362" y="5582520"/>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a:t>
              </a:r>
              <a:endParaRPr lang="vi-VN" dirty="0"/>
            </a:p>
          </p:txBody>
        </p:sp>
        <p:cxnSp>
          <p:nvCxnSpPr>
            <p:cNvPr id="52" name="Straight Connector 51">
              <a:extLst>
                <a:ext uri="{FF2B5EF4-FFF2-40B4-BE49-F238E27FC236}">
                  <a16:creationId xmlns:a16="http://schemas.microsoft.com/office/drawing/2014/main" id="{47CF3D29-29D2-17BA-2C71-1CBACBA4C5CD}"/>
                </a:ext>
              </a:extLst>
            </p:cNvPr>
            <p:cNvCxnSpPr>
              <a:cxnSpLocks/>
              <a:stCxn id="39" idx="3"/>
              <a:endCxn id="51" idx="7"/>
            </p:cNvCxnSpPr>
            <p:nvPr/>
          </p:nvCxnSpPr>
          <p:spPr>
            <a:xfrm flipH="1">
              <a:off x="10353599" y="4848669"/>
              <a:ext cx="735687" cy="83100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 name="Straight Connector 3">
              <a:extLst>
                <a:ext uri="{FF2B5EF4-FFF2-40B4-BE49-F238E27FC236}">
                  <a16:creationId xmlns:a16="http://schemas.microsoft.com/office/drawing/2014/main" id="{E8BE5AB9-5C99-9CFB-6AF3-0D033716BC1F}"/>
                </a:ext>
              </a:extLst>
            </p:cNvPr>
            <p:cNvCxnSpPr>
              <a:cxnSpLocks/>
              <a:stCxn id="51" idx="1"/>
              <a:endCxn id="40" idx="5"/>
            </p:cNvCxnSpPr>
            <p:nvPr/>
          </p:nvCxnSpPr>
          <p:spPr>
            <a:xfrm flipH="1" flipV="1">
              <a:off x="8490503" y="4724344"/>
              <a:ext cx="1394010" cy="955327"/>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Oval 1">
              <a:extLst>
                <a:ext uri="{FF2B5EF4-FFF2-40B4-BE49-F238E27FC236}">
                  <a16:creationId xmlns:a16="http://schemas.microsoft.com/office/drawing/2014/main" id="{AE265EF3-F87E-BB8A-8797-64AF95CC4024}"/>
                </a:ext>
              </a:extLst>
            </p:cNvPr>
            <p:cNvSpPr/>
            <p:nvPr/>
          </p:nvSpPr>
          <p:spPr>
            <a:xfrm>
              <a:off x="8050560" y="2575785"/>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endParaRPr lang="vi-VN" dirty="0"/>
            </a:p>
          </p:txBody>
        </p:sp>
        <p:sp>
          <p:nvSpPr>
            <p:cNvPr id="3" name="Oval 2">
              <a:extLst>
                <a:ext uri="{FF2B5EF4-FFF2-40B4-BE49-F238E27FC236}">
                  <a16:creationId xmlns:a16="http://schemas.microsoft.com/office/drawing/2014/main" id="{6F0ACB6D-A917-4491-A2B0-D56959BB804F}"/>
                </a:ext>
              </a:extLst>
            </p:cNvPr>
            <p:cNvSpPr/>
            <p:nvPr/>
          </p:nvSpPr>
          <p:spPr>
            <a:xfrm>
              <a:off x="9310531" y="1430510"/>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endParaRPr lang="vi-VN" dirty="0"/>
            </a:p>
          </p:txBody>
        </p:sp>
        <p:sp>
          <p:nvSpPr>
            <p:cNvPr id="5" name="Oval 4">
              <a:extLst>
                <a:ext uri="{FF2B5EF4-FFF2-40B4-BE49-F238E27FC236}">
                  <a16:creationId xmlns:a16="http://schemas.microsoft.com/office/drawing/2014/main" id="{92BA290A-0D17-342F-5F01-0D0058001114}"/>
                </a:ext>
              </a:extLst>
            </p:cNvPr>
            <p:cNvSpPr/>
            <p:nvPr/>
          </p:nvSpPr>
          <p:spPr>
            <a:xfrm>
              <a:off x="9123974" y="253126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endParaRPr lang="vi-VN" dirty="0"/>
            </a:p>
          </p:txBody>
        </p:sp>
        <p:sp>
          <p:nvSpPr>
            <p:cNvPr id="6" name="Oval 5">
              <a:extLst>
                <a:ext uri="{FF2B5EF4-FFF2-40B4-BE49-F238E27FC236}">
                  <a16:creationId xmlns:a16="http://schemas.microsoft.com/office/drawing/2014/main" id="{26544319-E7DC-5599-ECDD-C413E397A964}"/>
                </a:ext>
              </a:extLst>
            </p:cNvPr>
            <p:cNvSpPr/>
            <p:nvPr/>
          </p:nvSpPr>
          <p:spPr>
            <a:xfrm>
              <a:off x="10565004" y="259986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endParaRPr lang="vi-VN" dirty="0"/>
            </a:p>
          </p:txBody>
        </p:sp>
        <p:sp>
          <p:nvSpPr>
            <p:cNvPr id="9" name="Oval 8">
              <a:extLst>
                <a:ext uri="{FF2B5EF4-FFF2-40B4-BE49-F238E27FC236}">
                  <a16:creationId xmlns:a16="http://schemas.microsoft.com/office/drawing/2014/main" id="{B25AC0D0-263B-95BF-4C78-F7DC00E56440}"/>
                </a:ext>
              </a:extLst>
            </p:cNvPr>
            <p:cNvSpPr/>
            <p:nvPr/>
          </p:nvSpPr>
          <p:spPr>
            <a:xfrm>
              <a:off x="8855814" y="3561579"/>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endParaRPr lang="vi-VN" dirty="0"/>
            </a:p>
          </p:txBody>
        </p:sp>
        <p:cxnSp>
          <p:nvCxnSpPr>
            <p:cNvPr id="13" name="Straight Connector 12">
              <a:extLst>
                <a:ext uri="{FF2B5EF4-FFF2-40B4-BE49-F238E27FC236}">
                  <a16:creationId xmlns:a16="http://schemas.microsoft.com/office/drawing/2014/main" id="{5969767B-08AB-8471-EB64-A5A2B93B5B2C}"/>
                </a:ext>
              </a:extLst>
            </p:cNvPr>
            <p:cNvCxnSpPr>
              <a:cxnSpLocks/>
              <a:stCxn id="39" idx="1"/>
              <a:endCxn id="37" idx="5"/>
            </p:cNvCxnSpPr>
            <p:nvPr/>
          </p:nvCxnSpPr>
          <p:spPr>
            <a:xfrm flipH="1" flipV="1">
              <a:off x="10467853" y="3995237"/>
              <a:ext cx="621433" cy="384346"/>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Connector 15">
              <a:extLst>
                <a:ext uri="{FF2B5EF4-FFF2-40B4-BE49-F238E27FC236}">
                  <a16:creationId xmlns:a16="http://schemas.microsoft.com/office/drawing/2014/main" id="{6723EF99-9B4D-ED75-A43D-76B0B9AE27AC}"/>
                </a:ext>
              </a:extLst>
            </p:cNvPr>
            <p:cNvCxnSpPr>
              <a:cxnSpLocks/>
              <a:stCxn id="40" idx="7"/>
              <a:endCxn id="9" idx="2"/>
            </p:cNvCxnSpPr>
            <p:nvPr/>
          </p:nvCxnSpPr>
          <p:spPr>
            <a:xfrm flipV="1">
              <a:off x="8490503" y="3893273"/>
              <a:ext cx="365311" cy="361985"/>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Straight Connector 18">
              <a:extLst>
                <a:ext uri="{FF2B5EF4-FFF2-40B4-BE49-F238E27FC236}">
                  <a16:creationId xmlns:a16="http://schemas.microsoft.com/office/drawing/2014/main" id="{F326740D-9296-A3A3-792A-449BFD92A5CF}"/>
                </a:ext>
              </a:extLst>
            </p:cNvPr>
            <p:cNvCxnSpPr>
              <a:cxnSpLocks/>
              <a:stCxn id="2" idx="5"/>
              <a:endCxn id="9" idx="1"/>
            </p:cNvCxnSpPr>
            <p:nvPr/>
          </p:nvCxnSpPr>
          <p:spPr>
            <a:xfrm>
              <a:off x="8616797" y="3142022"/>
              <a:ext cx="336168" cy="51670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2" name="Straight Connector 21">
              <a:extLst>
                <a:ext uri="{FF2B5EF4-FFF2-40B4-BE49-F238E27FC236}">
                  <a16:creationId xmlns:a16="http://schemas.microsoft.com/office/drawing/2014/main" id="{BAC08A1A-9CFB-CB98-DBC7-F0E5135367DC}"/>
                </a:ext>
              </a:extLst>
            </p:cNvPr>
            <p:cNvCxnSpPr>
              <a:cxnSpLocks/>
              <a:stCxn id="5" idx="5"/>
              <a:endCxn id="37" idx="1"/>
            </p:cNvCxnSpPr>
            <p:nvPr/>
          </p:nvCxnSpPr>
          <p:spPr>
            <a:xfrm>
              <a:off x="9690211" y="3097503"/>
              <a:ext cx="308556" cy="42864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Straight Connector 24">
              <a:extLst>
                <a:ext uri="{FF2B5EF4-FFF2-40B4-BE49-F238E27FC236}">
                  <a16:creationId xmlns:a16="http://schemas.microsoft.com/office/drawing/2014/main" id="{F7FCC72E-ACBD-ECA7-AC00-3C23DAB00DB9}"/>
                </a:ext>
              </a:extLst>
            </p:cNvPr>
            <p:cNvCxnSpPr>
              <a:cxnSpLocks/>
              <a:stCxn id="6" idx="3"/>
              <a:endCxn id="37" idx="7"/>
            </p:cNvCxnSpPr>
            <p:nvPr/>
          </p:nvCxnSpPr>
          <p:spPr>
            <a:xfrm flipH="1">
              <a:off x="10467853" y="3166101"/>
              <a:ext cx="194302" cy="36005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Straight Connector 28">
              <a:extLst>
                <a:ext uri="{FF2B5EF4-FFF2-40B4-BE49-F238E27FC236}">
                  <a16:creationId xmlns:a16="http://schemas.microsoft.com/office/drawing/2014/main" id="{BDCC2BF8-4A0F-F251-F736-5A0A56DCEC11}"/>
                </a:ext>
              </a:extLst>
            </p:cNvPr>
            <p:cNvCxnSpPr>
              <a:cxnSpLocks/>
              <a:stCxn id="3" idx="4"/>
              <a:endCxn id="5" idx="0"/>
            </p:cNvCxnSpPr>
            <p:nvPr/>
          </p:nvCxnSpPr>
          <p:spPr>
            <a:xfrm flipH="1">
              <a:off x="9455668" y="2093898"/>
              <a:ext cx="186557" cy="437368"/>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Straight Connector 32">
              <a:extLst>
                <a:ext uri="{FF2B5EF4-FFF2-40B4-BE49-F238E27FC236}">
                  <a16:creationId xmlns:a16="http://schemas.microsoft.com/office/drawing/2014/main" id="{7DDA25AD-3A26-D14E-D92F-D83CF001340E}"/>
                </a:ext>
              </a:extLst>
            </p:cNvPr>
            <p:cNvCxnSpPr>
              <a:cxnSpLocks/>
              <a:stCxn id="40" idx="0"/>
              <a:endCxn id="2" idx="4"/>
            </p:cNvCxnSpPr>
            <p:nvPr/>
          </p:nvCxnSpPr>
          <p:spPr>
            <a:xfrm flipV="1">
              <a:off x="8255960" y="3239173"/>
              <a:ext cx="126294" cy="918934"/>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8" name="Straight Connector 37">
              <a:extLst>
                <a:ext uri="{FF2B5EF4-FFF2-40B4-BE49-F238E27FC236}">
                  <a16:creationId xmlns:a16="http://schemas.microsoft.com/office/drawing/2014/main" id="{CB6B262B-A974-97C6-1847-E904427817C6}"/>
                </a:ext>
              </a:extLst>
            </p:cNvPr>
            <p:cNvCxnSpPr>
              <a:cxnSpLocks/>
              <a:stCxn id="39" idx="0"/>
              <a:endCxn id="6" idx="4"/>
            </p:cNvCxnSpPr>
            <p:nvPr/>
          </p:nvCxnSpPr>
          <p:spPr>
            <a:xfrm flipH="1" flipV="1">
              <a:off x="10896698" y="3263252"/>
              <a:ext cx="427131" cy="101918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Straight Connector 42">
              <a:extLst>
                <a:ext uri="{FF2B5EF4-FFF2-40B4-BE49-F238E27FC236}">
                  <a16:creationId xmlns:a16="http://schemas.microsoft.com/office/drawing/2014/main" id="{8CEF762C-CA57-F94E-F2F2-3DADF3135142}"/>
                </a:ext>
              </a:extLst>
            </p:cNvPr>
            <p:cNvCxnSpPr>
              <a:cxnSpLocks/>
              <a:stCxn id="3" idx="5"/>
              <a:endCxn id="6" idx="1"/>
            </p:cNvCxnSpPr>
            <p:nvPr/>
          </p:nvCxnSpPr>
          <p:spPr>
            <a:xfrm>
              <a:off x="9876768" y="1996747"/>
              <a:ext cx="785387" cy="70026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Connector 47">
              <a:extLst>
                <a:ext uri="{FF2B5EF4-FFF2-40B4-BE49-F238E27FC236}">
                  <a16:creationId xmlns:a16="http://schemas.microsoft.com/office/drawing/2014/main" id="{B3236AF2-F99A-82D3-48C8-1173F4AAB6C7}"/>
                </a:ext>
              </a:extLst>
            </p:cNvPr>
            <p:cNvCxnSpPr>
              <a:cxnSpLocks/>
              <a:stCxn id="2" idx="7"/>
              <a:endCxn id="3" idx="3"/>
            </p:cNvCxnSpPr>
            <p:nvPr/>
          </p:nvCxnSpPr>
          <p:spPr>
            <a:xfrm flipV="1">
              <a:off x="8616797" y="1996747"/>
              <a:ext cx="790885" cy="676189"/>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8" name="Straight Connector 57">
              <a:extLst>
                <a:ext uri="{FF2B5EF4-FFF2-40B4-BE49-F238E27FC236}">
                  <a16:creationId xmlns:a16="http://schemas.microsoft.com/office/drawing/2014/main" id="{3FEFEF43-7E7C-9247-7274-4A8596776789}"/>
                </a:ext>
              </a:extLst>
            </p:cNvPr>
            <p:cNvCxnSpPr>
              <a:cxnSpLocks/>
              <a:endCxn id="5" idx="4"/>
            </p:cNvCxnSpPr>
            <p:nvPr/>
          </p:nvCxnSpPr>
          <p:spPr>
            <a:xfrm flipV="1">
              <a:off x="9306291" y="3194654"/>
              <a:ext cx="149377" cy="413837"/>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6" name="TextBox 65">
              <a:extLst>
                <a:ext uri="{FF2B5EF4-FFF2-40B4-BE49-F238E27FC236}">
                  <a16:creationId xmlns:a16="http://schemas.microsoft.com/office/drawing/2014/main" id="{170D3B26-89FA-09FA-36F1-AB83BFD1A71C}"/>
                </a:ext>
              </a:extLst>
            </p:cNvPr>
            <p:cNvSpPr txBox="1"/>
            <p:nvPr/>
          </p:nvSpPr>
          <p:spPr>
            <a:xfrm>
              <a:off x="7714211" y="3561579"/>
              <a:ext cx="508473" cy="369332"/>
            </a:xfrm>
            <a:prstGeom prst="rect">
              <a:avLst/>
            </a:prstGeom>
            <a:noFill/>
          </p:spPr>
          <p:txBody>
            <a:bodyPr wrap="none" rtlCol="0">
              <a:spAutoFit/>
            </a:bodyPr>
            <a:lstStyle/>
            <a:p>
              <a:r>
                <a:rPr lang="vi-VN" dirty="0"/>
                <a:t>5,1</a:t>
              </a:r>
            </a:p>
          </p:txBody>
        </p:sp>
        <p:sp>
          <p:nvSpPr>
            <p:cNvPr id="67" name="TextBox 66">
              <a:extLst>
                <a:ext uri="{FF2B5EF4-FFF2-40B4-BE49-F238E27FC236}">
                  <a16:creationId xmlns:a16="http://schemas.microsoft.com/office/drawing/2014/main" id="{2C4E6DE7-01D6-A669-B032-5A58803B05B7}"/>
                </a:ext>
              </a:extLst>
            </p:cNvPr>
            <p:cNvSpPr txBox="1"/>
            <p:nvPr/>
          </p:nvSpPr>
          <p:spPr>
            <a:xfrm>
              <a:off x="8538548" y="4092388"/>
              <a:ext cx="508473" cy="646331"/>
            </a:xfrm>
            <a:prstGeom prst="rect">
              <a:avLst/>
            </a:prstGeom>
            <a:noFill/>
          </p:spPr>
          <p:txBody>
            <a:bodyPr wrap="none" rtlCol="0">
              <a:spAutoFit/>
            </a:bodyPr>
            <a:lstStyle/>
            <a:p>
              <a:r>
                <a:rPr lang="vi-VN" dirty="0"/>
                <a:t>2,5</a:t>
              </a:r>
            </a:p>
            <a:p>
              <a:endParaRPr lang="vi-VN" dirty="0"/>
            </a:p>
          </p:txBody>
        </p:sp>
        <p:sp>
          <p:nvSpPr>
            <p:cNvPr id="68" name="TextBox 67">
              <a:extLst>
                <a:ext uri="{FF2B5EF4-FFF2-40B4-BE49-F238E27FC236}">
                  <a16:creationId xmlns:a16="http://schemas.microsoft.com/office/drawing/2014/main" id="{6BBF0EDB-1705-12CF-48B5-55D666834486}"/>
                </a:ext>
              </a:extLst>
            </p:cNvPr>
            <p:cNvSpPr txBox="1"/>
            <p:nvPr/>
          </p:nvSpPr>
          <p:spPr>
            <a:xfrm>
              <a:off x="8416115" y="3336929"/>
              <a:ext cx="508473" cy="646331"/>
            </a:xfrm>
            <a:prstGeom prst="rect">
              <a:avLst/>
            </a:prstGeom>
            <a:noFill/>
          </p:spPr>
          <p:txBody>
            <a:bodyPr wrap="none" rtlCol="0">
              <a:spAutoFit/>
            </a:bodyPr>
            <a:lstStyle/>
            <a:p>
              <a:r>
                <a:rPr lang="vi-VN" dirty="0"/>
                <a:t>2,9</a:t>
              </a:r>
            </a:p>
            <a:p>
              <a:endParaRPr lang="vi-VN" dirty="0"/>
            </a:p>
          </p:txBody>
        </p:sp>
        <p:sp>
          <p:nvSpPr>
            <p:cNvPr id="71" name="TextBox 70">
              <a:extLst>
                <a:ext uri="{FF2B5EF4-FFF2-40B4-BE49-F238E27FC236}">
                  <a16:creationId xmlns:a16="http://schemas.microsoft.com/office/drawing/2014/main" id="{5FAA4DC5-1FCB-E5F4-8FC9-96C46E28744C}"/>
                </a:ext>
              </a:extLst>
            </p:cNvPr>
            <p:cNvSpPr txBox="1"/>
            <p:nvPr/>
          </p:nvSpPr>
          <p:spPr>
            <a:xfrm>
              <a:off x="8949148" y="3146120"/>
              <a:ext cx="508473" cy="369332"/>
            </a:xfrm>
            <a:prstGeom prst="rect">
              <a:avLst/>
            </a:prstGeom>
            <a:noFill/>
          </p:spPr>
          <p:txBody>
            <a:bodyPr wrap="none" rtlCol="0">
              <a:spAutoFit/>
            </a:bodyPr>
            <a:lstStyle/>
            <a:p>
              <a:r>
                <a:rPr lang="vi-VN" dirty="0"/>
                <a:t>2,1</a:t>
              </a:r>
            </a:p>
          </p:txBody>
        </p:sp>
        <p:sp>
          <p:nvSpPr>
            <p:cNvPr id="72" name="TextBox 71">
              <a:extLst>
                <a:ext uri="{FF2B5EF4-FFF2-40B4-BE49-F238E27FC236}">
                  <a16:creationId xmlns:a16="http://schemas.microsoft.com/office/drawing/2014/main" id="{661C1753-172A-D2B8-CBBC-0354708CEFDD}"/>
                </a:ext>
              </a:extLst>
            </p:cNvPr>
            <p:cNvSpPr txBox="1"/>
            <p:nvPr/>
          </p:nvSpPr>
          <p:spPr>
            <a:xfrm>
              <a:off x="9787362" y="2985794"/>
              <a:ext cx="508473" cy="369332"/>
            </a:xfrm>
            <a:prstGeom prst="rect">
              <a:avLst/>
            </a:prstGeom>
            <a:noFill/>
          </p:spPr>
          <p:txBody>
            <a:bodyPr wrap="none" rtlCol="0">
              <a:spAutoFit/>
            </a:bodyPr>
            <a:lstStyle/>
            <a:p>
              <a:r>
                <a:rPr lang="vi-VN" dirty="0"/>
                <a:t>2,1</a:t>
              </a:r>
            </a:p>
          </p:txBody>
        </p:sp>
        <p:sp>
          <p:nvSpPr>
            <p:cNvPr id="73" name="TextBox 72">
              <a:extLst>
                <a:ext uri="{FF2B5EF4-FFF2-40B4-BE49-F238E27FC236}">
                  <a16:creationId xmlns:a16="http://schemas.microsoft.com/office/drawing/2014/main" id="{B501CB4B-6C1D-438C-A273-6EB4ADB96FC6}"/>
                </a:ext>
              </a:extLst>
            </p:cNvPr>
            <p:cNvSpPr txBox="1"/>
            <p:nvPr/>
          </p:nvSpPr>
          <p:spPr>
            <a:xfrm>
              <a:off x="11120561" y="3505836"/>
              <a:ext cx="311304" cy="369332"/>
            </a:xfrm>
            <a:prstGeom prst="rect">
              <a:avLst/>
            </a:prstGeom>
            <a:noFill/>
          </p:spPr>
          <p:txBody>
            <a:bodyPr wrap="none" rtlCol="0">
              <a:spAutoFit/>
            </a:bodyPr>
            <a:lstStyle/>
            <a:p>
              <a:r>
                <a:rPr lang="vi-VN" dirty="0"/>
                <a:t>6</a:t>
              </a:r>
            </a:p>
          </p:txBody>
        </p:sp>
        <p:sp>
          <p:nvSpPr>
            <p:cNvPr id="74" name="TextBox 73">
              <a:extLst>
                <a:ext uri="{FF2B5EF4-FFF2-40B4-BE49-F238E27FC236}">
                  <a16:creationId xmlns:a16="http://schemas.microsoft.com/office/drawing/2014/main" id="{3985B1AC-11C3-0CE9-C406-BB6D18A813CE}"/>
                </a:ext>
              </a:extLst>
            </p:cNvPr>
            <p:cNvSpPr txBox="1"/>
            <p:nvPr/>
          </p:nvSpPr>
          <p:spPr>
            <a:xfrm>
              <a:off x="10388225" y="4129622"/>
              <a:ext cx="508473" cy="369332"/>
            </a:xfrm>
            <a:prstGeom prst="rect">
              <a:avLst/>
            </a:prstGeom>
            <a:noFill/>
          </p:spPr>
          <p:txBody>
            <a:bodyPr wrap="none" rtlCol="0">
              <a:spAutoFit/>
            </a:bodyPr>
            <a:lstStyle/>
            <a:p>
              <a:r>
                <a:rPr lang="vi-VN" dirty="0"/>
                <a:t>5,3</a:t>
              </a:r>
            </a:p>
          </p:txBody>
        </p:sp>
        <p:sp>
          <p:nvSpPr>
            <p:cNvPr id="76" name="TextBox 75">
              <a:extLst>
                <a:ext uri="{FF2B5EF4-FFF2-40B4-BE49-F238E27FC236}">
                  <a16:creationId xmlns:a16="http://schemas.microsoft.com/office/drawing/2014/main" id="{E52382EB-2998-D778-B18B-756F06CDFDED}"/>
                </a:ext>
              </a:extLst>
            </p:cNvPr>
            <p:cNvSpPr txBox="1"/>
            <p:nvPr/>
          </p:nvSpPr>
          <p:spPr>
            <a:xfrm>
              <a:off x="10471740" y="3228832"/>
              <a:ext cx="508473" cy="369332"/>
            </a:xfrm>
            <a:prstGeom prst="rect">
              <a:avLst/>
            </a:prstGeom>
            <a:noFill/>
          </p:spPr>
          <p:txBody>
            <a:bodyPr wrap="none" rtlCol="0">
              <a:spAutoFit/>
            </a:bodyPr>
            <a:lstStyle/>
            <a:p>
              <a:r>
                <a:rPr lang="vi-VN" dirty="0"/>
                <a:t>1,8</a:t>
              </a:r>
            </a:p>
          </p:txBody>
        </p:sp>
        <p:sp>
          <p:nvSpPr>
            <p:cNvPr id="77" name="TextBox 76">
              <a:extLst>
                <a:ext uri="{FF2B5EF4-FFF2-40B4-BE49-F238E27FC236}">
                  <a16:creationId xmlns:a16="http://schemas.microsoft.com/office/drawing/2014/main" id="{8B6EB338-599F-D74F-DAAD-2778ACA27792}"/>
                </a:ext>
              </a:extLst>
            </p:cNvPr>
            <p:cNvSpPr txBox="1"/>
            <p:nvPr/>
          </p:nvSpPr>
          <p:spPr>
            <a:xfrm>
              <a:off x="10208462" y="2029078"/>
              <a:ext cx="502958" cy="369332"/>
            </a:xfrm>
            <a:prstGeom prst="rect">
              <a:avLst/>
            </a:prstGeom>
            <a:noFill/>
          </p:spPr>
          <p:txBody>
            <a:bodyPr wrap="none" rtlCol="0">
              <a:spAutoFit/>
            </a:bodyPr>
            <a:lstStyle/>
            <a:p>
              <a:r>
                <a:rPr lang="vi-VN" dirty="0"/>
                <a:t>5,7</a:t>
              </a:r>
            </a:p>
          </p:txBody>
        </p:sp>
        <p:sp>
          <p:nvSpPr>
            <p:cNvPr id="78" name="TextBox 77">
              <a:extLst>
                <a:ext uri="{FF2B5EF4-FFF2-40B4-BE49-F238E27FC236}">
                  <a16:creationId xmlns:a16="http://schemas.microsoft.com/office/drawing/2014/main" id="{74C3DE62-BD7A-FE3C-7413-3DBF1199C313}"/>
                </a:ext>
              </a:extLst>
            </p:cNvPr>
            <p:cNvSpPr txBox="1"/>
            <p:nvPr/>
          </p:nvSpPr>
          <p:spPr>
            <a:xfrm>
              <a:off x="8652625" y="1922704"/>
              <a:ext cx="508473" cy="369332"/>
            </a:xfrm>
            <a:prstGeom prst="rect">
              <a:avLst/>
            </a:prstGeom>
            <a:noFill/>
          </p:spPr>
          <p:txBody>
            <a:bodyPr wrap="none" rtlCol="0">
              <a:spAutoFit/>
            </a:bodyPr>
            <a:lstStyle/>
            <a:p>
              <a:r>
                <a:rPr lang="vi-VN" dirty="0"/>
                <a:t>5,5</a:t>
              </a:r>
            </a:p>
          </p:txBody>
        </p:sp>
        <p:sp>
          <p:nvSpPr>
            <p:cNvPr id="80" name="TextBox 79">
              <a:extLst>
                <a:ext uri="{FF2B5EF4-FFF2-40B4-BE49-F238E27FC236}">
                  <a16:creationId xmlns:a16="http://schemas.microsoft.com/office/drawing/2014/main" id="{DC6CEFB1-C09D-01D2-3C94-B2FAA9A93A2D}"/>
                </a:ext>
              </a:extLst>
            </p:cNvPr>
            <p:cNvSpPr txBox="1"/>
            <p:nvPr/>
          </p:nvSpPr>
          <p:spPr>
            <a:xfrm>
              <a:off x="9505260" y="2138996"/>
              <a:ext cx="508473" cy="369332"/>
            </a:xfrm>
            <a:prstGeom prst="rect">
              <a:avLst/>
            </a:prstGeom>
            <a:noFill/>
          </p:spPr>
          <p:txBody>
            <a:bodyPr wrap="none" rtlCol="0">
              <a:spAutoFit/>
            </a:bodyPr>
            <a:lstStyle/>
            <a:p>
              <a:r>
                <a:rPr lang="vi-VN" dirty="0"/>
                <a:t>2,8</a:t>
              </a:r>
            </a:p>
          </p:txBody>
        </p:sp>
      </p:grpSp>
    </p:spTree>
    <p:extLst>
      <p:ext uri="{BB962C8B-B14F-4D97-AF65-F5344CB8AC3E}">
        <p14:creationId xmlns:p14="http://schemas.microsoft.com/office/powerpoint/2010/main" val="14906581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42474-957C-EBAC-8E95-5A8A8F14626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151DD2D-B991-5FF4-4B86-5FA608FF4431}"/>
              </a:ext>
            </a:extLst>
          </p:cNvPr>
          <p:cNvSpPr>
            <a:spLocks noGrp="1"/>
          </p:cNvSpPr>
          <p:nvPr>
            <p:ph type="title"/>
          </p:nvPr>
        </p:nvSpPr>
        <p:spPr/>
        <p:txBody>
          <a:bodyPr/>
          <a:lstStyle/>
          <a:p>
            <a:r>
              <a:rPr lang="vi-VN" dirty="0"/>
              <a:t>3. Minh họa</a:t>
            </a:r>
          </a:p>
        </p:txBody>
      </p:sp>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7AA94DC8-7838-1FEE-4F37-4563B0993440}"/>
                  </a:ext>
                </a:extLst>
              </p:cNvPr>
              <p:cNvSpPr>
                <a:spLocks noGrp="1"/>
              </p:cNvSpPr>
              <p:nvPr>
                <p:ph idx="1"/>
              </p:nvPr>
            </p:nvSpPr>
            <p:spPr>
              <a:xfrm>
                <a:off x="581193" y="2340864"/>
                <a:ext cx="5514808" cy="3634486"/>
              </a:xfrm>
            </p:spPr>
            <p:txBody>
              <a:bodyPr anchor="t">
                <a:normAutofit/>
              </a:bodyPr>
              <a:lstStyle/>
              <a:p>
                <a:pPr marL="0" indent="0">
                  <a:buNone/>
                </a:pPr>
                <a:r>
                  <a:rPr lang="vi-VN" b="1" dirty="0"/>
                  <a:t>Bước 3: Phân cụm.</a:t>
                </a:r>
              </a:p>
              <a:p>
                <a:pPr marL="0" indent="0">
                  <a:buNone/>
                </a:pPr>
                <a:r>
                  <a:rPr lang="vi-VN" dirty="0"/>
                  <a:t>Giả sử: </a:t>
                </a:r>
              </a:p>
              <a:p>
                <a:pPr marL="0" indent="0">
                  <a:buNone/>
                </a:pPr>
                <a:r>
                  <a:rPr lang="vi-VN" dirty="0"/>
                  <a:t>Ta có hai đỉnh </a:t>
                </a:r>
                <a14:m>
                  <m:oMath xmlns:m="http://schemas.openxmlformats.org/officeDocument/2006/math">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𝑃</m:t>
                        </m:r>
                      </m:e>
                      <m:sub>
                        <m:r>
                          <a:rPr lang="vi-VN" i="1" dirty="0" smtClean="0">
                            <a:latin typeface="Cambria Math" panose="02040503050406030204" pitchFamily="18" charset="0"/>
                          </a:rPr>
                          <m:t>1</m:t>
                        </m:r>
                      </m:sub>
                    </m:sSub>
                  </m:oMath>
                </a14:m>
                <a:r>
                  <a:rPr lang="vi-VN" dirty="0"/>
                  <a:t>, </a:t>
                </a:r>
                <a14:m>
                  <m:oMath xmlns:m="http://schemas.openxmlformats.org/officeDocument/2006/math">
                    <m:sSub>
                      <m:sSubPr>
                        <m:ctrlPr>
                          <a:rPr lang="vi-VN" i="1" dirty="0" smtClean="0">
                            <a:latin typeface="Cambria Math" panose="02040503050406030204" pitchFamily="18" charset="0"/>
                          </a:rPr>
                        </m:ctrlPr>
                      </m:sSubPr>
                      <m:e>
                        <m:r>
                          <a:rPr lang="vi-VN" i="1" dirty="0" smtClean="0">
                            <a:latin typeface="Cambria Math" panose="02040503050406030204" pitchFamily="18" charset="0"/>
                          </a:rPr>
                          <m:t>𝑃</m:t>
                        </m:r>
                      </m:e>
                      <m:sub>
                        <m:r>
                          <a:rPr lang="vi-VN" i="1" dirty="0" smtClean="0">
                            <a:latin typeface="Cambria Math" panose="02040503050406030204" pitchFamily="18" charset="0"/>
                          </a:rPr>
                          <m:t>2</m:t>
                        </m:r>
                      </m:sub>
                    </m:sSub>
                  </m:oMath>
                </a14:m>
                <a:r>
                  <a:rPr lang="vi-VN" dirty="0"/>
                  <a:t> và các điểm A, B, C, D, E đã được phân cụm, F chưa được phân cụm.</a:t>
                </a:r>
              </a:p>
              <a:p>
                <a:pPr marL="0" indent="0">
                  <a:buNone/>
                </a:pPr>
                <a:r>
                  <a:rPr lang="vi-VN" dirty="0"/>
                  <a:t>Tính chi phí dường đi </a:t>
                </a:r>
                <a14:m>
                  <m:oMath xmlns:m="http://schemas.openxmlformats.org/officeDocument/2006/math">
                    <m:sSub>
                      <m:sSubPr>
                        <m:ctrlPr>
                          <a:rPr lang="vi-VN" i="1" dirty="0">
                            <a:latin typeface="Cambria Math" panose="02040503050406030204" pitchFamily="18" charset="0"/>
                          </a:rPr>
                        </m:ctrlPr>
                      </m:sSubPr>
                      <m:e>
                        <m:r>
                          <a:rPr lang="vi-VN" i="1" dirty="0">
                            <a:latin typeface="Cambria Math" panose="02040503050406030204" pitchFamily="18" charset="0"/>
                          </a:rPr>
                          <m:t>𝑃</m:t>
                        </m:r>
                      </m:e>
                      <m:sub>
                        <m:r>
                          <a:rPr lang="vi-VN" i="1" dirty="0">
                            <a:latin typeface="Cambria Math" panose="02040503050406030204" pitchFamily="18" charset="0"/>
                          </a:rPr>
                          <m:t>1</m:t>
                        </m:r>
                      </m:sub>
                    </m:sSub>
                  </m:oMath>
                </a14:m>
                <a:r>
                  <a:rPr lang="vi-VN" dirty="0"/>
                  <a:t> </a:t>
                </a:r>
                <a:r>
                  <a:rPr lang="vi-VN" dirty="0">
                    <a:sym typeface="Wingdings" panose="05000000000000000000" pitchFamily="2" charset="2"/>
                  </a:rPr>
                  <a:t> A  D  F</a:t>
                </a:r>
              </a:p>
              <a:p>
                <a:pPr marL="0" indent="0">
                  <a:buNone/>
                </a:pPr>
                <a:r>
                  <a:rPr lang="vi-VN" dirty="0">
                    <a:sym typeface="Wingdings" panose="05000000000000000000" pitchFamily="2" charset="2"/>
                  </a:rPr>
                  <a:t>= </a:t>
                </a:r>
                <a:r>
                  <a:rPr lang="vi-VN" dirty="0" err="1">
                    <a:sym typeface="Wingdings" panose="05000000000000000000" pitchFamily="2" charset="2"/>
                  </a:rPr>
                  <a:t>Minimax</a:t>
                </a:r>
                <a:r>
                  <a:rPr lang="vi-VN" dirty="0">
                    <a:sym typeface="Wingdings" panose="05000000000000000000" pitchFamily="2" charset="2"/>
                  </a:rPr>
                  <a:t>(</a:t>
                </a:r>
                <a14:m>
                  <m:oMath xmlns:m="http://schemas.openxmlformats.org/officeDocument/2006/math">
                    <m:sSub>
                      <m:sSubPr>
                        <m:ctrlPr>
                          <a:rPr lang="vi-VN" i="1" dirty="0">
                            <a:latin typeface="Cambria Math" panose="02040503050406030204" pitchFamily="18" charset="0"/>
                          </a:rPr>
                        </m:ctrlPr>
                      </m:sSubPr>
                      <m:e>
                        <m:r>
                          <a:rPr lang="vi-VN" i="1" dirty="0">
                            <a:latin typeface="Cambria Math" panose="02040503050406030204" pitchFamily="18" charset="0"/>
                          </a:rPr>
                          <m:t>𝑃</m:t>
                        </m:r>
                      </m:e>
                      <m:sub>
                        <m:r>
                          <a:rPr lang="vi-VN" i="1" dirty="0">
                            <a:latin typeface="Cambria Math" panose="02040503050406030204" pitchFamily="18" charset="0"/>
                          </a:rPr>
                          <m:t>1</m:t>
                        </m:r>
                      </m:sub>
                    </m:sSub>
                  </m:oMath>
                </a14:m>
                <a:r>
                  <a:rPr lang="vi-VN" dirty="0">
                    <a:sym typeface="Wingdings" panose="05000000000000000000" pitchFamily="2" charset="2"/>
                  </a:rPr>
                  <a:t>-A, A-D, D-F)</a:t>
                </a:r>
              </a:p>
              <a:p>
                <a:pPr marL="0" indent="0">
                  <a:buNone/>
                </a:pPr>
                <a:r>
                  <a:rPr lang="vi-VN" dirty="0">
                    <a:sym typeface="Wingdings" panose="05000000000000000000" pitchFamily="2" charset="2"/>
                  </a:rPr>
                  <a:t>= </a:t>
                </a:r>
                <a:r>
                  <a:rPr lang="vi-VN" dirty="0" err="1">
                    <a:sym typeface="Wingdings" panose="05000000000000000000" pitchFamily="2" charset="2"/>
                  </a:rPr>
                  <a:t>Minimax</a:t>
                </a:r>
                <a:r>
                  <a:rPr lang="vi-VN" dirty="0">
                    <a:sym typeface="Wingdings" panose="05000000000000000000" pitchFamily="2" charset="2"/>
                  </a:rPr>
                  <a:t>(2.5, 2.1, 2.8)</a:t>
                </a:r>
              </a:p>
              <a:p>
                <a:pPr marL="0" indent="0">
                  <a:buNone/>
                </a:pPr>
                <a:r>
                  <a:rPr lang="vi-VN" dirty="0">
                    <a:sym typeface="Wingdings" panose="05000000000000000000" pitchFamily="2" charset="2"/>
                  </a:rPr>
                  <a:t>= 2.8.</a:t>
                </a:r>
              </a:p>
            </p:txBody>
          </p:sp>
        </mc:Choice>
        <mc:Fallback xmlns="">
          <p:sp>
            <p:nvSpPr>
              <p:cNvPr id="12" name="Content Placeholder 11">
                <a:extLst>
                  <a:ext uri="{FF2B5EF4-FFF2-40B4-BE49-F238E27FC236}">
                    <a16:creationId xmlns:a16="http://schemas.microsoft.com/office/drawing/2014/main" id="{7AA94DC8-7838-1FEE-4F37-4563B0993440}"/>
                  </a:ext>
                </a:extLst>
              </p:cNvPr>
              <p:cNvSpPr>
                <a:spLocks noGrp="1" noRot="1" noChangeAspect="1" noMove="1" noResize="1" noEditPoints="1" noAdjustHandles="1" noChangeArrowheads="1" noChangeShapeType="1" noTextEdit="1"/>
              </p:cNvSpPr>
              <p:nvPr>
                <p:ph idx="1"/>
              </p:nvPr>
            </p:nvSpPr>
            <p:spPr>
              <a:xfrm>
                <a:off x="581193" y="2340864"/>
                <a:ext cx="5514808" cy="3634486"/>
              </a:xfrm>
              <a:blipFill>
                <a:blip r:embed="rId2"/>
                <a:stretch>
                  <a:fillRect l="-663" t="-336"/>
                </a:stretch>
              </a:blipFill>
            </p:spPr>
            <p:txBody>
              <a:bodyPr/>
              <a:lstStyle/>
              <a:p>
                <a:r>
                  <a:rPr lang="vi-VN">
                    <a:noFill/>
                  </a:rPr>
                  <a:t> </a:t>
                </a:r>
              </a:p>
            </p:txBody>
          </p:sp>
        </mc:Fallback>
      </mc:AlternateContent>
      <p:grpSp>
        <p:nvGrpSpPr>
          <p:cNvPr id="81" name="Group 80">
            <a:extLst>
              <a:ext uri="{FF2B5EF4-FFF2-40B4-BE49-F238E27FC236}">
                <a16:creationId xmlns:a16="http://schemas.microsoft.com/office/drawing/2014/main" id="{654D1649-F7C0-8D07-7E5C-CCAC1F10B6E2}"/>
              </a:ext>
            </a:extLst>
          </p:cNvPr>
          <p:cNvGrpSpPr/>
          <p:nvPr/>
        </p:nvGrpSpPr>
        <p:grpSpPr>
          <a:xfrm>
            <a:off x="6705600" y="1019175"/>
            <a:ext cx="4949923" cy="5226733"/>
            <a:chOff x="7714211" y="1430510"/>
            <a:chExt cx="3941312" cy="4815398"/>
          </a:xfrm>
        </p:grpSpPr>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5359CB8-529F-34E8-8588-03B2200566BA}"/>
                    </a:ext>
                  </a:extLst>
                </p:cNvPr>
                <p:cNvSpPr txBox="1"/>
                <p:nvPr/>
              </p:nvSpPr>
              <p:spPr>
                <a:xfrm>
                  <a:off x="10757760" y="5275919"/>
                  <a:ext cx="51845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vi-VN" dirty="0">
                            <a:latin typeface="Cambria Math" panose="02040503050406030204" pitchFamily="18" charset="0"/>
                          </a:rPr>
                          <m:t>Γ</m:t>
                        </m:r>
                      </m:oMath>
                    </m:oMathPara>
                  </a14:m>
                  <a:endParaRPr lang="vi-VN" dirty="0"/>
                </a:p>
              </p:txBody>
            </p:sp>
          </mc:Choice>
          <mc:Fallback xmlns="">
            <p:sp>
              <p:nvSpPr>
                <p:cNvPr id="31" name="TextBox 30">
                  <a:extLst>
                    <a:ext uri="{FF2B5EF4-FFF2-40B4-BE49-F238E27FC236}">
                      <a16:creationId xmlns:a16="http://schemas.microsoft.com/office/drawing/2014/main" id="{65359CB8-529F-34E8-8588-03B2200566BA}"/>
                    </a:ext>
                  </a:extLst>
                </p:cNvPr>
                <p:cNvSpPr txBox="1">
                  <a:spLocks noRot="1" noChangeAspect="1" noMove="1" noResize="1" noEditPoints="1" noAdjustHandles="1" noChangeArrowheads="1" noChangeShapeType="1" noTextEdit="1"/>
                </p:cNvSpPr>
                <p:nvPr/>
              </p:nvSpPr>
              <p:spPr>
                <a:xfrm>
                  <a:off x="10757760" y="5275919"/>
                  <a:ext cx="518453" cy="369332"/>
                </a:xfrm>
                <a:prstGeom prst="rect">
                  <a:avLst/>
                </a:prstGeom>
                <a:blipFill>
                  <a:blip r:embed="rId3"/>
                  <a:stretch>
                    <a:fillRect/>
                  </a:stretch>
                </a:blipFill>
              </p:spPr>
              <p:txBody>
                <a:bodyPr/>
                <a:lstStyle/>
                <a:p>
                  <a:r>
                    <a:rPr lang="vi-VN">
                      <a:noFill/>
                    </a:rPr>
                    <a:t> </a:t>
                  </a:r>
                </a:p>
              </p:txBody>
            </p:sp>
          </mc:Fallback>
        </mc:AlternateContent>
        <p:sp>
          <p:nvSpPr>
            <p:cNvPr id="37" name="Oval 36">
              <a:extLst>
                <a:ext uri="{FF2B5EF4-FFF2-40B4-BE49-F238E27FC236}">
                  <a16:creationId xmlns:a16="http://schemas.microsoft.com/office/drawing/2014/main" id="{7BB7F054-C0EB-DDDC-F531-43D73808B18A}"/>
                </a:ext>
              </a:extLst>
            </p:cNvPr>
            <p:cNvSpPr/>
            <p:nvPr/>
          </p:nvSpPr>
          <p:spPr>
            <a:xfrm>
              <a:off x="9901616" y="3429000"/>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a:t>
              </a:r>
              <a:endParaRPr lang="vi-VN" dirty="0"/>
            </a:p>
          </p:txBody>
        </p:sp>
        <mc:AlternateContent xmlns:mc="http://schemas.openxmlformats.org/markup-compatibility/2006" xmlns:a14="http://schemas.microsoft.com/office/drawing/2010/main">
          <mc:Choice Requires="a14">
            <p:sp>
              <p:nvSpPr>
                <p:cNvPr id="39" name="Oval 38">
                  <a:extLst>
                    <a:ext uri="{FF2B5EF4-FFF2-40B4-BE49-F238E27FC236}">
                      <a16:creationId xmlns:a16="http://schemas.microsoft.com/office/drawing/2014/main" id="{91D1EE92-9547-B3A9-58C7-1CAEF9E05B90}"/>
                    </a:ext>
                  </a:extLst>
                </p:cNvPr>
                <p:cNvSpPr/>
                <p:nvPr/>
              </p:nvSpPr>
              <p:spPr>
                <a:xfrm>
                  <a:off x="10992135" y="4282432"/>
                  <a:ext cx="663388" cy="663388"/>
                </a:xfrm>
                <a:prstGeom prst="ellipse">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vi-VN" i="1" dirty="0">
                                <a:latin typeface="Cambria Math" panose="02040503050406030204" pitchFamily="18" charset="0"/>
                              </a:rPr>
                            </m:ctrlPr>
                          </m:sSubPr>
                          <m:e>
                            <m:r>
                              <a:rPr lang="vi-VN" i="1" dirty="0">
                                <a:latin typeface="Cambria Math" panose="02040503050406030204" pitchFamily="18" charset="0"/>
                              </a:rPr>
                              <m:t>𝑃</m:t>
                            </m:r>
                          </m:e>
                          <m:sub>
                            <m:r>
                              <a:rPr lang="vi-VN" i="1" dirty="0">
                                <a:latin typeface="Cambria Math" panose="02040503050406030204" pitchFamily="18" charset="0"/>
                              </a:rPr>
                              <m:t>2</m:t>
                            </m:r>
                          </m:sub>
                        </m:sSub>
                      </m:oMath>
                    </m:oMathPara>
                  </a14:m>
                  <a:endParaRPr lang="vi-VN" dirty="0"/>
                </a:p>
              </p:txBody>
            </p:sp>
          </mc:Choice>
          <mc:Fallback xmlns="">
            <p:sp>
              <p:nvSpPr>
                <p:cNvPr id="39" name="Oval 38">
                  <a:extLst>
                    <a:ext uri="{FF2B5EF4-FFF2-40B4-BE49-F238E27FC236}">
                      <a16:creationId xmlns:a16="http://schemas.microsoft.com/office/drawing/2014/main" id="{91D1EE92-9547-B3A9-58C7-1CAEF9E05B90}"/>
                    </a:ext>
                  </a:extLst>
                </p:cNvPr>
                <p:cNvSpPr>
                  <a:spLocks noRot="1" noChangeAspect="1" noMove="1" noResize="1" noEditPoints="1" noAdjustHandles="1" noChangeArrowheads="1" noChangeShapeType="1" noTextEdit="1"/>
                </p:cNvSpPr>
                <p:nvPr/>
              </p:nvSpPr>
              <p:spPr>
                <a:xfrm>
                  <a:off x="10992135" y="4282432"/>
                  <a:ext cx="663388" cy="663388"/>
                </a:xfrm>
                <a:prstGeom prst="ellipse">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0" name="Oval 39">
                  <a:extLst>
                    <a:ext uri="{FF2B5EF4-FFF2-40B4-BE49-F238E27FC236}">
                      <a16:creationId xmlns:a16="http://schemas.microsoft.com/office/drawing/2014/main" id="{82D4B6E7-35E6-068A-532A-FCF80B793FD6}"/>
                    </a:ext>
                  </a:extLst>
                </p:cNvPr>
                <p:cNvSpPr/>
                <p:nvPr/>
              </p:nvSpPr>
              <p:spPr>
                <a:xfrm>
                  <a:off x="7924266" y="4158107"/>
                  <a:ext cx="663388" cy="663388"/>
                </a:xfrm>
                <a:prstGeom prst="ellipse">
                  <a:avLst/>
                </a:prstGeom>
                <a:solidFill>
                  <a:schemeClr val="bg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vi-VN" i="1" dirty="0">
                                <a:latin typeface="Cambria Math" panose="02040503050406030204" pitchFamily="18" charset="0"/>
                              </a:rPr>
                            </m:ctrlPr>
                          </m:sSubPr>
                          <m:e>
                            <m:r>
                              <a:rPr lang="vi-VN" i="1" dirty="0">
                                <a:latin typeface="Cambria Math" panose="02040503050406030204" pitchFamily="18" charset="0"/>
                              </a:rPr>
                              <m:t>𝑃</m:t>
                            </m:r>
                          </m:e>
                          <m:sub>
                            <m:r>
                              <a:rPr lang="vi-VN" i="1" dirty="0">
                                <a:latin typeface="Cambria Math" panose="02040503050406030204" pitchFamily="18" charset="0"/>
                              </a:rPr>
                              <m:t>1</m:t>
                            </m:r>
                          </m:sub>
                        </m:sSub>
                      </m:oMath>
                    </m:oMathPara>
                  </a14:m>
                  <a:endParaRPr lang="vi-VN" dirty="0"/>
                </a:p>
              </p:txBody>
            </p:sp>
          </mc:Choice>
          <mc:Fallback xmlns="">
            <p:sp>
              <p:nvSpPr>
                <p:cNvPr id="40" name="Oval 39">
                  <a:extLst>
                    <a:ext uri="{FF2B5EF4-FFF2-40B4-BE49-F238E27FC236}">
                      <a16:creationId xmlns:a16="http://schemas.microsoft.com/office/drawing/2014/main" id="{82D4B6E7-35E6-068A-532A-FCF80B793FD6}"/>
                    </a:ext>
                  </a:extLst>
                </p:cNvPr>
                <p:cNvSpPr>
                  <a:spLocks noRot="1" noChangeAspect="1" noMove="1" noResize="1" noEditPoints="1" noAdjustHandles="1" noChangeArrowheads="1" noChangeShapeType="1" noTextEdit="1"/>
                </p:cNvSpPr>
                <p:nvPr/>
              </p:nvSpPr>
              <p:spPr>
                <a:xfrm>
                  <a:off x="7924266" y="4158107"/>
                  <a:ext cx="663388" cy="663388"/>
                </a:xfrm>
                <a:prstGeom prst="ellipse">
                  <a:avLst/>
                </a:prstGeom>
                <a:blipFill>
                  <a:blip r:embed="rId5"/>
                  <a:stretch>
                    <a:fillRect/>
                  </a:stretch>
                </a:blipFill>
              </p:spPr>
              <p:txBody>
                <a:bodyPr/>
                <a:lstStyle/>
                <a:p>
                  <a:r>
                    <a:rPr lang="vi-VN">
                      <a:noFill/>
                    </a:rPr>
                    <a:t> </a:t>
                  </a:r>
                </a:p>
              </p:txBody>
            </p:sp>
          </mc:Fallback>
        </mc:AlternateContent>
        <p:sp>
          <p:nvSpPr>
            <p:cNvPr id="51" name="Oval 50">
              <a:extLst>
                <a:ext uri="{FF2B5EF4-FFF2-40B4-BE49-F238E27FC236}">
                  <a16:creationId xmlns:a16="http://schemas.microsoft.com/office/drawing/2014/main" id="{B436571D-5973-BFB9-70A6-813F609FF5E9}"/>
                </a:ext>
              </a:extLst>
            </p:cNvPr>
            <p:cNvSpPr/>
            <p:nvPr/>
          </p:nvSpPr>
          <p:spPr>
            <a:xfrm>
              <a:off x="9787362" y="5582520"/>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a:t>
              </a:r>
              <a:endParaRPr lang="vi-VN" dirty="0"/>
            </a:p>
          </p:txBody>
        </p:sp>
        <p:cxnSp>
          <p:nvCxnSpPr>
            <p:cNvPr id="52" name="Straight Connector 51">
              <a:extLst>
                <a:ext uri="{FF2B5EF4-FFF2-40B4-BE49-F238E27FC236}">
                  <a16:creationId xmlns:a16="http://schemas.microsoft.com/office/drawing/2014/main" id="{0561AA20-63F6-72A5-3C9F-EC61E3387E45}"/>
                </a:ext>
              </a:extLst>
            </p:cNvPr>
            <p:cNvCxnSpPr>
              <a:cxnSpLocks/>
              <a:stCxn id="39" idx="3"/>
              <a:endCxn id="51" idx="7"/>
            </p:cNvCxnSpPr>
            <p:nvPr/>
          </p:nvCxnSpPr>
          <p:spPr>
            <a:xfrm flipH="1">
              <a:off x="10353599" y="4848669"/>
              <a:ext cx="735687" cy="83100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 name="Straight Connector 3">
              <a:extLst>
                <a:ext uri="{FF2B5EF4-FFF2-40B4-BE49-F238E27FC236}">
                  <a16:creationId xmlns:a16="http://schemas.microsoft.com/office/drawing/2014/main" id="{F26E15FB-7743-3170-FC67-D77465157F88}"/>
                </a:ext>
              </a:extLst>
            </p:cNvPr>
            <p:cNvCxnSpPr>
              <a:cxnSpLocks/>
              <a:stCxn id="51" idx="1"/>
              <a:endCxn id="40" idx="5"/>
            </p:cNvCxnSpPr>
            <p:nvPr/>
          </p:nvCxnSpPr>
          <p:spPr>
            <a:xfrm flipH="1" flipV="1">
              <a:off x="8490503" y="4724344"/>
              <a:ext cx="1394010" cy="955327"/>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Oval 1">
              <a:extLst>
                <a:ext uri="{FF2B5EF4-FFF2-40B4-BE49-F238E27FC236}">
                  <a16:creationId xmlns:a16="http://schemas.microsoft.com/office/drawing/2014/main" id="{82499CA0-0AE3-8F3B-B877-C8DBEC03EFBA}"/>
                </a:ext>
              </a:extLst>
            </p:cNvPr>
            <p:cNvSpPr/>
            <p:nvPr/>
          </p:nvSpPr>
          <p:spPr>
            <a:xfrm>
              <a:off x="8050560" y="2575785"/>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
              </a:r>
              <a:endParaRPr lang="vi-VN" dirty="0"/>
            </a:p>
          </p:txBody>
        </p:sp>
        <p:sp>
          <p:nvSpPr>
            <p:cNvPr id="3" name="Oval 2">
              <a:extLst>
                <a:ext uri="{FF2B5EF4-FFF2-40B4-BE49-F238E27FC236}">
                  <a16:creationId xmlns:a16="http://schemas.microsoft.com/office/drawing/2014/main" id="{040D054B-8A18-B57C-226B-3ED1BC91F9F0}"/>
                </a:ext>
              </a:extLst>
            </p:cNvPr>
            <p:cNvSpPr/>
            <p:nvPr/>
          </p:nvSpPr>
          <p:spPr>
            <a:xfrm>
              <a:off x="9310531" y="1430510"/>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t>
              </a:r>
              <a:endParaRPr lang="vi-VN" dirty="0"/>
            </a:p>
          </p:txBody>
        </p:sp>
        <p:sp>
          <p:nvSpPr>
            <p:cNvPr id="5" name="Oval 4">
              <a:extLst>
                <a:ext uri="{FF2B5EF4-FFF2-40B4-BE49-F238E27FC236}">
                  <a16:creationId xmlns:a16="http://schemas.microsoft.com/office/drawing/2014/main" id="{E1AF600F-A1F4-A2BF-D3C4-EC96028F4D11}"/>
                </a:ext>
              </a:extLst>
            </p:cNvPr>
            <p:cNvSpPr/>
            <p:nvPr/>
          </p:nvSpPr>
          <p:spPr>
            <a:xfrm>
              <a:off x="9123974" y="2531266"/>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
              </a:r>
              <a:endParaRPr lang="vi-VN" dirty="0"/>
            </a:p>
          </p:txBody>
        </p:sp>
        <p:sp>
          <p:nvSpPr>
            <p:cNvPr id="6" name="Oval 5">
              <a:extLst>
                <a:ext uri="{FF2B5EF4-FFF2-40B4-BE49-F238E27FC236}">
                  <a16:creationId xmlns:a16="http://schemas.microsoft.com/office/drawing/2014/main" id="{16EAA38C-FD30-73F2-B56E-F2DBE3367085}"/>
                </a:ext>
              </a:extLst>
            </p:cNvPr>
            <p:cNvSpPr/>
            <p:nvPr/>
          </p:nvSpPr>
          <p:spPr>
            <a:xfrm>
              <a:off x="10565004" y="2599864"/>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a:t>
              </a:r>
              <a:endParaRPr lang="vi-VN" dirty="0"/>
            </a:p>
          </p:txBody>
        </p:sp>
        <p:sp>
          <p:nvSpPr>
            <p:cNvPr id="9" name="Oval 8">
              <a:extLst>
                <a:ext uri="{FF2B5EF4-FFF2-40B4-BE49-F238E27FC236}">
                  <a16:creationId xmlns:a16="http://schemas.microsoft.com/office/drawing/2014/main" id="{066B1527-1FC2-861C-6379-C26BFFFFC763}"/>
                </a:ext>
              </a:extLst>
            </p:cNvPr>
            <p:cNvSpPr/>
            <p:nvPr/>
          </p:nvSpPr>
          <p:spPr>
            <a:xfrm>
              <a:off x="8855814" y="3561579"/>
              <a:ext cx="663388" cy="6633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a:t>
              </a:r>
              <a:endParaRPr lang="vi-VN" dirty="0"/>
            </a:p>
          </p:txBody>
        </p:sp>
        <p:cxnSp>
          <p:nvCxnSpPr>
            <p:cNvPr id="13" name="Straight Connector 12">
              <a:extLst>
                <a:ext uri="{FF2B5EF4-FFF2-40B4-BE49-F238E27FC236}">
                  <a16:creationId xmlns:a16="http://schemas.microsoft.com/office/drawing/2014/main" id="{8070B35D-C288-AEEE-D7DB-A313EB2CDE8F}"/>
                </a:ext>
              </a:extLst>
            </p:cNvPr>
            <p:cNvCxnSpPr>
              <a:cxnSpLocks/>
              <a:stCxn id="39" idx="1"/>
              <a:endCxn id="37" idx="5"/>
            </p:cNvCxnSpPr>
            <p:nvPr/>
          </p:nvCxnSpPr>
          <p:spPr>
            <a:xfrm flipH="1" flipV="1">
              <a:off x="10467853" y="3995237"/>
              <a:ext cx="621433" cy="384346"/>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Connector 15">
              <a:extLst>
                <a:ext uri="{FF2B5EF4-FFF2-40B4-BE49-F238E27FC236}">
                  <a16:creationId xmlns:a16="http://schemas.microsoft.com/office/drawing/2014/main" id="{92B9D3CF-C32B-CF99-DA81-3B6B75A48CC5}"/>
                </a:ext>
              </a:extLst>
            </p:cNvPr>
            <p:cNvCxnSpPr>
              <a:cxnSpLocks/>
              <a:stCxn id="40" idx="7"/>
              <a:endCxn id="9" idx="2"/>
            </p:cNvCxnSpPr>
            <p:nvPr/>
          </p:nvCxnSpPr>
          <p:spPr>
            <a:xfrm flipV="1">
              <a:off x="8490503" y="3893273"/>
              <a:ext cx="365311" cy="361985"/>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Straight Connector 18">
              <a:extLst>
                <a:ext uri="{FF2B5EF4-FFF2-40B4-BE49-F238E27FC236}">
                  <a16:creationId xmlns:a16="http://schemas.microsoft.com/office/drawing/2014/main" id="{4755D071-E421-8D4B-AADE-3B44AA41B929}"/>
                </a:ext>
              </a:extLst>
            </p:cNvPr>
            <p:cNvCxnSpPr>
              <a:cxnSpLocks/>
              <a:stCxn id="2" idx="5"/>
              <a:endCxn id="9" idx="1"/>
            </p:cNvCxnSpPr>
            <p:nvPr/>
          </p:nvCxnSpPr>
          <p:spPr>
            <a:xfrm>
              <a:off x="8616797" y="3142022"/>
              <a:ext cx="336168" cy="51670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2" name="Straight Connector 21">
              <a:extLst>
                <a:ext uri="{FF2B5EF4-FFF2-40B4-BE49-F238E27FC236}">
                  <a16:creationId xmlns:a16="http://schemas.microsoft.com/office/drawing/2014/main" id="{F359919A-3387-A8A3-FCAB-2DD422F8F1DA}"/>
                </a:ext>
              </a:extLst>
            </p:cNvPr>
            <p:cNvCxnSpPr>
              <a:cxnSpLocks/>
              <a:stCxn id="5" idx="5"/>
              <a:endCxn id="37" idx="1"/>
            </p:cNvCxnSpPr>
            <p:nvPr/>
          </p:nvCxnSpPr>
          <p:spPr>
            <a:xfrm>
              <a:off x="9690211" y="3097503"/>
              <a:ext cx="308556" cy="42864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Straight Connector 24">
              <a:extLst>
                <a:ext uri="{FF2B5EF4-FFF2-40B4-BE49-F238E27FC236}">
                  <a16:creationId xmlns:a16="http://schemas.microsoft.com/office/drawing/2014/main" id="{710E7C83-7F83-AE67-3591-E99E9F4FCAE2}"/>
                </a:ext>
              </a:extLst>
            </p:cNvPr>
            <p:cNvCxnSpPr>
              <a:cxnSpLocks/>
              <a:stCxn id="6" idx="3"/>
              <a:endCxn id="37" idx="7"/>
            </p:cNvCxnSpPr>
            <p:nvPr/>
          </p:nvCxnSpPr>
          <p:spPr>
            <a:xfrm flipH="1">
              <a:off x="10467853" y="3166101"/>
              <a:ext cx="194302" cy="36005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Straight Connector 28">
              <a:extLst>
                <a:ext uri="{FF2B5EF4-FFF2-40B4-BE49-F238E27FC236}">
                  <a16:creationId xmlns:a16="http://schemas.microsoft.com/office/drawing/2014/main" id="{12B2226E-6C28-4BD4-87E5-4860BDB27B0A}"/>
                </a:ext>
              </a:extLst>
            </p:cNvPr>
            <p:cNvCxnSpPr>
              <a:cxnSpLocks/>
              <a:stCxn id="3" idx="4"/>
              <a:endCxn id="5" idx="0"/>
            </p:cNvCxnSpPr>
            <p:nvPr/>
          </p:nvCxnSpPr>
          <p:spPr>
            <a:xfrm flipH="1">
              <a:off x="9455668" y="2093898"/>
              <a:ext cx="186557" cy="437368"/>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Straight Connector 32">
              <a:extLst>
                <a:ext uri="{FF2B5EF4-FFF2-40B4-BE49-F238E27FC236}">
                  <a16:creationId xmlns:a16="http://schemas.microsoft.com/office/drawing/2014/main" id="{6BADC60D-56A2-AF31-0A4F-08EDE958E363}"/>
                </a:ext>
              </a:extLst>
            </p:cNvPr>
            <p:cNvCxnSpPr>
              <a:cxnSpLocks/>
              <a:stCxn id="40" idx="0"/>
              <a:endCxn id="2" idx="4"/>
            </p:cNvCxnSpPr>
            <p:nvPr/>
          </p:nvCxnSpPr>
          <p:spPr>
            <a:xfrm flipV="1">
              <a:off x="8255960" y="3239173"/>
              <a:ext cx="126294" cy="918934"/>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8" name="Straight Connector 37">
              <a:extLst>
                <a:ext uri="{FF2B5EF4-FFF2-40B4-BE49-F238E27FC236}">
                  <a16:creationId xmlns:a16="http://schemas.microsoft.com/office/drawing/2014/main" id="{CB1F10D2-5A12-4685-468F-CFBC610BC6A5}"/>
                </a:ext>
              </a:extLst>
            </p:cNvPr>
            <p:cNvCxnSpPr>
              <a:cxnSpLocks/>
              <a:stCxn id="39" idx="0"/>
              <a:endCxn id="6" idx="4"/>
            </p:cNvCxnSpPr>
            <p:nvPr/>
          </p:nvCxnSpPr>
          <p:spPr>
            <a:xfrm flipH="1" flipV="1">
              <a:off x="10896698" y="3263252"/>
              <a:ext cx="427131" cy="101918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Straight Connector 42">
              <a:extLst>
                <a:ext uri="{FF2B5EF4-FFF2-40B4-BE49-F238E27FC236}">
                  <a16:creationId xmlns:a16="http://schemas.microsoft.com/office/drawing/2014/main" id="{BCDBE27F-EDC8-AF4D-E7ED-9B2AAF37EC71}"/>
                </a:ext>
              </a:extLst>
            </p:cNvPr>
            <p:cNvCxnSpPr>
              <a:cxnSpLocks/>
              <a:stCxn id="3" idx="5"/>
              <a:endCxn id="6" idx="1"/>
            </p:cNvCxnSpPr>
            <p:nvPr/>
          </p:nvCxnSpPr>
          <p:spPr>
            <a:xfrm>
              <a:off x="9876768" y="1996747"/>
              <a:ext cx="785387" cy="70026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Connector 47">
              <a:extLst>
                <a:ext uri="{FF2B5EF4-FFF2-40B4-BE49-F238E27FC236}">
                  <a16:creationId xmlns:a16="http://schemas.microsoft.com/office/drawing/2014/main" id="{1B5B6A1F-3E38-B06F-B8E7-ECBBE04776D2}"/>
                </a:ext>
              </a:extLst>
            </p:cNvPr>
            <p:cNvCxnSpPr>
              <a:cxnSpLocks/>
              <a:stCxn id="2" idx="7"/>
              <a:endCxn id="3" idx="3"/>
            </p:cNvCxnSpPr>
            <p:nvPr/>
          </p:nvCxnSpPr>
          <p:spPr>
            <a:xfrm flipV="1">
              <a:off x="8616797" y="1996747"/>
              <a:ext cx="790885" cy="676189"/>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8" name="Straight Connector 57">
              <a:extLst>
                <a:ext uri="{FF2B5EF4-FFF2-40B4-BE49-F238E27FC236}">
                  <a16:creationId xmlns:a16="http://schemas.microsoft.com/office/drawing/2014/main" id="{AD6EB777-F7A9-C271-EB03-990245E086BF}"/>
                </a:ext>
              </a:extLst>
            </p:cNvPr>
            <p:cNvCxnSpPr>
              <a:cxnSpLocks/>
              <a:endCxn id="5" idx="4"/>
            </p:cNvCxnSpPr>
            <p:nvPr/>
          </p:nvCxnSpPr>
          <p:spPr>
            <a:xfrm flipV="1">
              <a:off x="9306291" y="3194654"/>
              <a:ext cx="149377" cy="413837"/>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6" name="TextBox 65">
              <a:extLst>
                <a:ext uri="{FF2B5EF4-FFF2-40B4-BE49-F238E27FC236}">
                  <a16:creationId xmlns:a16="http://schemas.microsoft.com/office/drawing/2014/main" id="{DDC20841-7170-818C-0800-7E432F27D6C7}"/>
                </a:ext>
              </a:extLst>
            </p:cNvPr>
            <p:cNvSpPr txBox="1"/>
            <p:nvPr/>
          </p:nvSpPr>
          <p:spPr>
            <a:xfrm>
              <a:off x="7714211" y="3561579"/>
              <a:ext cx="508473" cy="369332"/>
            </a:xfrm>
            <a:prstGeom prst="rect">
              <a:avLst/>
            </a:prstGeom>
            <a:noFill/>
          </p:spPr>
          <p:txBody>
            <a:bodyPr wrap="none" rtlCol="0">
              <a:spAutoFit/>
            </a:bodyPr>
            <a:lstStyle/>
            <a:p>
              <a:r>
                <a:rPr lang="vi-VN" dirty="0"/>
                <a:t>5,1</a:t>
              </a:r>
            </a:p>
          </p:txBody>
        </p:sp>
        <p:sp>
          <p:nvSpPr>
            <p:cNvPr id="67" name="TextBox 66">
              <a:extLst>
                <a:ext uri="{FF2B5EF4-FFF2-40B4-BE49-F238E27FC236}">
                  <a16:creationId xmlns:a16="http://schemas.microsoft.com/office/drawing/2014/main" id="{B27742AA-B60C-6AE4-842B-8C9763394B0B}"/>
                </a:ext>
              </a:extLst>
            </p:cNvPr>
            <p:cNvSpPr txBox="1"/>
            <p:nvPr/>
          </p:nvSpPr>
          <p:spPr>
            <a:xfrm>
              <a:off x="8538548" y="4092388"/>
              <a:ext cx="508473" cy="646331"/>
            </a:xfrm>
            <a:prstGeom prst="rect">
              <a:avLst/>
            </a:prstGeom>
            <a:noFill/>
          </p:spPr>
          <p:txBody>
            <a:bodyPr wrap="none" rtlCol="0">
              <a:spAutoFit/>
            </a:bodyPr>
            <a:lstStyle/>
            <a:p>
              <a:r>
                <a:rPr lang="vi-VN" dirty="0"/>
                <a:t>2,5</a:t>
              </a:r>
            </a:p>
            <a:p>
              <a:endParaRPr lang="vi-VN" dirty="0"/>
            </a:p>
          </p:txBody>
        </p:sp>
        <p:sp>
          <p:nvSpPr>
            <p:cNvPr id="68" name="TextBox 67">
              <a:extLst>
                <a:ext uri="{FF2B5EF4-FFF2-40B4-BE49-F238E27FC236}">
                  <a16:creationId xmlns:a16="http://schemas.microsoft.com/office/drawing/2014/main" id="{7A3F2261-1C27-78F3-F615-478C28227081}"/>
                </a:ext>
              </a:extLst>
            </p:cNvPr>
            <p:cNvSpPr txBox="1"/>
            <p:nvPr/>
          </p:nvSpPr>
          <p:spPr>
            <a:xfrm>
              <a:off x="8416115" y="3336929"/>
              <a:ext cx="508473" cy="646331"/>
            </a:xfrm>
            <a:prstGeom prst="rect">
              <a:avLst/>
            </a:prstGeom>
            <a:noFill/>
          </p:spPr>
          <p:txBody>
            <a:bodyPr wrap="none" rtlCol="0">
              <a:spAutoFit/>
            </a:bodyPr>
            <a:lstStyle/>
            <a:p>
              <a:r>
                <a:rPr lang="vi-VN" dirty="0"/>
                <a:t>2,9</a:t>
              </a:r>
            </a:p>
            <a:p>
              <a:endParaRPr lang="vi-VN" dirty="0"/>
            </a:p>
          </p:txBody>
        </p:sp>
        <p:sp>
          <p:nvSpPr>
            <p:cNvPr id="71" name="TextBox 70">
              <a:extLst>
                <a:ext uri="{FF2B5EF4-FFF2-40B4-BE49-F238E27FC236}">
                  <a16:creationId xmlns:a16="http://schemas.microsoft.com/office/drawing/2014/main" id="{765B8FA6-CFF4-7772-BB79-5FB39C6A87F3}"/>
                </a:ext>
              </a:extLst>
            </p:cNvPr>
            <p:cNvSpPr txBox="1"/>
            <p:nvPr/>
          </p:nvSpPr>
          <p:spPr>
            <a:xfrm>
              <a:off x="8949148" y="3146120"/>
              <a:ext cx="508473" cy="369332"/>
            </a:xfrm>
            <a:prstGeom prst="rect">
              <a:avLst/>
            </a:prstGeom>
            <a:noFill/>
          </p:spPr>
          <p:txBody>
            <a:bodyPr wrap="none" rtlCol="0">
              <a:spAutoFit/>
            </a:bodyPr>
            <a:lstStyle/>
            <a:p>
              <a:r>
                <a:rPr lang="vi-VN" dirty="0"/>
                <a:t>2,1</a:t>
              </a:r>
            </a:p>
          </p:txBody>
        </p:sp>
        <p:sp>
          <p:nvSpPr>
            <p:cNvPr id="72" name="TextBox 71">
              <a:extLst>
                <a:ext uri="{FF2B5EF4-FFF2-40B4-BE49-F238E27FC236}">
                  <a16:creationId xmlns:a16="http://schemas.microsoft.com/office/drawing/2014/main" id="{815133BD-2505-9F5A-3777-7FF0D75BA3ED}"/>
                </a:ext>
              </a:extLst>
            </p:cNvPr>
            <p:cNvSpPr txBox="1"/>
            <p:nvPr/>
          </p:nvSpPr>
          <p:spPr>
            <a:xfrm>
              <a:off x="9787362" y="2985794"/>
              <a:ext cx="508473" cy="369332"/>
            </a:xfrm>
            <a:prstGeom prst="rect">
              <a:avLst/>
            </a:prstGeom>
            <a:noFill/>
          </p:spPr>
          <p:txBody>
            <a:bodyPr wrap="none" rtlCol="0">
              <a:spAutoFit/>
            </a:bodyPr>
            <a:lstStyle/>
            <a:p>
              <a:r>
                <a:rPr lang="vi-VN" dirty="0"/>
                <a:t>2,1</a:t>
              </a:r>
            </a:p>
          </p:txBody>
        </p:sp>
        <p:sp>
          <p:nvSpPr>
            <p:cNvPr id="73" name="TextBox 72">
              <a:extLst>
                <a:ext uri="{FF2B5EF4-FFF2-40B4-BE49-F238E27FC236}">
                  <a16:creationId xmlns:a16="http://schemas.microsoft.com/office/drawing/2014/main" id="{863EAB6C-9F82-0268-CBCF-A1BAD3B64377}"/>
                </a:ext>
              </a:extLst>
            </p:cNvPr>
            <p:cNvSpPr txBox="1"/>
            <p:nvPr/>
          </p:nvSpPr>
          <p:spPr>
            <a:xfrm>
              <a:off x="11120561" y="3505836"/>
              <a:ext cx="311304" cy="369332"/>
            </a:xfrm>
            <a:prstGeom prst="rect">
              <a:avLst/>
            </a:prstGeom>
            <a:noFill/>
          </p:spPr>
          <p:txBody>
            <a:bodyPr wrap="none" rtlCol="0">
              <a:spAutoFit/>
            </a:bodyPr>
            <a:lstStyle/>
            <a:p>
              <a:r>
                <a:rPr lang="vi-VN" dirty="0"/>
                <a:t>6</a:t>
              </a:r>
            </a:p>
          </p:txBody>
        </p:sp>
        <p:sp>
          <p:nvSpPr>
            <p:cNvPr id="74" name="TextBox 73">
              <a:extLst>
                <a:ext uri="{FF2B5EF4-FFF2-40B4-BE49-F238E27FC236}">
                  <a16:creationId xmlns:a16="http://schemas.microsoft.com/office/drawing/2014/main" id="{A5299416-3578-B9DF-CF1D-FA71E817D792}"/>
                </a:ext>
              </a:extLst>
            </p:cNvPr>
            <p:cNvSpPr txBox="1"/>
            <p:nvPr/>
          </p:nvSpPr>
          <p:spPr>
            <a:xfrm>
              <a:off x="10388225" y="4129622"/>
              <a:ext cx="508473" cy="369332"/>
            </a:xfrm>
            <a:prstGeom prst="rect">
              <a:avLst/>
            </a:prstGeom>
            <a:noFill/>
          </p:spPr>
          <p:txBody>
            <a:bodyPr wrap="none" rtlCol="0">
              <a:spAutoFit/>
            </a:bodyPr>
            <a:lstStyle/>
            <a:p>
              <a:r>
                <a:rPr lang="vi-VN" dirty="0"/>
                <a:t>5,3</a:t>
              </a:r>
            </a:p>
          </p:txBody>
        </p:sp>
        <p:sp>
          <p:nvSpPr>
            <p:cNvPr id="76" name="TextBox 75">
              <a:extLst>
                <a:ext uri="{FF2B5EF4-FFF2-40B4-BE49-F238E27FC236}">
                  <a16:creationId xmlns:a16="http://schemas.microsoft.com/office/drawing/2014/main" id="{EFC684C7-22FD-457A-480D-238CE953EE6E}"/>
                </a:ext>
              </a:extLst>
            </p:cNvPr>
            <p:cNvSpPr txBox="1"/>
            <p:nvPr/>
          </p:nvSpPr>
          <p:spPr>
            <a:xfrm>
              <a:off x="10471740" y="3228832"/>
              <a:ext cx="508473" cy="369332"/>
            </a:xfrm>
            <a:prstGeom prst="rect">
              <a:avLst/>
            </a:prstGeom>
            <a:noFill/>
          </p:spPr>
          <p:txBody>
            <a:bodyPr wrap="none" rtlCol="0">
              <a:spAutoFit/>
            </a:bodyPr>
            <a:lstStyle/>
            <a:p>
              <a:r>
                <a:rPr lang="vi-VN" dirty="0"/>
                <a:t>1,8</a:t>
              </a:r>
            </a:p>
          </p:txBody>
        </p:sp>
        <p:sp>
          <p:nvSpPr>
            <p:cNvPr id="77" name="TextBox 76">
              <a:extLst>
                <a:ext uri="{FF2B5EF4-FFF2-40B4-BE49-F238E27FC236}">
                  <a16:creationId xmlns:a16="http://schemas.microsoft.com/office/drawing/2014/main" id="{CD6DA247-1997-636D-77E9-F5A1967012C7}"/>
                </a:ext>
              </a:extLst>
            </p:cNvPr>
            <p:cNvSpPr txBox="1"/>
            <p:nvPr/>
          </p:nvSpPr>
          <p:spPr>
            <a:xfrm>
              <a:off x="10208462" y="2029078"/>
              <a:ext cx="502958" cy="369332"/>
            </a:xfrm>
            <a:prstGeom prst="rect">
              <a:avLst/>
            </a:prstGeom>
            <a:noFill/>
          </p:spPr>
          <p:txBody>
            <a:bodyPr wrap="none" rtlCol="0">
              <a:spAutoFit/>
            </a:bodyPr>
            <a:lstStyle/>
            <a:p>
              <a:r>
                <a:rPr lang="vi-VN" dirty="0"/>
                <a:t>5,7</a:t>
              </a:r>
            </a:p>
          </p:txBody>
        </p:sp>
        <p:sp>
          <p:nvSpPr>
            <p:cNvPr id="78" name="TextBox 77">
              <a:extLst>
                <a:ext uri="{FF2B5EF4-FFF2-40B4-BE49-F238E27FC236}">
                  <a16:creationId xmlns:a16="http://schemas.microsoft.com/office/drawing/2014/main" id="{3163EEA9-15BE-8B1C-BC90-EF534E380387}"/>
                </a:ext>
              </a:extLst>
            </p:cNvPr>
            <p:cNvSpPr txBox="1"/>
            <p:nvPr/>
          </p:nvSpPr>
          <p:spPr>
            <a:xfrm>
              <a:off x="8652625" y="1922704"/>
              <a:ext cx="508473" cy="369332"/>
            </a:xfrm>
            <a:prstGeom prst="rect">
              <a:avLst/>
            </a:prstGeom>
            <a:noFill/>
          </p:spPr>
          <p:txBody>
            <a:bodyPr wrap="none" rtlCol="0">
              <a:spAutoFit/>
            </a:bodyPr>
            <a:lstStyle/>
            <a:p>
              <a:r>
                <a:rPr lang="vi-VN" dirty="0"/>
                <a:t>5,5</a:t>
              </a:r>
            </a:p>
          </p:txBody>
        </p:sp>
        <p:sp>
          <p:nvSpPr>
            <p:cNvPr id="80" name="TextBox 79">
              <a:extLst>
                <a:ext uri="{FF2B5EF4-FFF2-40B4-BE49-F238E27FC236}">
                  <a16:creationId xmlns:a16="http://schemas.microsoft.com/office/drawing/2014/main" id="{631D46B2-6890-E99D-3EB1-D7652F1CD05C}"/>
                </a:ext>
              </a:extLst>
            </p:cNvPr>
            <p:cNvSpPr txBox="1"/>
            <p:nvPr/>
          </p:nvSpPr>
          <p:spPr>
            <a:xfrm>
              <a:off x="9505260" y="2138996"/>
              <a:ext cx="508473" cy="369332"/>
            </a:xfrm>
            <a:prstGeom prst="rect">
              <a:avLst/>
            </a:prstGeom>
            <a:noFill/>
          </p:spPr>
          <p:txBody>
            <a:bodyPr wrap="none" rtlCol="0">
              <a:spAutoFit/>
            </a:bodyPr>
            <a:lstStyle/>
            <a:p>
              <a:r>
                <a:rPr lang="vi-VN" dirty="0"/>
                <a:t>2,8</a:t>
              </a:r>
            </a:p>
          </p:txBody>
        </p:sp>
      </p:grpSp>
    </p:spTree>
    <p:extLst>
      <p:ext uri="{BB962C8B-B14F-4D97-AF65-F5344CB8AC3E}">
        <p14:creationId xmlns:p14="http://schemas.microsoft.com/office/powerpoint/2010/main" val="2898856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0E057-C54A-7038-ABF6-36B16BD09ED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CD0886B-1559-DB21-FC16-8A23974F7F0E}"/>
              </a:ext>
            </a:extLst>
          </p:cNvPr>
          <p:cNvSpPr>
            <a:spLocks noGrp="1"/>
          </p:cNvSpPr>
          <p:nvPr>
            <p:ph type="title"/>
          </p:nvPr>
        </p:nvSpPr>
        <p:spPr/>
        <p:txBody>
          <a:bodyPr/>
          <a:lstStyle/>
          <a:p>
            <a:r>
              <a:rPr lang="vi-VN" dirty="0"/>
              <a:t>4. Hàm có thể huấn luyện</a:t>
            </a:r>
          </a:p>
        </p:txBody>
      </p:sp>
      <p:sp>
        <p:nvSpPr>
          <p:cNvPr id="12" name="Content Placeholder 11">
            <a:extLst>
              <a:ext uri="{FF2B5EF4-FFF2-40B4-BE49-F238E27FC236}">
                <a16:creationId xmlns:a16="http://schemas.microsoft.com/office/drawing/2014/main" id="{C1EBDF39-30D9-E3CC-2D51-1212EC7EE04C}"/>
              </a:ext>
            </a:extLst>
          </p:cNvPr>
          <p:cNvSpPr>
            <a:spLocks noGrp="1"/>
          </p:cNvSpPr>
          <p:nvPr>
            <p:ph idx="1"/>
          </p:nvPr>
        </p:nvSpPr>
        <p:spPr>
          <a:xfrm>
            <a:off x="581192" y="2340864"/>
            <a:ext cx="11029615" cy="3634486"/>
          </a:xfrm>
        </p:spPr>
        <p:txBody>
          <a:bodyPr anchor="t">
            <a:normAutofit/>
          </a:bodyPr>
          <a:lstStyle/>
          <a:p>
            <a:pPr>
              <a:buFont typeface="Wingdings" panose="05000000000000000000" pitchFamily="2" charset="2"/>
              <a:buChar char="§"/>
            </a:pPr>
            <a:r>
              <a:rPr lang="vi-VN" dirty="0"/>
              <a:t>Chúng ta có thể huấn luyện máy tính phân biệt được đâu là đường đi “tốt” và đâu là đường đi “xấu”.</a:t>
            </a:r>
          </a:p>
          <a:p>
            <a:pPr>
              <a:buFont typeface="Wingdings" panose="05000000000000000000" pitchFamily="2" charset="2"/>
              <a:buChar char="§"/>
            </a:pPr>
            <a:r>
              <a:rPr lang="vi-VN" dirty="0"/>
              <a:t>Điều này giúp thuật toán thông minh hơn, tránh được việc gộp sai các cụm dính vào nhau.</a:t>
            </a:r>
          </a:p>
        </p:txBody>
      </p:sp>
      <p:graphicFrame>
        <p:nvGraphicFramePr>
          <p:cNvPr id="10" name="Diagram 9">
            <a:extLst>
              <a:ext uri="{FF2B5EF4-FFF2-40B4-BE49-F238E27FC236}">
                <a16:creationId xmlns:a16="http://schemas.microsoft.com/office/drawing/2014/main" id="{743EDE4E-4607-44CF-B198-FD1726C0FC75}"/>
              </a:ext>
            </a:extLst>
          </p:cNvPr>
          <p:cNvGraphicFramePr/>
          <p:nvPr>
            <p:extLst>
              <p:ext uri="{D42A27DB-BD31-4B8C-83A1-F6EECF244321}">
                <p14:modId xmlns:p14="http://schemas.microsoft.com/office/powerpoint/2010/main" val="2570653089"/>
              </p:ext>
            </p:extLst>
          </p:nvPr>
        </p:nvGraphicFramePr>
        <p:xfrm>
          <a:off x="581192" y="4289424"/>
          <a:ext cx="11029615" cy="16859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36702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FC904-C816-7429-16B8-114B67233A4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BB2A3E8-86E2-E9D3-1EFB-BAC863064D8D}"/>
              </a:ext>
            </a:extLst>
          </p:cNvPr>
          <p:cNvSpPr>
            <a:spLocks noGrp="1"/>
          </p:cNvSpPr>
          <p:nvPr>
            <p:ph type="ctrTitle"/>
          </p:nvPr>
        </p:nvSpPr>
        <p:spPr/>
        <p:txBody>
          <a:bodyPr/>
          <a:lstStyle/>
          <a:p>
            <a:r>
              <a:rPr lang="vi-VN" dirty="0"/>
              <a:t>The </a:t>
            </a:r>
            <a:r>
              <a:rPr lang="vi-VN" dirty="0" err="1"/>
              <a:t>End</a:t>
            </a:r>
            <a:endParaRPr lang="vi-VN" dirty="0"/>
          </a:p>
        </p:txBody>
      </p:sp>
      <p:sp>
        <p:nvSpPr>
          <p:cNvPr id="12" name="Content Placeholder 11">
            <a:extLst>
              <a:ext uri="{FF2B5EF4-FFF2-40B4-BE49-F238E27FC236}">
                <a16:creationId xmlns:a16="http://schemas.microsoft.com/office/drawing/2014/main" id="{A4764CB9-4D46-728A-1165-2F5C1DF774E5}"/>
              </a:ext>
            </a:extLst>
          </p:cNvPr>
          <p:cNvSpPr>
            <a:spLocks noGrp="1"/>
          </p:cNvSpPr>
          <p:nvPr>
            <p:ph type="subTitle" idx="1"/>
          </p:nvPr>
        </p:nvSpPr>
        <p:spPr/>
        <p:txBody>
          <a:bodyPr anchor="t">
            <a:normAutofit/>
          </a:bodyPr>
          <a:lstStyle/>
          <a:p>
            <a:pPr marL="0" indent="0">
              <a:buNone/>
            </a:pPr>
            <a:r>
              <a:rPr lang="vi-VN" dirty="0" err="1"/>
              <a:t>Thanks</a:t>
            </a:r>
            <a:r>
              <a:rPr lang="vi-VN" dirty="0"/>
              <a:t> </a:t>
            </a:r>
            <a:r>
              <a:rPr lang="vi-VN" dirty="0" err="1"/>
              <a:t>for</a:t>
            </a:r>
            <a:r>
              <a:rPr lang="vi-VN" dirty="0"/>
              <a:t> </a:t>
            </a:r>
            <a:r>
              <a:rPr lang="vi-VN" dirty="0" err="1"/>
              <a:t>watching</a:t>
            </a:r>
            <a:endParaRPr lang="vi-VN" dirty="0"/>
          </a:p>
        </p:txBody>
      </p:sp>
    </p:spTree>
    <p:extLst>
      <p:ext uri="{BB962C8B-B14F-4D97-AF65-F5344CB8AC3E}">
        <p14:creationId xmlns:p14="http://schemas.microsoft.com/office/powerpoint/2010/main" val="458637061"/>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41799133_TF33552983" id="{FB24624C-BB83-40D4-AEB1-8B8428B3A3C2}" vid="{D4BD5347-EF6D-49F7-874F-8B0FB52BD5A1}"/>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{5CACD5FA-3926-4A71-A81D-75E2D62C2B25}TF201209c3-d067-44f9-a26f-c8f216c4431302b61f1e_win32-46af56e24b1f</Template>
  <TotalTime>2577</TotalTime>
  <Words>2166</Words>
  <Application>Microsoft Office PowerPoint</Application>
  <PresentationFormat>Widescreen</PresentationFormat>
  <Paragraphs>373</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Cambria Math</vt:lpstr>
      <vt:lpstr>Segoe UI</vt:lpstr>
      <vt:lpstr>Tahoma</vt:lpstr>
      <vt:lpstr>Wingdings</vt:lpstr>
      <vt:lpstr>Wingdings 2</vt:lpstr>
      <vt:lpstr>DividendVTI</vt:lpstr>
      <vt:lpstr>A Trainable Clustering Algorithm based on Shortest Paths from Density Peaks</vt:lpstr>
      <vt:lpstr>1. giới thiệu</vt:lpstr>
      <vt:lpstr>1. giới thiệu</vt:lpstr>
      <vt:lpstr>2. Thuật toán</vt:lpstr>
      <vt:lpstr>2. Thuật toán</vt:lpstr>
      <vt:lpstr>2. Thuật toán</vt:lpstr>
      <vt:lpstr>2. Thuật toán</vt:lpstr>
      <vt:lpstr>2. Thuật toán</vt:lpstr>
      <vt:lpstr>2. Thuật toán</vt:lpstr>
      <vt:lpstr>3. Minh họa</vt:lpstr>
      <vt:lpstr>3. Minh họa</vt:lpstr>
      <vt:lpstr>3. Minh họa</vt:lpstr>
      <vt:lpstr>3. Minh họa</vt:lpstr>
      <vt:lpstr>3. Minh họa</vt:lpstr>
      <vt:lpstr>3. Minh họa</vt:lpstr>
      <vt:lpstr>3. Minh họa</vt:lpstr>
      <vt:lpstr>3. Minh họa</vt:lpstr>
      <vt:lpstr>3. Minh họa</vt:lpstr>
      <vt:lpstr>3. Minh họa</vt:lpstr>
      <vt:lpstr>3. Minh họa</vt:lpstr>
      <vt:lpstr>3. Minh họa</vt:lpstr>
      <vt:lpstr>4. Hàm có thể huấn luyện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 Trần Bảo</dc:creator>
  <cp:lastModifiedBy>Phi Trần Bảo</cp:lastModifiedBy>
  <cp:revision>10</cp:revision>
  <dcterms:created xsi:type="dcterms:W3CDTF">2025-11-19T13:42:13Z</dcterms:created>
  <dcterms:modified xsi:type="dcterms:W3CDTF">2026-01-11T01:47:38Z</dcterms:modified>
</cp:coreProperties>
</file>